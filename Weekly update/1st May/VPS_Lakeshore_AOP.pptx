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Revenue (₹L)</c:v>
                </c:pt>
              </c:strCache>
            </c:strRef>
          </c:tx>
          <c:spPr>
            <a:solidFill>
              <a:srgbClr val="2E7AB6"/>
            </a:solidFill>
            <a:effectLst/>
          </c:spPr>
          <c:invertIfNegative val="0"/>
          <c:dLbls>
            <c:numFmt formatCode="#,##0" sourceLinked="0"/>
            <c:spPr>
              <a:noFill/>
              <a:ln>
                <a:noFill/>
              </a:ln>
              <a:effectLst/>
            </c:spPr>
            <c:txPr>
              <a:bodyPr/>
              <a:lstStyle/>
              <a:p>
                <a:pPr>
                  <a:defRPr sz="900" b="0" i="0" u="none" strike="noStrike">
                    <a:solidFill>
                      <a:srgbClr val="1C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12951</c:v>
                </c:pt>
                <c:pt idx="1">
                  <c:v>14444</c:v>
                </c:pt>
                <c:pt idx="2">
                  <c:v>14748</c:v>
                </c:pt>
                <c:pt idx="3">
                  <c:v>15161</c:v>
                </c:pt>
              </c:numCache>
            </c:numRef>
          </c:val>
          <c:extLst>
            <c:ext xmlns:c16="http://schemas.microsoft.com/office/drawing/2014/chart" uri="{C3380CC4-5D6E-409C-BE32-E72D297353CC}">
              <c16:uniqueId val="{00000000-1D58-C84A-9AEB-69F45EB4235E}"/>
            </c:ext>
          </c:extLst>
        </c:ser>
        <c:ser>
          <c:idx val="1"/>
          <c:order val="1"/>
          <c:tx>
            <c:strRef>
              <c:f>Sheet1!$C$1</c:f>
              <c:strCache>
                <c:ptCount val="1"/>
                <c:pt idx="0">
                  <c:v>EBITDA (₹L)</c:v>
                </c:pt>
              </c:strCache>
            </c:strRef>
          </c:tx>
          <c:spPr>
            <a:solidFill>
              <a:srgbClr val="1A8C5B"/>
            </a:solidFill>
            <a:effectLst/>
          </c:spPr>
          <c:invertIfNegative val="0"/>
          <c:dLbls>
            <c:numFmt formatCode="#,##0" sourceLinked="0"/>
            <c:spPr>
              <a:noFill/>
              <a:ln>
                <a:noFill/>
              </a:ln>
              <a:effectLst/>
            </c:spPr>
            <c:txPr>
              <a:bodyPr/>
              <a:lstStyle/>
              <a:p>
                <a:pPr>
                  <a:defRPr sz="900" b="0" i="0" u="none" strike="noStrike">
                    <a:solidFill>
                      <a:srgbClr val="1C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Sheet1!$C$2:$C$5</c:f>
              <c:numCache>
                <c:formatCode>General</c:formatCode>
                <c:ptCount val="4"/>
                <c:pt idx="0">
                  <c:v>2728</c:v>
                </c:pt>
                <c:pt idx="1">
                  <c:v>3757</c:v>
                </c:pt>
                <c:pt idx="2">
                  <c:v>3964</c:v>
                </c:pt>
                <c:pt idx="3">
                  <c:v>4506</c:v>
                </c:pt>
              </c:numCache>
            </c:numRef>
          </c:val>
          <c:extLst>
            <c:ext xmlns:c16="http://schemas.microsoft.com/office/drawing/2014/chart" uri="{C3380CC4-5D6E-409C-BE32-E72D297353CC}">
              <c16:uniqueId val="{00000001-1D58-C84A-9AEB-69F45EB4235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7A9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D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7A9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050" b="0" i="0" u="none" strike="noStrike">
                <a:solidFill>
                  <a:srgbClr val="1C2B3A"/>
                </a:solidFill>
                <a:latin typeface="Arial"/>
              </a:defRPr>
            </a:pPr>
            <a:r>
              <a:rPr lang="en-IN" sz="1050" b="0" i="0" u="none" strike="noStrike">
                <a:solidFill>
                  <a:srgbClr val="1C2B3A"/>
                </a:solidFill>
                <a:latin typeface="Arial"/>
              </a:rPr>
              <a:t>EBITDA Margin % — Quarterly Progression</a:t>
            </a:r>
          </a:p>
        </c:rich>
      </c:tx>
      <c:overlay val="0"/>
    </c:title>
    <c:autoTitleDeleted val="0"/>
    <c:plotArea>
      <c:layout/>
      <c:lineChart>
        <c:grouping val="standard"/>
        <c:varyColors val="0"/>
        <c:ser>
          <c:idx val="0"/>
          <c:order val="0"/>
          <c:tx>
            <c:strRef>
              <c:f>Sheet1!$B$1</c:f>
              <c:strCache>
                <c:ptCount val="1"/>
                <c:pt idx="0">
                  <c:v>EBITDA Margin %</c:v>
                </c:pt>
              </c:strCache>
            </c:strRef>
          </c:tx>
          <c:spPr>
            <a:ln w="38100" cap="flat">
              <a:solidFill>
                <a:srgbClr val="BE1558"/>
              </a:solidFill>
              <a:prstDash val="solid"/>
              <a:round/>
            </a:ln>
            <a:effectLst/>
          </c:spPr>
          <c:marker>
            <c:symbol val="circle"/>
            <c:size val="6"/>
            <c:spPr>
              <a:solidFill>
                <a:srgbClr val="BE1558"/>
              </a:solidFill>
              <a:ln w="9525" cap="flat">
                <a:solidFill>
                  <a:srgbClr val="BE1558"/>
                </a:solidFill>
                <a:prstDash val="solid"/>
                <a:round/>
              </a:ln>
              <a:effectLst/>
            </c:spPr>
          </c:marker>
          <c:dLbls>
            <c:numFmt formatCode="#,##0" sourceLinked="0"/>
            <c:spPr>
              <a:noFill/>
              <a:ln>
                <a:noFill/>
              </a:ln>
              <a:effectLst/>
            </c:spPr>
            <c:txPr>
              <a:bodyPr/>
              <a:lstStyle/>
              <a:p>
                <a:pPr>
                  <a:defRPr sz="1100" b="0" i="0" u="none" strike="noStrike">
                    <a:solidFill>
                      <a:srgbClr val="BE155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21.1</c:v>
                </c:pt>
                <c:pt idx="1">
                  <c:v>26</c:v>
                </c:pt>
                <c:pt idx="2">
                  <c:v>26.9</c:v>
                </c:pt>
                <c:pt idx="3">
                  <c:v>29.7</c:v>
                </c:pt>
              </c:numCache>
            </c:numRef>
          </c:val>
          <c:smooth val="0"/>
          <c:extLst>
            <c:ext xmlns:c16="http://schemas.microsoft.com/office/drawing/2014/chart" uri="{C3380CC4-5D6E-409C-BE32-E72D297353CC}">
              <c16:uniqueId val="{00000000-2163-A342-BF0D-17EF4ACCC264}"/>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7A9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D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7A9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FY26 Actual</c:v>
                </c:pt>
              </c:strCache>
            </c:strRef>
          </c:tx>
          <c:spPr>
            <a:solidFill>
              <a:srgbClr val="B8D4ED"/>
            </a:solidFill>
            <a:effectLst/>
          </c:spPr>
          <c:invertIfNegative val="0"/>
          <c:cat>
            <c:strRef>
              <c:f>Sheet1!$A$2:$A$5</c:f>
              <c:strCache>
                <c:ptCount val="4"/>
                <c:pt idx="0">
                  <c:v>IP Revenue</c:v>
                </c:pt>
                <c:pt idx="1">
                  <c:v>OP Revenue</c:v>
                </c:pt>
                <c:pt idx="2">
                  <c:v>F&amp;B</c:v>
                </c:pt>
                <c:pt idx="3">
                  <c:v>Other</c:v>
                </c:pt>
              </c:strCache>
            </c:strRef>
          </c:cat>
          <c:val>
            <c:numRef>
              <c:f>Sheet1!$B$2:$B$5</c:f>
              <c:numCache>
                <c:formatCode>General</c:formatCode>
                <c:ptCount val="4"/>
                <c:pt idx="0">
                  <c:v>31606</c:v>
                </c:pt>
                <c:pt idx="1">
                  <c:v>11105</c:v>
                </c:pt>
                <c:pt idx="2">
                  <c:v>1718</c:v>
                </c:pt>
                <c:pt idx="3">
                  <c:v>850</c:v>
                </c:pt>
              </c:numCache>
            </c:numRef>
          </c:val>
          <c:extLst>
            <c:ext xmlns:c16="http://schemas.microsoft.com/office/drawing/2014/chart" uri="{C3380CC4-5D6E-409C-BE32-E72D297353CC}">
              <c16:uniqueId val="{00000000-866E-0A48-B4CA-F90239CD79B0}"/>
            </c:ext>
          </c:extLst>
        </c:ser>
        <c:ser>
          <c:idx val="1"/>
          <c:order val="1"/>
          <c:tx>
            <c:strRef>
              <c:f>Sheet1!$C$1</c:f>
              <c:strCache>
                <c:ptCount val="1"/>
                <c:pt idx="0">
                  <c:v>FY27 Plan</c:v>
                </c:pt>
              </c:strCache>
            </c:strRef>
          </c:tx>
          <c:spPr>
            <a:solidFill>
              <a:srgbClr val="2E7AB6"/>
            </a:solidFill>
            <a:effectLst/>
          </c:spPr>
          <c:invertIfNegative val="0"/>
          <c:cat>
            <c:strRef>
              <c:f>Sheet1!$A$2:$A$5</c:f>
              <c:strCache>
                <c:ptCount val="4"/>
                <c:pt idx="0">
                  <c:v>IP Revenue</c:v>
                </c:pt>
                <c:pt idx="1">
                  <c:v>OP Revenue</c:v>
                </c:pt>
                <c:pt idx="2">
                  <c:v>F&amp;B</c:v>
                </c:pt>
                <c:pt idx="3">
                  <c:v>Other</c:v>
                </c:pt>
              </c:strCache>
            </c:strRef>
          </c:cat>
          <c:val>
            <c:numRef>
              <c:f>Sheet1!$C$2:$C$5</c:f>
              <c:numCache>
                <c:formatCode>General</c:formatCode>
                <c:ptCount val="4"/>
                <c:pt idx="0">
                  <c:v>39854</c:v>
                </c:pt>
                <c:pt idx="1">
                  <c:v>14520</c:v>
                </c:pt>
                <c:pt idx="2">
                  <c:v>2223</c:v>
                </c:pt>
                <c:pt idx="3">
                  <c:v>925</c:v>
                </c:pt>
              </c:numCache>
            </c:numRef>
          </c:val>
          <c:extLst>
            <c:ext xmlns:c16="http://schemas.microsoft.com/office/drawing/2014/chart" uri="{C3380CC4-5D6E-409C-BE32-E72D297353CC}">
              <c16:uniqueId val="{00000001-866E-0A48-B4CA-F90239CD79B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7A9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D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7A9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FY26</c:v>
                </c:pt>
              </c:strCache>
            </c:strRef>
          </c:tx>
          <c:spPr>
            <a:solidFill>
              <a:srgbClr val="B8D4ED"/>
            </a:solidFill>
            <a:effectLst/>
          </c:spPr>
          <c:invertIfNegative val="0"/>
          <c:cat>
            <c:strRef>
              <c:f>Sheet1!$A$2:$A$5</c:f>
              <c:strCache>
                <c:ptCount val="4"/>
                <c:pt idx="0">
                  <c:v>Drug &amp; Consumables</c:v>
                </c:pt>
                <c:pt idx="1">
                  <c:v>Doctor Cost</c:v>
                </c:pt>
                <c:pt idx="2">
                  <c:v>Employee Cost</c:v>
                </c:pt>
                <c:pt idx="3">
                  <c:v>Other Fixed</c:v>
                </c:pt>
              </c:strCache>
            </c:strRef>
          </c:cat>
          <c:val>
            <c:numRef>
              <c:f>Sheet1!$B$2:$B$5</c:f>
              <c:numCache>
                <c:formatCode>General</c:formatCode>
                <c:ptCount val="4"/>
                <c:pt idx="0">
                  <c:v>13328</c:v>
                </c:pt>
                <c:pt idx="1">
                  <c:v>8009</c:v>
                </c:pt>
                <c:pt idx="2">
                  <c:v>7718</c:v>
                </c:pt>
                <c:pt idx="3">
                  <c:v>6340</c:v>
                </c:pt>
              </c:numCache>
            </c:numRef>
          </c:val>
          <c:extLst>
            <c:ext xmlns:c16="http://schemas.microsoft.com/office/drawing/2014/chart" uri="{C3380CC4-5D6E-409C-BE32-E72D297353CC}">
              <c16:uniqueId val="{00000000-68A2-A249-BE82-2B7DD13D8BED}"/>
            </c:ext>
          </c:extLst>
        </c:ser>
        <c:ser>
          <c:idx val="1"/>
          <c:order val="1"/>
          <c:tx>
            <c:strRef>
              <c:f>Sheet1!$C$1</c:f>
              <c:strCache>
                <c:ptCount val="1"/>
                <c:pt idx="0">
                  <c:v>FY27</c:v>
                </c:pt>
              </c:strCache>
            </c:strRef>
          </c:tx>
          <c:spPr>
            <a:solidFill>
              <a:srgbClr val="2E7AB6"/>
            </a:solidFill>
            <a:effectLst/>
          </c:spPr>
          <c:invertIfNegative val="0"/>
          <c:cat>
            <c:strRef>
              <c:f>Sheet1!$A$2:$A$5</c:f>
              <c:strCache>
                <c:ptCount val="4"/>
                <c:pt idx="0">
                  <c:v>Drug &amp; Consumables</c:v>
                </c:pt>
                <c:pt idx="1">
                  <c:v>Doctor Cost</c:v>
                </c:pt>
                <c:pt idx="2">
                  <c:v>Employee Cost</c:v>
                </c:pt>
                <c:pt idx="3">
                  <c:v>Other Fixed</c:v>
                </c:pt>
              </c:strCache>
            </c:strRef>
          </c:cat>
          <c:val>
            <c:numRef>
              <c:f>Sheet1!$C$2:$C$5</c:f>
              <c:numCache>
                <c:formatCode>General</c:formatCode>
                <c:ptCount val="4"/>
                <c:pt idx="0">
                  <c:v>15525</c:v>
                </c:pt>
                <c:pt idx="1">
                  <c:v>9000</c:v>
                </c:pt>
                <c:pt idx="2">
                  <c:v>9400</c:v>
                </c:pt>
                <c:pt idx="3">
                  <c:v>8811</c:v>
                </c:pt>
              </c:numCache>
            </c:numRef>
          </c:val>
          <c:extLst>
            <c:ext xmlns:c16="http://schemas.microsoft.com/office/drawing/2014/chart" uri="{C3380CC4-5D6E-409C-BE32-E72D297353CC}">
              <c16:uniqueId val="{00000001-68A2-A249-BE82-2B7DD13D8BE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7A9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D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7A9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74D974D-F089-7B46-8D94-915BB252B7FA}" type="datetimeFigureOut">
              <a:rPr lang="en-US" smtClean="0"/>
              <a:t>5/2/2026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AC1C9C99-BDE6-AB44-B5FC-CDDAFF111498}" type="slidenum">
              <a:rPr lang="en-US" smtClean="0"/>
              <a:t>‹#›</a:t>
            </a:fld>
            <a:endParaRPr lang="en-US"/>
          </a:p>
        </p:txBody>
      </p:sp>
    </p:spTree>
    <p:extLst>
      <p:ext uri="{BB962C8B-B14F-4D97-AF65-F5344CB8AC3E}">
        <p14:creationId xmlns:p14="http://schemas.microsoft.com/office/powerpoint/2010/main" val="4131689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BE1558"/>
          </a:solidFill>
          <a:ln w="12700">
            <a:solidFill>
              <a:srgbClr val="BE1558"/>
            </a:solidFill>
            <a:prstDash val="solid"/>
          </a:ln>
        </p:spPr>
        <p:txBody>
          <a:bodyPr>
            <a:normAutofit/>
          </a:bodyPr>
          <a:lstStyle/>
          <a:p>
            <a:endParaRPr lang="en-US"/>
          </a:p>
        </p:txBody>
      </p:sp>
      <p:sp>
        <p:nvSpPr>
          <p:cNvPr id="3" name="Shape 1"/>
          <p:cNvSpPr/>
          <p:nvPr/>
        </p:nvSpPr>
        <p:spPr>
          <a:xfrm>
            <a:off x="8229600" y="0"/>
            <a:ext cx="3931920" cy="6858000"/>
          </a:xfrm>
          <a:prstGeom prst="rect">
            <a:avLst/>
          </a:prstGeom>
          <a:solidFill>
            <a:srgbClr val="162433"/>
          </a:solidFill>
          <a:ln w="12700">
            <a:solidFill>
              <a:srgbClr val="162433"/>
            </a:solidFill>
            <a:prstDash val="solid"/>
          </a:ln>
        </p:spPr>
        <p:txBody>
          <a:bodyPr>
            <a:normAutofit/>
          </a:bodyPr>
          <a:lstStyle/>
          <a:p>
            <a:endParaRPr lang="en-US"/>
          </a:p>
        </p:txBody>
      </p:sp>
      <p:sp>
        <p:nvSpPr>
          <p:cNvPr id="11" name="Shape 9"/>
          <p:cNvSpPr/>
          <p:nvPr/>
        </p:nvSpPr>
        <p:spPr>
          <a:xfrm>
            <a:off x="8229600"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2" name="Shape 10"/>
          <p:cNvSpPr/>
          <p:nvPr/>
        </p:nvSpPr>
        <p:spPr>
          <a:xfrm>
            <a:off x="9015984"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3" name="Shape 11"/>
          <p:cNvSpPr/>
          <p:nvPr/>
        </p:nvSpPr>
        <p:spPr>
          <a:xfrm>
            <a:off x="9802368"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4" name="Shape 12"/>
          <p:cNvSpPr/>
          <p:nvPr/>
        </p:nvSpPr>
        <p:spPr>
          <a:xfrm>
            <a:off x="10588752"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5" name="Shape 13"/>
          <p:cNvSpPr/>
          <p:nvPr/>
        </p:nvSpPr>
        <p:spPr>
          <a:xfrm>
            <a:off x="11375136"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6" name="Shape 14"/>
          <p:cNvSpPr/>
          <p:nvPr/>
        </p:nvSpPr>
        <p:spPr>
          <a:xfrm>
            <a:off x="12161520"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25" name="Text 23"/>
          <p:cNvSpPr/>
          <p:nvPr/>
        </p:nvSpPr>
        <p:spPr>
          <a:xfrm>
            <a:off x="777240" y="1417320"/>
            <a:ext cx="6858000" cy="384048"/>
          </a:xfrm>
          <a:prstGeom prst="rect">
            <a:avLst/>
          </a:prstGeom>
          <a:noFill/>
          <a:ln/>
        </p:spPr>
        <p:txBody>
          <a:bodyPr wrap="square" lIns="0" tIns="0" rIns="0" bIns="0" rtlCol="0" anchor="ctr">
            <a:normAutofit lnSpcReduction="10000"/>
          </a:bodyPr>
          <a:lstStyle/>
          <a:p>
            <a:pPr marL="0" indent="0">
              <a:buNone/>
            </a:pPr>
            <a:r>
              <a:rPr lang="en-US" sz="2800" b="1" kern="0" spc="400" dirty="0">
                <a:solidFill>
                  <a:srgbClr val="BE1558"/>
                </a:solidFill>
                <a:latin typeface="Calibri" pitchFamily="34" charset="0"/>
                <a:ea typeface="Calibri" pitchFamily="34" charset="-122"/>
                <a:cs typeface="Calibri" pitchFamily="34" charset="-120"/>
              </a:rPr>
              <a:t>ANNUAL OPERATING PLAN</a:t>
            </a:r>
            <a:endParaRPr lang="en-US" sz="2800" b="1" dirty="0"/>
          </a:p>
        </p:txBody>
      </p:sp>
      <p:sp>
        <p:nvSpPr>
          <p:cNvPr id="26" name="Text 24"/>
          <p:cNvSpPr/>
          <p:nvPr/>
        </p:nvSpPr>
        <p:spPr>
          <a:xfrm>
            <a:off x="777240" y="1828800"/>
            <a:ext cx="6858000" cy="2011680"/>
          </a:xfrm>
          <a:prstGeom prst="rect">
            <a:avLst/>
          </a:prstGeom>
          <a:noFill/>
          <a:ln/>
        </p:spPr>
        <p:txBody>
          <a:bodyPr wrap="square" lIns="0" tIns="0" rIns="0" bIns="0" rtlCol="0" anchor="ctr">
            <a:normAutofit/>
          </a:bodyPr>
          <a:lstStyle/>
          <a:p>
            <a:pPr marL="0" indent="0">
              <a:lnSpc>
                <a:spcPct val="95000"/>
              </a:lnSpc>
              <a:buNone/>
            </a:pPr>
            <a:r>
              <a:rPr lang="en-US" sz="5800" b="1" dirty="0">
                <a:solidFill>
                  <a:srgbClr val="FFFFFF"/>
                </a:solidFill>
                <a:latin typeface="Calibri" pitchFamily="34" charset="0"/>
                <a:ea typeface="Calibri" pitchFamily="34" charset="-122"/>
                <a:cs typeface="Calibri" pitchFamily="34" charset="-120"/>
              </a:rPr>
              <a:t>Chairman Briefing</a:t>
            </a:r>
            <a:endParaRPr lang="en-US" sz="5800" dirty="0"/>
          </a:p>
        </p:txBody>
      </p:sp>
      <p:sp>
        <p:nvSpPr>
          <p:cNvPr id="27" name="Text 25"/>
          <p:cNvSpPr/>
          <p:nvPr/>
        </p:nvSpPr>
        <p:spPr>
          <a:xfrm>
            <a:off x="777240" y="3822192"/>
            <a:ext cx="6858000" cy="640080"/>
          </a:xfrm>
          <a:prstGeom prst="rect">
            <a:avLst/>
          </a:prstGeom>
          <a:noFill/>
          <a:ln/>
        </p:spPr>
        <p:txBody>
          <a:bodyPr wrap="square" lIns="0" tIns="0" rIns="0" bIns="0" rtlCol="0" anchor="ctr">
            <a:normAutofit/>
          </a:bodyPr>
          <a:lstStyle/>
          <a:p>
            <a:pPr marL="0" indent="0">
              <a:buNone/>
            </a:pPr>
            <a:r>
              <a:rPr lang="en-US" sz="2800" dirty="0">
                <a:solidFill>
                  <a:srgbClr val="7AAAC5"/>
                </a:solidFill>
                <a:latin typeface="Calibri" pitchFamily="34" charset="0"/>
                <a:ea typeface="Calibri" pitchFamily="34" charset="-122"/>
                <a:cs typeface="Calibri" pitchFamily="34" charset="-120"/>
              </a:rPr>
              <a:t>FY 2026 – 27</a:t>
            </a:r>
            <a:endParaRPr lang="en-US" sz="2800" dirty="0"/>
          </a:p>
        </p:txBody>
      </p:sp>
      <p:sp>
        <p:nvSpPr>
          <p:cNvPr id="28" name="Shape 26"/>
          <p:cNvSpPr/>
          <p:nvPr/>
        </p:nvSpPr>
        <p:spPr>
          <a:xfrm>
            <a:off x="777240" y="4526280"/>
            <a:ext cx="5029200" cy="0"/>
          </a:xfrm>
          <a:prstGeom prst="line">
            <a:avLst/>
          </a:prstGeom>
          <a:noFill/>
          <a:ln w="19050">
            <a:solidFill>
              <a:srgbClr val="2E7AB6"/>
            </a:solidFill>
            <a:prstDash val="solid"/>
          </a:ln>
        </p:spPr>
        <p:txBody>
          <a:bodyPr>
            <a:normAutofit fontScale="25000" lnSpcReduction="20000"/>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PRESENTATION STRUCTURE</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AOP Chairman Briefing  ·  FY 2026–27</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US"/>
          </a:p>
        </p:txBody>
      </p:sp>
      <p:sp>
        <p:nvSpPr>
          <p:cNvPr id="7" name="Shape 5"/>
          <p:cNvSpPr/>
          <p:nvPr/>
        </p:nvSpPr>
        <p:spPr>
          <a:xfrm>
            <a:off x="411480" y="1005840"/>
            <a:ext cx="5394960" cy="21031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8" name="Shape 6"/>
          <p:cNvSpPr/>
          <p:nvPr/>
        </p:nvSpPr>
        <p:spPr>
          <a:xfrm>
            <a:off x="411480" y="1005840"/>
            <a:ext cx="539496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9" name="Text 7"/>
          <p:cNvSpPr/>
          <p:nvPr/>
        </p:nvSpPr>
        <p:spPr>
          <a:xfrm>
            <a:off x="594360" y="1170432"/>
            <a:ext cx="640080" cy="749808"/>
          </a:xfrm>
          <a:prstGeom prst="rect">
            <a:avLst/>
          </a:prstGeom>
          <a:noFill/>
          <a:ln/>
        </p:spPr>
        <p:txBody>
          <a:bodyPr wrap="square" lIns="0" tIns="0" rIns="0" bIns="0" rtlCol="0" anchor="ctr">
            <a:normAutofit/>
          </a:bodyPr>
          <a:lstStyle/>
          <a:p>
            <a:pPr marL="0" indent="0">
              <a:buNone/>
            </a:pPr>
            <a:r>
              <a:rPr lang="en-US" sz="3000" b="1" dirty="0">
                <a:solidFill>
                  <a:srgbClr val="2E7AB6"/>
                </a:solidFill>
                <a:latin typeface="Calibri" pitchFamily="34" charset="0"/>
                <a:ea typeface="Calibri" pitchFamily="34" charset="-122"/>
                <a:cs typeface="Calibri" pitchFamily="34" charset="-120"/>
              </a:rPr>
              <a:t>01</a:t>
            </a:r>
            <a:endParaRPr lang="en-US" sz="3000" dirty="0"/>
          </a:p>
        </p:txBody>
      </p:sp>
      <p:sp>
        <p:nvSpPr>
          <p:cNvPr id="10" name="Text 8"/>
          <p:cNvSpPr/>
          <p:nvPr/>
        </p:nvSpPr>
        <p:spPr>
          <a:xfrm>
            <a:off x="1280160" y="1207008"/>
            <a:ext cx="4389120" cy="457200"/>
          </a:xfrm>
          <a:prstGeom prst="rect">
            <a:avLst/>
          </a:prstGeom>
          <a:noFill/>
          <a:ln/>
        </p:spPr>
        <p:txBody>
          <a:bodyPr wrap="square" lIns="0" tIns="0" rIns="0" bIns="0" rtlCol="0" anchor="ctr">
            <a:normAutofit/>
          </a:bodyPr>
          <a:lstStyle/>
          <a:p>
            <a:pPr marL="0" indent="0">
              <a:buNone/>
            </a:pPr>
            <a:r>
              <a:rPr lang="en-US" sz="1600" b="1" dirty="0">
                <a:solidFill>
                  <a:srgbClr val="1C2B3A"/>
                </a:solidFill>
                <a:latin typeface="Calibri" pitchFamily="34" charset="0"/>
                <a:ea typeface="Calibri" pitchFamily="34" charset="-122"/>
                <a:cs typeface="Calibri" pitchFamily="34" charset="-120"/>
              </a:rPr>
              <a:t>Financial Overview</a:t>
            </a:r>
            <a:endParaRPr lang="en-US" sz="1600" dirty="0"/>
          </a:p>
        </p:txBody>
      </p:sp>
      <p:sp>
        <p:nvSpPr>
          <p:cNvPr id="11" name="Text 9"/>
          <p:cNvSpPr/>
          <p:nvPr/>
        </p:nvSpPr>
        <p:spPr>
          <a:xfrm>
            <a:off x="1280160" y="1691640"/>
            <a:ext cx="4389120" cy="731520"/>
          </a:xfrm>
          <a:prstGeom prst="rect">
            <a:avLst/>
          </a:prstGeom>
          <a:noFill/>
          <a:ln/>
        </p:spPr>
        <p:txBody>
          <a:bodyPr wrap="square" lIns="0" tIns="0" rIns="0" bIns="0" rtlCol="0" anchor="ctr">
            <a:normAutofit/>
          </a:bodyPr>
          <a:lstStyle/>
          <a:p>
            <a:pPr marL="0" indent="0">
              <a:buNone/>
            </a:pPr>
            <a:r>
              <a:rPr lang="en-US" sz="1650">
                <a:solidFill>
                  <a:srgbClr val="5A7A96"/>
                </a:solidFill>
                <a:latin typeface="Calibri" pitchFamily="34" charset="0"/>
                <a:ea typeface="Calibri" pitchFamily="34" charset="-122"/>
                <a:cs typeface="Calibri" pitchFamily="34" charset="-120"/>
              </a:rPr>
              <a:t>Full-year P&amp;L, quarterly progression and margin bridge</a:t>
            </a:r>
            <a:endParaRPr lang="en-US" sz="1650"/>
          </a:p>
        </p:txBody>
      </p:sp>
      <p:sp>
        <p:nvSpPr>
          <p:cNvPr id="12" name="Shape 10"/>
          <p:cNvSpPr/>
          <p:nvPr/>
        </p:nvSpPr>
        <p:spPr>
          <a:xfrm>
            <a:off x="6126480" y="1005840"/>
            <a:ext cx="5394960" cy="21031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3" name="Shape 11"/>
          <p:cNvSpPr/>
          <p:nvPr/>
        </p:nvSpPr>
        <p:spPr>
          <a:xfrm>
            <a:off x="6126480" y="1005840"/>
            <a:ext cx="539496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14" name="Text 12"/>
          <p:cNvSpPr/>
          <p:nvPr/>
        </p:nvSpPr>
        <p:spPr>
          <a:xfrm>
            <a:off x="6309360" y="1170432"/>
            <a:ext cx="640080" cy="749808"/>
          </a:xfrm>
          <a:prstGeom prst="rect">
            <a:avLst/>
          </a:prstGeom>
          <a:noFill/>
          <a:ln/>
        </p:spPr>
        <p:txBody>
          <a:bodyPr wrap="square" lIns="0" tIns="0" rIns="0" bIns="0" rtlCol="0" anchor="ctr">
            <a:normAutofit/>
          </a:bodyPr>
          <a:lstStyle/>
          <a:p>
            <a:pPr marL="0" indent="0">
              <a:buNone/>
            </a:pPr>
            <a:r>
              <a:rPr lang="en-US" sz="3000" b="1" dirty="0">
                <a:solidFill>
                  <a:srgbClr val="2E7AB6"/>
                </a:solidFill>
                <a:latin typeface="Calibri" pitchFamily="34" charset="0"/>
                <a:ea typeface="Calibri" pitchFamily="34" charset="-122"/>
                <a:cs typeface="Calibri" pitchFamily="34" charset="-120"/>
              </a:rPr>
              <a:t>02</a:t>
            </a:r>
            <a:endParaRPr lang="en-US" sz="3000" dirty="0"/>
          </a:p>
        </p:txBody>
      </p:sp>
      <p:sp>
        <p:nvSpPr>
          <p:cNvPr id="15" name="Text 13"/>
          <p:cNvSpPr/>
          <p:nvPr/>
        </p:nvSpPr>
        <p:spPr>
          <a:xfrm>
            <a:off x="6995160" y="1207008"/>
            <a:ext cx="4389120" cy="457200"/>
          </a:xfrm>
          <a:prstGeom prst="rect">
            <a:avLst/>
          </a:prstGeom>
          <a:noFill/>
          <a:ln/>
        </p:spPr>
        <p:txBody>
          <a:bodyPr wrap="square" lIns="0" tIns="0" rIns="0" bIns="0" rtlCol="0" anchor="ctr">
            <a:normAutofit/>
          </a:bodyPr>
          <a:lstStyle/>
          <a:p>
            <a:pPr marL="0" indent="0">
              <a:buNone/>
            </a:pPr>
            <a:r>
              <a:rPr lang="en-US" sz="1600" b="1" dirty="0">
                <a:solidFill>
                  <a:srgbClr val="1C2B3A"/>
                </a:solidFill>
                <a:latin typeface="Calibri" pitchFamily="34" charset="0"/>
                <a:ea typeface="Calibri" pitchFamily="34" charset="-122"/>
                <a:cs typeface="Calibri" pitchFamily="34" charset="-120"/>
              </a:rPr>
              <a:t>Revenue Plan</a:t>
            </a:r>
            <a:endParaRPr lang="en-US" sz="1600" dirty="0"/>
          </a:p>
        </p:txBody>
      </p:sp>
      <p:sp>
        <p:nvSpPr>
          <p:cNvPr id="16" name="Text 14"/>
          <p:cNvSpPr/>
          <p:nvPr/>
        </p:nvSpPr>
        <p:spPr>
          <a:xfrm>
            <a:off x="6995160" y="1691640"/>
            <a:ext cx="4389120" cy="731520"/>
          </a:xfrm>
          <a:prstGeom prst="rect">
            <a:avLst/>
          </a:prstGeom>
          <a:noFill/>
          <a:ln/>
        </p:spPr>
        <p:txBody>
          <a:bodyPr wrap="square" lIns="0" tIns="0" rIns="0" bIns="0" rtlCol="0" anchor="ctr">
            <a:normAutofit/>
          </a:bodyPr>
          <a:lstStyle/>
          <a:p>
            <a:pPr marL="0" indent="0">
              <a:buNone/>
            </a:pPr>
            <a:r>
              <a:rPr lang="en-US" sz="1650">
                <a:solidFill>
                  <a:srgbClr val="5A7A96"/>
                </a:solidFill>
                <a:latin typeface="Calibri" pitchFamily="34" charset="0"/>
                <a:ea typeface="Calibri" pitchFamily="34" charset="-122"/>
                <a:cs typeface="Calibri" pitchFamily="34" charset="-120"/>
              </a:rPr>
              <a:t>Executive summary, revenue streams, all 16 initiative drill-downs</a:t>
            </a:r>
            <a:endParaRPr lang="en-US" sz="1650"/>
          </a:p>
        </p:txBody>
      </p:sp>
      <p:sp>
        <p:nvSpPr>
          <p:cNvPr id="17" name="Shape 15"/>
          <p:cNvSpPr/>
          <p:nvPr/>
        </p:nvSpPr>
        <p:spPr>
          <a:xfrm>
            <a:off x="411480" y="3337560"/>
            <a:ext cx="5394960" cy="21031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8" name="Shape 16"/>
          <p:cNvSpPr/>
          <p:nvPr/>
        </p:nvSpPr>
        <p:spPr>
          <a:xfrm>
            <a:off x="411480" y="3337560"/>
            <a:ext cx="5394960" cy="64008"/>
          </a:xfrm>
          <a:prstGeom prst="rect">
            <a:avLst/>
          </a:prstGeom>
          <a:solidFill>
            <a:srgbClr val="BE1558"/>
          </a:solidFill>
          <a:ln w="12700">
            <a:solidFill>
              <a:srgbClr val="BE1558"/>
            </a:solidFill>
            <a:prstDash val="solid"/>
          </a:ln>
        </p:spPr>
        <p:txBody>
          <a:bodyPr>
            <a:normAutofit fontScale="25000" lnSpcReduction="20000"/>
          </a:bodyPr>
          <a:lstStyle/>
          <a:p>
            <a:endParaRPr lang="en-US"/>
          </a:p>
        </p:txBody>
      </p:sp>
      <p:sp>
        <p:nvSpPr>
          <p:cNvPr id="19" name="Text 17"/>
          <p:cNvSpPr/>
          <p:nvPr/>
        </p:nvSpPr>
        <p:spPr>
          <a:xfrm>
            <a:off x="594360" y="3502152"/>
            <a:ext cx="640080" cy="749808"/>
          </a:xfrm>
          <a:prstGeom prst="rect">
            <a:avLst/>
          </a:prstGeom>
          <a:noFill/>
          <a:ln/>
        </p:spPr>
        <p:txBody>
          <a:bodyPr wrap="square" lIns="0" tIns="0" rIns="0" bIns="0" rtlCol="0" anchor="ctr">
            <a:normAutofit/>
          </a:bodyPr>
          <a:lstStyle/>
          <a:p>
            <a:pPr marL="0" indent="0">
              <a:buNone/>
            </a:pPr>
            <a:r>
              <a:rPr lang="en-US" sz="3000" b="1" dirty="0">
                <a:solidFill>
                  <a:srgbClr val="BE1558"/>
                </a:solidFill>
                <a:latin typeface="Calibri" pitchFamily="34" charset="0"/>
                <a:ea typeface="Calibri" pitchFamily="34" charset="-122"/>
                <a:cs typeface="Calibri" pitchFamily="34" charset="-120"/>
              </a:rPr>
              <a:t>03</a:t>
            </a:r>
            <a:endParaRPr lang="en-US" sz="3000" dirty="0"/>
          </a:p>
        </p:txBody>
      </p:sp>
      <p:sp>
        <p:nvSpPr>
          <p:cNvPr id="20" name="Text 18"/>
          <p:cNvSpPr/>
          <p:nvPr/>
        </p:nvSpPr>
        <p:spPr>
          <a:xfrm>
            <a:off x="1280160" y="3538728"/>
            <a:ext cx="4389120" cy="457200"/>
          </a:xfrm>
          <a:prstGeom prst="rect">
            <a:avLst/>
          </a:prstGeom>
          <a:noFill/>
          <a:ln/>
        </p:spPr>
        <p:txBody>
          <a:bodyPr wrap="square" lIns="0" tIns="0" rIns="0" bIns="0" rtlCol="0" anchor="ctr">
            <a:normAutofit/>
          </a:bodyPr>
          <a:lstStyle/>
          <a:p>
            <a:pPr marL="0" indent="0">
              <a:buNone/>
            </a:pPr>
            <a:r>
              <a:rPr lang="en-US" sz="1600" b="1" dirty="0">
                <a:solidFill>
                  <a:srgbClr val="1C2B3A"/>
                </a:solidFill>
                <a:latin typeface="Calibri" pitchFamily="34" charset="0"/>
                <a:ea typeface="Calibri" pitchFamily="34" charset="-122"/>
                <a:cs typeface="Calibri" pitchFamily="34" charset="-120"/>
              </a:rPr>
              <a:t>Cost Plan</a:t>
            </a:r>
            <a:endParaRPr lang="en-US" sz="1600" dirty="0"/>
          </a:p>
        </p:txBody>
      </p:sp>
      <p:sp>
        <p:nvSpPr>
          <p:cNvPr id="21" name="Text 19"/>
          <p:cNvSpPr/>
          <p:nvPr/>
        </p:nvSpPr>
        <p:spPr>
          <a:xfrm>
            <a:off x="1280160" y="4023360"/>
            <a:ext cx="4389120" cy="731520"/>
          </a:xfrm>
          <a:prstGeom prst="rect">
            <a:avLst/>
          </a:prstGeom>
          <a:noFill/>
          <a:ln/>
        </p:spPr>
        <p:txBody>
          <a:bodyPr wrap="square" lIns="0" tIns="0" rIns="0" bIns="0" rtlCol="0" anchor="ctr">
            <a:normAutofit/>
          </a:bodyPr>
          <a:lstStyle/>
          <a:p>
            <a:pPr marL="0" indent="0">
              <a:buNone/>
            </a:pPr>
            <a:r>
              <a:rPr lang="en-US" sz="1650">
                <a:solidFill>
                  <a:srgbClr val="5A7A96"/>
                </a:solidFill>
                <a:latin typeface="Calibri" pitchFamily="34" charset="0"/>
                <a:ea typeface="Calibri" pitchFamily="34" charset="-122"/>
                <a:cs typeface="Calibri" pitchFamily="34" charset="-120"/>
              </a:rPr>
              <a:t>Executive summary, cost structure, all 12 savings initiative drill-downs</a:t>
            </a:r>
            <a:endParaRPr lang="en-US" sz="1650"/>
          </a:p>
        </p:txBody>
      </p:sp>
      <p:sp>
        <p:nvSpPr>
          <p:cNvPr id="22" name="Shape 20"/>
          <p:cNvSpPr/>
          <p:nvPr/>
        </p:nvSpPr>
        <p:spPr>
          <a:xfrm>
            <a:off x="6126480" y="3337560"/>
            <a:ext cx="5394960" cy="21031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23" name="Shape 21"/>
          <p:cNvSpPr/>
          <p:nvPr/>
        </p:nvSpPr>
        <p:spPr>
          <a:xfrm>
            <a:off x="6126480" y="3337560"/>
            <a:ext cx="5394960" cy="64008"/>
          </a:xfrm>
          <a:prstGeom prst="rect">
            <a:avLst/>
          </a:prstGeom>
          <a:solidFill>
            <a:srgbClr val="BE1558"/>
          </a:solidFill>
          <a:ln w="12700">
            <a:solidFill>
              <a:srgbClr val="BE1558"/>
            </a:solidFill>
            <a:prstDash val="solid"/>
          </a:ln>
        </p:spPr>
        <p:txBody>
          <a:bodyPr>
            <a:normAutofit fontScale="25000" lnSpcReduction="20000"/>
          </a:bodyPr>
          <a:lstStyle/>
          <a:p>
            <a:endParaRPr lang="en-US"/>
          </a:p>
        </p:txBody>
      </p:sp>
      <p:sp>
        <p:nvSpPr>
          <p:cNvPr id="24" name="Text 22"/>
          <p:cNvSpPr/>
          <p:nvPr/>
        </p:nvSpPr>
        <p:spPr>
          <a:xfrm>
            <a:off x="6309360" y="3502152"/>
            <a:ext cx="640080" cy="749808"/>
          </a:xfrm>
          <a:prstGeom prst="rect">
            <a:avLst/>
          </a:prstGeom>
          <a:noFill/>
          <a:ln/>
        </p:spPr>
        <p:txBody>
          <a:bodyPr wrap="square" lIns="0" tIns="0" rIns="0" bIns="0" rtlCol="0" anchor="ctr">
            <a:normAutofit/>
          </a:bodyPr>
          <a:lstStyle/>
          <a:p>
            <a:pPr marL="0" indent="0">
              <a:buNone/>
            </a:pPr>
            <a:r>
              <a:rPr lang="en-US" sz="3000" b="1" dirty="0">
                <a:solidFill>
                  <a:srgbClr val="BE1558"/>
                </a:solidFill>
                <a:latin typeface="Calibri" pitchFamily="34" charset="0"/>
                <a:ea typeface="Calibri" pitchFamily="34" charset="-122"/>
                <a:cs typeface="Calibri" pitchFamily="34" charset="-120"/>
              </a:rPr>
              <a:t>04</a:t>
            </a:r>
            <a:endParaRPr lang="en-US" sz="3000" dirty="0"/>
          </a:p>
        </p:txBody>
      </p:sp>
      <p:sp>
        <p:nvSpPr>
          <p:cNvPr id="25" name="Text 23"/>
          <p:cNvSpPr/>
          <p:nvPr/>
        </p:nvSpPr>
        <p:spPr>
          <a:xfrm>
            <a:off x="6995160" y="3538728"/>
            <a:ext cx="4389120" cy="457200"/>
          </a:xfrm>
          <a:prstGeom prst="rect">
            <a:avLst/>
          </a:prstGeom>
          <a:noFill/>
          <a:ln/>
        </p:spPr>
        <p:txBody>
          <a:bodyPr wrap="square" lIns="0" tIns="0" rIns="0" bIns="0" rtlCol="0" anchor="ctr">
            <a:normAutofit/>
          </a:bodyPr>
          <a:lstStyle/>
          <a:p>
            <a:pPr marL="0" indent="0">
              <a:buNone/>
            </a:pPr>
            <a:r>
              <a:rPr lang="en-US" sz="1600" b="1" dirty="0">
                <a:solidFill>
                  <a:srgbClr val="1C2B3A"/>
                </a:solidFill>
                <a:latin typeface="Calibri" pitchFamily="34" charset="0"/>
                <a:ea typeface="Calibri" pitchFamily="34" charset="-122"/>
                <a:cs typeface="Calibri" pitchFamily="34" charset="-120"/>
              </a:rPr>
              <a:t>Clinical Leadership</a:t>
            </a:r>
            <a:endParaRPr lang="en-US" sz="1600" dirty="0"/>
          </a:p>
        </p:txBody>
      </p:sp>
      <p:sp>
        <p:nvSpPr>
          <p:cNvPr id="26" name="Text 24"/>
          <p:cNvSpPr/>
          <p:nvPr/>
        </p:nvSpPr>
        <p:spPr>
          <a:xfrm>
            <a:off x="6995160" y="4023360"/>
            <a:ext cx="4389120" cy="731520"/>
          </a:xfrm>
          <a:prstGeom prst="rect">
            <a:avLst/>
          </a:prstGeom>
          <a:noFill/>
          <a:ln/>
        </p:spPr>
        <p:txBody>
          <a:bodyPr wrap="square" lIns="0" tIns="0" rIns="0" bIns="0" rtlCol="0" anchor="ctr">
            <a:normAutofit/>
          </a:bodyPr>
          <a:lstStyle/>
          <a:p>
            <a:pPr marL="0" indent="0">
              <a:buNone/>
            </a:pPr>
            <a:r>
              <a:rPr lang="en-US" sz="1650">
                <a:solidFill>
                  <a:srgbClr val="5A7A96"/>
                </a:solidFill>
                <a:latin typeface="Calibri" pitchFamily="34" charset="0"/>
                <a:ea typeface="Calibri" pitchFamily="34" charset="-122"/>
                <a:cs typeface="Calibri" pitchFamily="34" charset="-120"/>
              </a:rPr>
              <a:t>Executive summary and five excellence workstreams</a:t>
            </a:r>
            <a:endParaRPr lang="en-US" sz="16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BE1558"/>
          </a:solidFill>
          <a:ln w="12700">
            <a:solidFill>
              <a:srgbClr val="BE1558"/>
            </a:solidFill>
            <a:prstDash val="solid"/>
          </a:ln>
        </p:spPr>
        <p:txBody>
          <a:bodyPr>
            <a:normAutofit/>
          </a:bodyPr>
          <a:lstStyle/>
          <a:p>
            <a:endParaRPr lang="en-US"/>
          </a:p>
        </p:txBody>
      </p:sp>
      <p:sp>
        <p:nvSpPr>
          <p:cNvPr id="3" name="Shape 1"/>
          <p:cNvSpPr/>
          <p:nvPr/>
        </p:nvSpPr>
        <p:spPr>
          <a:xfrm>
            <a:off x="8961120" y="0"/>
            <a:ext cx="3200400" cy="6858000"/>
          </a:xfrm>
          <a:prstGeom prst="rect">
            <a:avLst/>
          </a:prstGeom>
          <a:solidFill>
            <a:srgbClr val="162433"/>
          </a:solidFill>
          <a:ln w="12700">
            <a:solidFill>
              <a:srgbClr val="162433"/>
            </a:solidFill>
            <a:prstDash val="solid"/>
          </a:ln>
        </p:spPr>
        <p:txBody>
          <a:bodyPr>
            <a:normAutofit/>
          </a:bodyPr>
          <a:lstStyle/>
          <a:p>
            <a:endParaRPr lang="en-US"/>
          </a:p>
        </p:txBody>
      </p:sp>
      <p:sp>
        <p:nvSpPr>
          <p:cNvPr id="4" name="Shape 2"/>
          <p:cNvSpPr/>
          <p:nvPr/>
        </p:nvSpPr>
        <p:spPr>
          <a:xfrm>
            <a:off x="8961120" y="859536"/>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5" name="Shape 3"/>
          <p:cNvSpPr/>
          <p:nvPr/>
        </p:nvSpPr>
        <p:spPr>
          <a:xfrm>
            <a:off x="8961120" y="1719072"/>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6" name="Shape 4"/>
          <p:cNvSpPr/>
          <p:nvPr/>
        </p:nvSpPr>
        <p:spPr>
          <a:xfrm>
            <a:off x="8961120" y="2578608"/>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7" name="Shape 5"/>
          <p:cNvSpPr/>
          <p:nvPr/>
        </p:nvSpPr>
        <p:spPr>
          <a:xfrm>
            <a:off x="8961120" y="3438144"/>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8" name="Shape 6"/>
          <p:cNvSpPr/>
          <p:nvPr/>
        </p:nvSpPr>
        <p:spPr>
          <a:xfrm>
            <a:off x="8961120" y="4297680"/>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9" name="Shape 7"/>
          <p:cNvSpPr/>
          <p:nvPr/>
        </p:nvSpPr>
        <p:spPr>
          <a:xfrm>
            <a:off x="8961120" y="5157216"/>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0" name="Shape 8"/>
          <p:cNvSpPr/>
          <p:nvPr/>
        </p:nvSpPr>
        <p:spPr>
          <a:xfrm>
            <a:off x="8961120" y="6016752"/>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1" name="Shape 9"/>
          <p:cNvSpPr/>
          <p:nvPr/>
        </p:nvSpPr>
        <p:spPr>
          <a:xfrm>
            <a:off x="8961120"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2" name="Shape 10"/>
          <p:cNvSpPr/>
          <p:nvPr/>
        </p:nvSpPr>
        <p:spPr>
          <a:xfrm>
            <a:off x="9756648"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3" name="Shape 11"/>
          <p:cNvSpPr/>
          <p:nvPr/>
        </p:nvSpPr>
        <p:spPr>
          <a:xfrm>
            <a:off x="10552176"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4" name="Shape 12"/>
          <p:cNvSpPr/>
          <p:nvPr/>
        </p:nvSpPr>
        <p:spPr>
          <a:xfrm>
            <a:off x="11347704"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5" name="Shape 13"/>
          <p:cNvSpPr/>
          <p:nvPr/>
        </p:nvSpPr>
        <p:spPr>
          <a:xfrm>
            <a:off x="12143232"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7" name="Text 15"/>
          <p:cNvSpPr/>
          <p:nvPr/>
        </p:nvSpPr>
        <p:spPr>
          <a:xfrm>
            <a:off x="777240" y="1874520"/>
            <a:ext cx="6400800" cy="320040"/>
          </a:xfrm>
          <a:prstGeom prst="rect">
            <a:avLst/>
          </a:prstGeom>
          <a:noFill/>
          <a:ln/>
        </p:spPr>
        <p:txBody>
          <a:bodyPr wrap="square" lIns="0" tIns="0" rIns="0" bIns="0" rtlCol="0" anchor="ctr">
            <a:normAutofit/>
          </a:bodyPr>
          <a:lstStyle/>
          <a:p>
            <a:pPr marL="0" indent="0">
              <a:buNone/>
            </a:pPr>
            <a:r>
              <a:rPr lang="en-US" sz="1350" b="1" kern="0" spc="500">
                <a:solidFill>
                  <a:srgbClr val="2E7AB6"/>
                </a:solidFill>
                <a:latin typeface="Calibri" pitchFamily="34" charset="0"/>
                <a:ea typeface="Calibri" pitchFamily="34" charset="-122"/>
                <a:cs typeface="Calibri" pitchFamily="34" charset="-120"/>
              </a:rPr>
              <a:t>SECTION</a:t>
            </a:r>
            <a:endParaRPr lang="en-US" sz="1350"/>
          </a:p>
        </p:txBody>
      </p:sp>
      <p:sp>
        <p:nvSpPr>
          <p:cNvPr id="18" name="Text 16"/>
          <p:cNvSpPr/>
          <p:nvPr/>
        </p:nvSpPr>
        <p:spPr>
          <a:xfrm>
            <a:off x="777240" y="2212848"/>
            <a:ext cx="7955280" cy="1463040"/>
          </a:xfrm>
          <a:prstGeom prst="rect">
            <a:avLst/>
          </a:prstGeom>
          <a:noFill/>
          <a:ln/>
        </p:spPr>
        <p:txBody>
          <a:bodyPr wrap="square" lIns="0" tIns="0" rIns="0" bIns="0" rtlCol="0" anchor="ctr">
            <a:normAutofit/>
          </a:bodyPr>
          <a:lstStyle/>
          <a:p>
            <a:pPr marL="0" indent="0">
              <a:lnSpc>
                <a:spcPct val="100000"/>
              </a:lnSpc>
              <a:buNone/>
            </a:pPr>
            <a:r>
              <a:rPr lang="en-US" sz="4400" b="1" dirty="0">
                <a:solidFill>
                  <a:srgbClr val="FFFFFF"/>
                </a:solidFill>
                <a:latin typeface="Calibri" pitchFamily="34" charset="0"/>
                <a:ea typeface="Calibri" pitchFamily="34" charset="-122"/>
                <a:cs typeface="Calibri" pitchFamily="34" charset="-120"/>
              </a:rPr>
              <a:t>Financial</a:t>
            </a:r>
            <a:endParaRPr lang="en-US" sz="4400" dirty="0"/>
          </a:p>
          <a:p>
            <a:pPr marL="0" indent="0">
              <a:lnSpc>
                <a:spcPct val="100000"/>
              </a:lnSpc>
              <a:buNone/>
            </a:pPr>
            <a:r>
              <a:rPr lang="en-US" sz="4400" b="1" dirty="0">
                <a:solidFill>
                  <a:srgbClr val="FFFFFF"/>
                </a:solidFill>
                <a:latin typeface="Calibri" pitchFamily="34" charset="0"/>
                <a:ea typeface="Calibri" pitchFamily="34" charset="-122"/>
                <a:cs typeface="Calibri" pitchFamily="34" charset="-120"/>
              </a:rPr>
              <a:t>Overview</a:t>
            </a:r>
            <a:endParaRPr lang="en-US" sz="4400" dirty="0"/>
          </a:p>
        </p:txBody>
      </p:sp>
      <p:sp>
        <p:nvSpPr>
          <p:cNvPr id="19" name="Shape 17"/>
          <p:cNvSpPr/>
          <p:nvPr/>
        </p:nvSpPr>
        <p:spPr>
          <a:xfrm>
            <a:off x="777240" y="3730752"/>
            <a:ext cx="4389120" cy="0"/>
          </a:xfrm>
          <a:prstGeom prst="line">
            <a:avLst/>
          </a:prstGeom>
          <a:noFill/>
          <a:ln w="19050">
            <a:solidFill>
              <a:srgbClr val="2E7AB6"/>
            </a:solidFill>
            <a:prstDash val="solid"/>
          </a:ln>
        </p:spPr>
        <p:txBody>
          <a:bodyPr>
            <a:normAutofit fontScale="25000" lnSpcReduction="20000"/>
          </a:bodyPr>
          <a:lstStyle/>
          <a:p>
            <a:endParaRPr lang="en-US"/>
          </a:p>
        </p:txBody>
      </p:sp>
      <p:sp>
        <p:nvSpPr>
          <p:cNvPr id="20" name="Text 18"/>
          <p:cNvSpPr/>
          <p:nvPr/>
        </p:nvSpPr>
        <p:spPr>
          <a:xfrm>
            <a:off x="777240" y="3913632"/>
            <a:ext cx="7955280" cy="365760"/>
          </a:xfrm>
          <a:prstGeom prst="rect">
            <a:avLst/>
          </a:prstGeom>
          <a:noFill/>
          <a:ln/>
        </p:spPr>
        <p:txBody>
          <a:bodyPr wrap="square" lIns="0" tIns="0" rIns="0" bIns="0" rtlCol="0" anchor="ctr">
            <a:normAutofit/>
          </a:bodyPr>
          <a:lstStyle/>
          <a:p>
            <a:pPr marL="0" indent="0">
              <a:buNone/>
            </a:pPr>
            <a:r>
              <a:rPr lang="en-US" sz="1650">
                <a:solidFill>
                  <a:srgbClr val="A0BBCC"/>
                </a:solidFill>
                <a:latin typeface="Calibri" pitchFamily="34" charset="0"/>
                <a:ea typeface="Calibri" pitchFamily="34" charset="-122"/>
                <a:cs typeface="Calibri" pitchFamily="34" charset="-120"/>
              </a:rPr>
              <a:t>P&amp;L Summary · Quarterly Build · Margin Uplift</a:t>
            </a:r>
            <a:endParaRPr lang="en-US" sz="1650"/>
          </a:p>
        </p:txBody>
      </p:sp>
      <p:sp>
        <p:nvSpPr>
          <p:cNvPr id="21" name="Shape 2"/>
          <p:cNvSpPr/>
          <p:nvPr/>
        </p:nvSpPr>
        <p:spPr>
          <a:xfrm>
            <a:off x="8082950" y="1204590"/>
            <a:ext cx="393192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22" name="Shape 3"/>
          <p:cNvSpPr/>
          <p:nvPr/>
        </p:nvSpPr>
        <p:spPr>
          <a:xfrm>
            <a:off x="8082950" y="2064126"/>
            <a:ext cx="393192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23" name="Shape 4"/>
          <p:cNvSpPr/>
          <p:nvPr/>
        </p:nvSpPr>
        <p:spPr>
          <a:xfrm>
            <a:off x="8082950" y="2923662"/>
            <a:ext cx="393192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24" name="Shape 5"/>
          <p:cNvSpPr/>
          <p:nvPr/>
        </p:nvSpPr>
        <p:spPr>
          <a:xfrm>
            <a:off x="8082950" y="3783198"/>
            <a:ext cx="393192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25" name="Shape 6"/>
          <p:cNvSpPr/>
          <p:nvPr/>
        </p:nvSpPr>
        <p:spPr>
          <a:xfrm>
            <a:off x="8082950" y="4642734"/>
            <a:ext cx="393192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26" name="Shape 7"/>
          <p:cNvSpPr/>
          <p:nvPr/>
        </p:nvSpPr>
        <p:spPr>
          <a:xfrm>
            <a:off x="8082950" y="5502270"/>
            <a:ext cx="393192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27" name="Shape 8"/>
          <p:cNvSpPr/>
          <p:nvPr/>
        </p:nvSpPr>
        <p:spPr>
          <a:xfrm>
            <a:off x="8082950" y="6361806"/>
            <a:ext cx="393192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28" name="Text 15"/>
          <p:cNvSpPr/>
          <p:nvPr/>
        </p:nvSpPr>
        <p:spPr>
          <a:xfrm>
            <a:off x="8174390" y="847974"/>
            <a:ext cx="3657600" cy="822960"/>
          </a:xfrm>
          <a:prstGeom prst="rect">
            <a:avLst/>
          </a:prstGeom>
          <a:noFill/>
          <a:ln/>
        </p:spPr>
        <p:txBody>
          <a:bodyPr wrap="square" lIns="0" tIns="0" rIns="0" bIns="0" rtlCol="0" anchor="ctr">
            <a:normAutofit/>
          </a:bodyPr>
          <a:lstStyle/>
          <a:p>
            <a:pPr marL="0" indent="0" algn="ctr">
              <a:lnSpc>
                <a:spcPct val="130000"/>
              </a:lnSpc>
              <a:buNone/>
            </a:pPr>
            <a:r>
              <a:rPr lang="en-US" sz="1800" b="1" kern="0" spc="200">
                <a:solidFill>
                  <a:srgbClr val="A0BBCC"/>
                </a:solidFill>
                <a:latin typeface="Calibri" pitchFamily="34" charset="0"/>
                <a:ea typeface="Calibri" pitchFamily="34" charset="-122"/>
                <a:cs typeface="Calibri" pitchFamily="34" charset="-120"/>
              </a:rPr>
              <a:t>VPS LAKESHORE</a:t>
            </a:r>
            <a:endParaRPr lang="en-US" sz="1800"/>
          </a:p>
          <a:p>
            <a:pPr marL="0" indent="0" algn="ctr">
              <a:lnSpc>
                <a:spcPct val="130000"/>
              </a:lnSpc>
              <a:buNone/>
            </a:pPr>
            <a:r>
              <a:rPr lang="en-US" sz="1800" b="1" kern="0" spc="200">
                <a:solidFill>
                  <a:srgbClr val="A0BBCC"/>
                </a:solidFill>
                <a:latin typeface="Calibri" pitchFamily="34" charset="0"/>
                <a:ea typeface="Calibri" pitchFamily="34" charset="-122"/>
                <a:cs typeface="Calibri" pitchFamily="34" charset="-120"/>
              </a:rPr>
              <a:t>HOSPITAL · KOCHI</a:t>
            </a:r>
            <a:endParaRPr lang="en-US" sz="1800"/>
          </a:p>
        </p:txBody>
      </p:sp>
      <p:sp>
        <p:nvSpPr>
          <p:cNvPr id="29" name="Shape 16"/>
          <p:cNvSpPr/>
          <p:nvPr/>
        </p:nvSpPr>
        <p:spPr>
          <a:xfrm>
            <a:off x="8997350" y="1762374"/>
            <a:ext cx="2011680" cy="0"/>
          </a:xfrm>
          <a:prstGeom prst="line">
            <a:avLst/>
          </a:prstGeom>
          <a:noFill/>
          <a:ln w="19050">
            <a:solidFill>
              <a:srgbClr val="BE1558"/>
            </a:solidFill>
            <a:prstDash val="solid"/>
          </a:ln>
        </p:spPr>
        <p:txBody>
          <a:bodyPr>
            <a:normAutofit fontScale="25000" lnSpcReduction="20000"/>
          </a:bodyPr>
          <a:lstStyle/>
          <a:p>
            <a:endParaRPr lang="en-US"/>
          </a:p>
        </p:txBody>
      </p:sp>
      <p:sp>
        <p:nvSpPr>
          <p:cNvPr id="30" name="Text 17"/>
          <p:cNvSpPr/>
          <p:nvPr/>
        </p:nvSpPr>
        <p:spPr>
          <a:xfrm>
            <a:off x="8174390" y="1990974"/>
            <a:ext cx="3657600" cy="640080"/>
          </a:xfrm>
          <a:prstGeom prst="rect">
            <a:avLst/>
          </a:prstGeom>
          <a:noFill/>
          <a:ln/>
        </p:spPr>
        <p:txBody>
          <a:bodyPr wrap="square" lIns="0" tIns="0" rIns="0" bIns="0" rtlCol="0" anchor="ctr">
            <a:normAutofit/>
          </a:bodyPr>
          <a:lstStyle/>
          <a:p>
            <a:pPr marL="0" indent="0" algn="ctr">
              <a:buNone/>
            </a:pPr>
            <a:r>
              <a:rPr lang="en-US" sz="3200" b="1" dirty="0">
                <a:solidFill>
                  <a:srgbClr val="FFFFFF"/>
                </a:solidFill>
                <a:latin typeface="Calibri" pitchFamily="34" charset="0"/>
                <a:ea typeface="Calibri" pitchFamily="34" charset="-122"/>
                <a:cs typeface="Calibri" pitchFamily="34" charset="-120"/>
              </a:rPr>
              <a:t>₹573 Cr</a:t>
            </a:r>
            <a:endParaRPr lang="en-US" sz="3200" dirty="0"/>
          </a:p>
        </p:txBody>
      </p:sp>
      <p:sp>
        <p:nvSpPr>
          <p:cNvPr id="31" name="Text 18"/>
          <p:cNvSpPr/>
          <p:nvPr/>
        </p:nvSpPr>
        <p:spPr>
          <a:xfrm>
            <a:off x="8174390" y="2612766"/>
            <a:ext cx="3657600" cy="274320"/>
          </a:xfrm>
          <a:prstGeom prst="rect">
            <a:avLst/>
          </a:prstGeom>
          <a:noFill/>
          <a:ln/>
        </p:spPr>
        <p:txBody>
          <a:bodyPr wrap="square" lIns="0" tIns="0" rIns="0" bIns="0" rtlCol="0" anchor="ctr">
            <a:normAutofit/>
          </a:bodyPr>
          <a:lstStyle/>
          <a:p>
            <a:pPr marL="0" indent="0" algn="ctr">
              <a:buNone/>
            </a:pPr>
            <a:r>
              <a:rPr lang="en-US" sz="1425" kern="0" spc="100">
                <a:solidFill>
                  <a:srgbClr val="7AAAC5"/>
                </a:solidFill>
                <a:latin typeface="Calibri" pitchFamily="34" charset="0"/>
                <a:ea typeface="Calibri" pitchFamily="34" charset="-122"/>
                <a:cs typeface="Calibri" pitchFamily="34" charset="-120"/>
              </a:rPr>
              <a:t>FY27 Revenue Plan</a:t>
            </a:r>
            <a:endParaRPr lang="en-US" sz="1425"/>
          </a:p>
        </p:txBody>
      </p:sp>
      <p:sp>
        <p:nvSpPr>
          <p:cNvPr id="32" name="Text 19"/>
          <p:cNvSpPr/>
          <p:nvPr/>
        </p:nvSpPr>
        <p:spPr>
          <a:xfrm>
            <a:off x="8174390" y="3499734"/>
            <a:ext cx="3657600" cy="640080"/>
          </a:xfrm>
          <a:prstGeom prst="rect">
            <a:avLst/>
          </a:prstGeom>
          <a:noFill/>
          <a:ln/>
        </p:spPr>
        <p:txBody>
          <a:bodyPr wrap="square" lIns="0" tIns="0" rIns="0" bIns="0" rtlCol="0" anchor="ctr">
            <a:normAutofit/>
          </a:bodyPr>
          <a:lstStyle/>
          <a:p>
            <a:pPr marL="0" indent="0" algn="ctr">
              <a:buNone/>
            </a:pPr>
            <a:r>
              <a:rPr lang="en-US" sz="3200" b="1" dirty="0">
                <a:solidFill>
                  <a:srgbClr val="FFFFFF"/>
                </a:solidFill>
                <a:latin typeface="Calibri" pitchFamily="34" charset="0"/>
                <a:ea typeface="Calibri" pitchFamily="34" charset="-122"/>
                <a:cs typeface="Calibri" pitchFamily="34" charset="-120"/>
              </a:rPr>
              <a:t>26.1%</a:t>
            </a:r>
            <a:endParaRPr lang="en-US" sz="3200" dirty="0"/>
          </a:p>
        </p:txBody>
      </p:sp>
      <p:sp>
        <p:nvSpPr>
          <p:cNvPr id="33" name="Text 20"/>
          <p:cNvSpPr/>
          <p:nvPr/>
        </p:nvSpPr>
        <p:spPr>
          <a:xfrm>
            <a:off x="8174390" y="4121526"/>
            <a:ext cx="3657600" cy="274320"/>
          </a:xfrm>
          <a:prstGeom prst="rect">
            <a:avLst/>
          </a:prstGeom>
          <a:noFill/>
          <a:ln/>
        </p:spPr>
        <p:txBody>
          <a:bodyPr wrap="square" lIns="0" tIns="0" rIns="0" bIns="0" rtlCol="0" anchor="ctr">
            <a:normAutofit/>
          </a:bodyPr>
          <a:lstStyle/>
          <a:p>
            <a:pPr marL="0" indent="0" algn="ctr">
              <a:buNone/>
            </a:pPr>
            <a:r>
              <a:rPr lang="en-US" sz="1425" kern="0" spc="100">
                <a:solidFill>
                  <a:srgbClr val="7AAAC5"/>
                </a:solidFill>
                <a:latin typeface="Calibri" pitchFamily="34" charset="0"/>
                <a:ea typeface="Calibri" pitchFamily="34" charset="-122"/>
                <a:cs typeface="Calibri" pitchFamily="34" charset="-120"/>
              </a:rPr>
              <a:t>EBITDA Margin</a:t>
            </a:r>
            <a:endParaRPr lang="en-US" sz="1425"/>
          </a:p>
        </p:txBody>
      </p:sp>
      <p:sp>
        <p:nvSpPr>
          <p:cNvPr id="34" name="Text 21"/>
          <p:cNvSpPr/>
          <p:nvPr/>
        </p:nvSpPr>
        <p:spPr>
          <a:xfrm>
            <a:off x="8174390" y="5008494"/>
            <a:ext cx="3657600" cy="640080"/>
          </a:xfrm>
          <a:prstGeom prst="rect">
            <a:avLst/>
          </a:prstGeom>
          <a:noFill/>
          <a:ln/>
        </p:spPr>
        <p:txBody>
          <a:bodyPr wrap="square" lIns="0" tIns="0" rIns="0" bIns="0" rtlCol="0" anchor="ctr">
            <a:normAutofit/>
          </a:bodyPr>
          <a:lstStyle/>
          <a:p>
            <a:pPr marL="0" indent="0" algn="ctr">
              <a:buNone/>
            </a:pPr>
            <a:r>
              <a:rPr lang="en-US" sz="3200" b="1" dirty="0">
                <a:solidFill>
                  <a:srgbClr val="FFFFFF"/>
                </a:solidFill>
                <a:latin typeface="Calibri" pitchFamily="34" charset="0"/>
                <a:ea typeface="Calibri" pitchFamily="34" charset="-122"/>
                <a:cs typeface="Calibri" pitchFamily="34" charset="-120"/>
              </a:rPr>
              <a:t>33</a:t>
            </a:r>
            <a:endParaRPr lang="en-US" sz="3200" dirty="0"/>
          </a:p>
        </p:txBody>
      </p:sp>
      <p:sp>
        <p:nvSpPr>
          <p:cNvPr id="35" name="Text 22"/>
          <p:cNvSpPr/>
          <p:nvPr/>
        </p:nvSpPr>
        <p:spPr>
          <a:xfrm>
            <a:off x="8174390" y="5630286"/>
            <a:ext cx="3657600" cy="274320"/>
          </a:xfrm>
          <a:prstGeom prst="rect">
            <a:avLst/>
          </a:prstGeom>
          <a:noFill/>
          <a:ln/>
        </p:spPr>
        <p:txBody>
          <a:bodyPr wrap="square" lIns="0" tIns="0" rIns="0" bIns="0" rtlCol="0" anchor="ctr">
            <a:normAutofit/>
          </a:bodyPr>
          <a:lstStyle/>
          <a:p>
            <a:pPr marL="0" indent="0" algn="ctr">
              <a:buNone/>
            </a:pPr>
            <a:r>
              <a:rPr lang="en-US" sz="1425" kern="0" spc="100">
                <a:solidFill>
                  <a:srgbClr val="7AAAC5"/>
                </a:solidFill>
                <a:latin typeface="Calibri" pitchFamily="34" charset="0"/>
                <a:ea typeface="Calibri" pitchFamily="34" charset="-122"/>
                <a:cs typeface="Calibri" pitchFamily="34" charset="-120"/>
              </a:rPr>
              <a:t>Transformation Initiatives</a:t>
            </a:r>
            <a:endParaRPr lang="en-US" sz="142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FINANCIAL OVERVIEW — EXECUTIVE SUMMARY</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FY27 AOP </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US"/>
          </a:p>
        </p:txBody>
      </p:sp>
      <p:sp>
        <p:nvSpPr>
          <p:cNvPr id="7" name="Shape 5"/>
          <p:cNvSpPr/>
          <p:nvPr/>
        </p:nvSpPr>
        <p:spPr>
          <a:xfrm>
            <a:off x="411480" y="841248"/>
            <a:ext cx="11338560" cy="178308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8" name="Shape 6"/>
          <p:cNvSpPr/>
          <p:nvPr/>
        </p:nvSpPr>
        <p:spPr>
          <a:xfrm>
            <a:off x="411480" y="841248"/>
            <a:ext cx="54864" cy="1783080"/>
          </a:xfrm>
          <a:prstGeom prst="rect">
            <a:avLst/>
          </a:prstGeom>
          <a:solidFill>
            <a:srgbClr val="2E7AB6"/>
          </a:solidFill>
          <a:ln w="12700">
            <a:solidFill>
              <a:srgbClr val="2E7AB6"/>
            </a:solidFill>
            <a:prstDash val="solid"/>
          </a:ln>
        </p:spPr>
        <p:txBody>
          <a:bodyPr>
            <a:normAutofit/>
          </a:bodyPr>
          <a:lstStyle/>
          <a:p>
            <a:endParaRPr lang="en-US"/>
          </a:p>
        </p:txBody>
      </p:sp>
      <p:sp>
        <p:nvSpPr>
          <p:cNvPr id="9" name="Text 7"/>
          <p:cNvSpPr/>
          <p:nvPr/>
        </p:nvSpPr>
        <p:spPr>
          <a:xfrm>
            <a:off x="566928" y="932688"/>
            <a:ext cx="3200400" cy="384048"/>
          </a:xfrm>
          <a:prstGeom prst="rect">
            <a:avLst/>
          </a:prstGeom>
          <a:noFill/>
          <a:ln/>
        </p:spPr>
        <p:txBody>
          <a:bodyPr wrap="square" lIns="0" tIns="0" rIns="0" bIns="0" rtlCol="0" anchor="ctr">
            <a:normAutofit/>
          </a:bodyPr>
          <a:lstStyle/>
          <a:p>
            <a:pPr marL="0" indent="0">
              <a:buNone/>
            </a:pPr>
            <a:r>
              <a:rPr lang="en-US" sz="1950" b="1">
                <a:solidFill>
                  <a:srgbClr val="2E7AB6"/>
                </a:solidFill>
                <a:latin typeface="Calibri" pitchFamily="34" charset="0"/>
                <a:ea typeface="Calibri" pitchFamily="34" charset="-122"/>
                <a:cs typeface="Calibri" pitchFamily="34" charset="-120"/>
              </a:rPr>
              <a:t>The Revenue Story</a:t>
            </a:r>
            <a:endParaRPr lang="en-US" sz="1950"/>
          </a:p>
        </p:txBody>
      </p:sp>
      <p:sp>
        <p:nvSpPr>
          <p:cNvPr id="10" name="Text 8"/>
          <p:cNvSpPr/>
          <p:nvPr/>
        </p:nvSpPr>
        <p:spPr>
          <a:xfrm>
            <a:off x="566928" y="1298448"/>
            <a:ext cx="11018520" cy="1207008"/>
          </a:xfrm>
          <a:prstGeom prst="rect">
            <a:avLst/>
          </a:prstGeom>
          <a:noFill/>
          <a:ln/>
        </p:spPr>
        <p:txBody>
          <a:bodyPr wrap="square" lIns="0" tIns="0" rIns="0" bIns="0" rtlCol="0" anchor="ctr">
            <a:normAutofit/>
          </a:bodyPr>
          <a:lstStyle/>
          <a:p>
            <a:pPr marL="0" indent="0">
              <a:buNone/>
            </a:pPr>
            <a:r>
              <a:rPr lang="en-US" sz="1500">
                <a:solidFill>
                  <a:srgbClr val="1C2B3A"/>
                </a:solidFill>
                <a:latin typeface="Calibri" pitchFamily="34" charset="0"/>
                <a:ea typeface="Calibri" pitchFamily="34" charset="-122"/>
                <a:cs typeface="Calibri" pitchFamily="34" charset="-120"/>
              </a:rPr>
              <a:t>FY27 targets ₹573 Cr revenue — a ₹120 Cr step-up over FY26 actuals of ₹453 Cr. IP revenue remains the engine at ₹399 Cr (70% of total), growing 26% on the back of rate revision, clinician additions and BD scale-up. OP revenue grows faster at 31% to ₹145 Cr, driven by satellite clinic expansion and digital patient acquisition. The growth is initiative-driven: 16 revenue initiatives collectively contribute ₹123 Cr of the ₹120 Cr net growth — meaning the base business holds flat and all incremental revenue is programme-driven.</a:t>
            </a:r>
            <a:endParaRPr lang="en-US" sz="1500"/>
          </a:p>
        </p:txBody>
      </p:sp>
      <p:sp>
        <p:nvSpPr>
          <p:cNvPr id="11" name="Shape 9"/>
          <p:cNvSpPr/>
          <p:nvPr/>
        </p:nvSpPr>
        <p:spPr>
          <a:xfrm>
            <a:off x="411480" y="2743200"/>
            <a:ext cx="11338560" cy="178308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2" name="Shape 10"/>
          <p:cNvSpPr/>
          <p:nvPr/>
        </p:nvSpPr>
        <p:spPr>
          <a:xfrm>
            <a:off x="411480" y="2743200"/>
            <a:ext cx="54864" cy="1783080"/>
          </a:xfrm>
          <a:prstGeom prst="rect">
            <a:avLst/>
          </a:prstGeom>
          <a:solidFill>
            <a:srgbClr val="BE1558"/>
          </a:solidFill>
          <a:ln w="12700">
            <a:solidFill>
              <a:srgbClr val="BE1558"/>
            </a:solidFill>
            <a:prstDash val="solid"/>
          </a:ln>
        </p:spPr>
        <p:txBody>
          <a:bodyPr>
            <a:normAutofit/>
          </a:bodyPr>
          <a:lstStyle/>
          <a:p>
            <a:endParaRPr lang="en-US"/>
          </a:p>
        </p:txBody>
      </p:sp>
      <p:sp>
        <p:nvSpPr>
          <p:cNvPr id="13" name="Text 11"/>
          <p:cNvSpPr/>
          <p:nvPr/>
        </p:nvSpPr>
        <p:spPr>
          <a:xfrm>
            <a:off x="566928" y="2834640"/>
            <a:ext cx="3200400" cy="384048"/>
          </a:xfrm>
          <a:prstGeom prst="rect">
            <a:avLst/>
          </a:prstGeom>
          <a:noFill/>
          <a:ln/>
        </p:spPr>
        <p:txBody>
          <a:bodyPr wrap="square" lIns="0" tIns="0" rIns="0" bIns="0" rtlCol="0" anchor="ctr">
            <a:normAutofit/>
          </a:bodyPr>
          <a:lstStyle/>
          <a:p>
            <a:pPr marL="0" indent="0">
              <a:buNone/>
            </a:pPr>
            <a:r>
              <a:rPr lang="en-US" sz="1950" b="1">
                <a:solidFill>
                  <a:srgbClr val="BE1558"/>
                </a:solidFill>
                <a:latin typeface="Calibri" pitchFamily="34" charset="0"/>
                <a:ea typeface="Calibri" pitchFamily="34" charset="-122"/>
                <a:cs typeface="Calibri" pitchFamily="34" charset="-120"/>
              </a:rPr>
              <a:t>The Margin Story</a:t>
            </a:r>
            <a:endParaRPr lang="en-US" sz="1950"/>
          </a:p>
        </p:txBody>
      </p:sp>
      <p:sp>
        <p:nvSpPr>
          <p:cNvPr id="14" name="Text 12"/>
          <p:cNvSpPr/>
          <p:nvPr/>
        </p:nvSpPr>
        <p:spPr>
          <a:xfrm>
            <a:off x="566928" y="3200400"/>
            <a:ext cx="11018520" cy="1207008"/>
          </a:xfrm>
          <a:prstGeom prst="rect">
            <a:avLst/>
          </a:prstGeom>
          <a:noFill/>
          <a:ln/>
        </p:spPr>
        <p:txBody>
          <a:bodyPr wrap="square" lIns="0" tIns="0" rIns="0" bIns="0" rtlCol="0" anchor="ctr">
            <a:normAutofit/>
          </a:bodyPr>
          <a:lstStyle/>
          <a:p>
            <a:pPr marL="0" indent="0">
              <a:buNone/>
            </a:pPr>
            <a:r>
              <a:rPr lang="en-US" sz="1500">
                <a:solidFill>
                  <a:srgbClr val="1C2B3A"/>
                </a:solidFill>
                <a:latin typeface="Calibri" pitchFamily="34" charset="0"/>
                <a:ea typeface="Calibri" pitchFamily="34" charset="-122"/>
                <a:cs typeface="Calibri" pitchFamily="34" charset="-120"/>
              </a:rPr>
              <a:t>EBITDA expands from 21.8% in FY26 to 26.1% in FY27 — a 430 bps improvement. The driver is contribution margin expansion from 52.9% to 57.2%, as revenue initiatives skew toward higher-margin services and pricing power is restored through rate revision and TPA renegotiation. Fixed costs grow 29% — disciplined below revenue growth of 27% — reflecting BD investment and clinical hires that are self-funding within the plan year. The quarterly arc shows Q1 at 21% EBITDA margin, exiting Q4 at 30% as initiatives ramp through the year.</a:t>
            </a:r>
            <a:endParaRPr lang="en-US" sz="1500"/>
          </a:p>
        </p:txBody>
      </p:sp>
      <p:sp>
        <p:nvSpPr>
          <p:cNvPr id="15" name="Shape 13"/>
          <p:cNvSpPr/>
          <p:nvPr/>
        </p:nvSpPr>
        <p:spPr>
          <a:xfrm>
            <a:off x="411480" y="4645152"/>
            <a:ext cx="11338560" cy="178308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6" name="Shape 14"/>
          <p:cNvSpPr/>
          <p:nvPr/>
        </p:nvSpPr>
        <p:spPr>
          <a:xfrm>
            <a:off x="411480" y="4645152"/>
            <a:ext cx="54864" cy="1783080"/>
          </a:xfrm>
          <a:prstGeom prst="rect">
            <a:avLst/>
          </a:prstGeom>
          <a:solidFill>
            <a:srgbClr val="1A8C5B"/>
          </a:solidFill>
          <a:ln w="12700">
            <a:solidFill>
              <a:srgbClr val="1A8C5B"/>
            </a:solidFill>
            <a:prstDash val="solid"/>
          </a:ln>
        </p:spPr>
        <p:txBody>
          <a:bodyPr>
            <a:normAutofit/>
          </a:bodyPr>
          <a:lstStyle/>
          <a:p>
            <a:endParaRPr lang="en-US"/>
          </a:p>
        </p:txBody>
      </p:sp>
      <p:sp>
        <p:nvSpPr>
          <p:cNvPr id="17" name="Text 15"/>
          <p:cNvSpPr/>
          <p:nvPr/>
        </p:nvSpPr>
        <p:spPr>
          <a:xfrm>
            <a:off x="566928" y="4736592"/>
            <a:ext cx="3200400" cy="384048"/>
          </a:xfrm>
          <a:prstGeom prst="rect">
            <a:avLst/>
          </a:prstGeom>
          <a:noFill/>
          <a:ln/>
        </p:spPr>
        <p:txBody>
          <a:bodyPr wrap="square" lIns="0" tIns="0" rIns="0" bIns="0" rtlCol="0" anchor="ctr">
            <a:normAutofit/>
          </a:bodyPr>
          <a:lstStyle/>
          <a:p>
            <a:pPr marL="0" indent="0">
              <a:buNone/>
            </a:pPr>
            <a:r>
              <a:rPr lang="en-US" sz="1950" b="1">
                <a:solidFill>
                  <a:srgbClr val="1A8C5B"/>
                </a:solidFill>
                <a:latin typeface="Calibri" pitchFamily="34" charset="0"/>
                <a:ea typeface="Calibri" pitchFamily="34" charset="-122"/>
                <a:cs typeface="Calibri" pitchFamily="34" charset="-120"/>
              </a:rPr>
              <a:t>The Path to PAT</a:t>
            </a:r>
            <a:endParaRPr lang="en-US" sz="1950"/>
          </a:p>
        </p:txBody>
      </p:sp>
      <p:sp>
        <p:nvSpPr>
          <p:cNvPr id="18" name="Text 16"/>
          <p:cNvSpPr/>
          <p:nvPr/>
        </p:nvSpPr>
        <p:spPr>
          <a:xfrm>
            <a:off x="566928" y="5102352"/>
            <a:ext cx="11018520" cy="1207008"/>
          </a:xfrm>
          <a:prstGeom prst="rect">
            <a:avLst/>
          </a:prstGeom>
          <a:noFill/>
          <a:ln/>
        </p:spPr>
        <p:txBody>
          <a:bodyPr wrap="square" lIns="0" tIns="0" rIns="0" bIns="0" rtlCol="0" anchor="ctr">
            <a:normAutofit/>
          </a:bodyPr>
          <a:lstStyle/>
          <a:p>
            <a:pPr marL="0" indent="0">
              <a:buNone/>
            </a:pPr>
            <a:r>
              <a:rPr lang="en-US" sz="1500">
                <a:solidFill>
                  <a:srgbClr val="1C2B3A"/>
                </a:solidFill>
                <a:latin typeface="Calibri" pitchFamily="34" charset="0"/>
                <a:ea typeface="Calibri" pitchFamily="34" charset="-122"/>
                <a:cs typeface="Calibri" pitchFamily="34" charset="-120"/>
              </a:rPr>
              <a:t>From ₹573 Cr revenue, ₹150 Cr EBITDA flows through after ₹182 Cr fixed costs. Depreciation rises to ₹35 Cr on the new block fitout. PBT of ₹114 Cr at a 25.9% tax charge delivers ₹84 Cr PAT — a 56% improvement on FY26's ₹54 Cr. PAT margin of 14.7% establishes a strong reinvestment capacity for FY28 capex and working capital. Net of initiative costs already embedded in the P&amp;L, the programme is fully self-funding within FY27.</a:t>
            </a:r>
            <a:endParaRPr lang="en-US" sz="1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FULL-YEAR P&amp;L SUMMARY</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FY27 vs FY26 Actuals  ·  ₹ Lakhs</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US"/>
          </a:p>
        </p:txBody>
      </p:sp>
      <p:sp>
        <p:nvSpPr>
          <p:cNvPr id="7" name="Shape 5"/>
          <p:cNvSpPr/>
          <p:nvPr/>
        </p:nvSpPr>
        <p:spPr>
          <a:xfrm>
            <a:off x="411480" y="868680"/>
            <a:ext cx="1828800" cy="105156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8" name="Shape 6"/>
          <p:cNvSpPr/>
          <p:nvPr/>
        </p:nvSpPr>
        <p:spPr>
          <a:xfrm>
            <a:off x="411480" y="868680"/>
            <a:ext cx="54864" cy="1051560"/>
          </a:xfrm>
          <a:prstGeom prst="rect">
            <a:avLst/>
          </a:prstGeom>
          <a:solidFill>
            <a:srgbClr val="2E7AB6"/>
          </a:solidFill>
          <a:ln w="12700">
            <a:solidFill>
              <a:srgbClr val="2E7AB6"/>
            </a:solidFill>
            <a:prstDash val="solid"/>
          </a:ln>
        </p:spPr>
        <p:txBody>
          <a:bodyPr>
            <a:normAutofit/>
          </a:bodyPr>
          <a:lstStyle/>
          <a:p>
            <a:endParaRPr lang="en-US"/>
          </a:p>
        </p:txBody>
      </p:sp>
      <p:sp>
        <p:nvSpPr>
          <p:cNvPr id="9" name="Text 7"/>
          <p:cNvSpPr/>
          <p:nvPr/>
        </p:nvSpPr>
        <p:spPr>
          <a:xfrm>
            <a:off x="539496" y="960120"/>
            <a:ext cx="16642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Total Revenue</a:t>
            </a:r>
            <a:endParaRPr lang="en-US" sz="1350"/>
          </a:p>
        </p:txBody>
      </p:sp>
      <p:sp>
        <p:nvSpPr>
          <p:cNvPr id="10" name="Text 8"/>
          <p:cNvSpPr/>
          <p:nvPr/>
        </p:nvSpPr>
        <p:spPr>
          <a:xfrm>
            <a:off x="539496" y="1161288"/>
            <a:ext cx="16642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₹57,503L</a:t>
            </a:r>
            <a:endParaRPr lang="en-US" sz="2200" dirty="0"/>
          </a:p>
        </p:txBody>
      </p:sp>
      <p:sp>
        <p:nvSpPr>
          <p:cNvPr id="11" name="Text 9"/>
          <p:cNvSpPr/>
          <p:nvPr/>
        </p:nvSpPr>
        <p:spPr>
          <a:xfrm>
            <a:off x="539496" y="1600200"/>
            <a:ext cx="1664208" cy="182880"/>
          </a:xfrm>
          <a:prstGeom prst="rect">
            <a:avLst/>
          </a:prstGeom>
          <a:noFill/>
          <a:ln/>
        </p:spPr>
        <p:txBody>
          <a:bodyPr wrap="square" lIns="0" tIns="0" rIns="0" bIns="0" rtlCol="0" anchor="ctr">
            <a:normAutofit lnSpcReduction="10000"/>
          </a:bodyPr>
          <a:lstStyle/>
          <a:p>
            <a:pPr marL="0" indent="0">
              <a:buNone/>
            </a:pPr>
            <a:r>
              <a:rPr lang="en-US" sz="1275" dirty="0">
                <a:solidFill>
                  <a:srgbClr val="2E7AB6"/>
                </a:solidFill>
                <a:latin typeface="Calibri" pitchFamily="34" charset="0"/>
                <a:ea typeface="Calibri" pitchFamily="34" charset="-122"/>
                <a:cs typeface="Calibri" pitchFamily="34" charset="-120"/>
              </a:rPr>
              <a:t>₹575 Cr  ·  +26.6% YoY</a:t>
            </a:r>
            <a:endParaRPr lang="en-US" sz="1275" dirty="0"/>
          </a:p>
        </p:txBody>
      </p:sp>
      <p:sp>
        <p:nvSpPr>
          <p:cNvPr id="12" name="Shape 10"/>
          <p:cNvSpPr/>
          <p:nvPr/>
        </p:nvSpPr>
        <p:spPr>
          <a:xfrm>
            <a:off x="2304288" y="868680"/>
            <a:ext cx="1828800" cy="105156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3" name="Shape 11"/>
          <p:cNvSpPr/>
          <p:nvPr/>
        </p:nvSpPr>
        <p:spPr>
          <a:xfrm>
            <a:off x="2304288" y="868680"/>
            <a:ext cx="54864" cy="1051560"/>
          </a:xfrm>
          <a:prstGeom prst="rect">
            <a:avLst/>
          </a:prstGeom>
          <a:solidFill>
            <a:srgbClr val="2E7AB6"/>
          </a:solidFill>
          <a:ln w="12700">
            <a:solidFill>
              <a:srgbClr val="2E7AB6"/>
            </a:solidFill>
            <a:prstDash val="solid"/>
          </a:ln>
        </p:spPr>
        <p:txBody>
          <a:bodyPr>
            <a:normAutofit/>
          </a:bodyPr>
          <a:lstStyle/>
          <a:p>
            <a:endParaRPr lang="en-US"/>
          </a:p>
        </p:txBody>
      </p:sp>
      <p:sp>
        <p:nvSpPr>
          <p:cNvPr id="14" name="Text 12"/>
          <p:cNvSpPr/>
          <p:nvPr/>
        </p:nvSpPr>
        <p:spPr>
          <a:xfrm>
            <a:off x="2432304" y="960120"/>
            <a:ext cx="16642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IP Revenue</a:t>
            </a:r>
            <a:endParaRPr lang="en-US" sz="1350"/>
          </a:p>
        </p:txBody>
      </p:sp>
      <p:sp>
        <p:nvSpPr>
          <p:cNvPr id="15" name="Text 13"/>
          <p:cNvSpPr/>
          <p:nvPr/>
        </p:nvSpPr>
        <p:spPr>
          <a:xfrm>
            <a:off x="2432304" y="1161288"/>
            <a:ext cx="16642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₹39,854L</a:t>
            </a:r>
            <a:endParaRPr lang="en-US" sz="2200" dirty="0"/>
          </a:p>
        </p:txBody>
      </p:sp>
      <p:sp>
        <p:nvSpPr>
          <p:cNvPr id="16" name="Text 14"/>
          <p:cNvSpPr/>
          <p:nvPr/>
        </p:nvSpPr>
        <p:spPr>
          <a:xfrm>
            <a:off x="2432304" y="1600200"/>
            <a:ext cx="1664208" cy="182880"/>
          </a:xfrm>
          <a:prstGeom prst="rect">
            <a:avLst/>
          </a:prstGeom>
          <a:noFill/>
          <a:ln/>
        </p:spPr>
        <p:txBody>
          <a:bodyPr wrap="square" lIns="0" tIns="0" rIns="0" bIns="0" rtlCol="0" anchor="ctr">
            <a:normAutofit lnSpcReduction="10000"/>
          </a:bodyPr>
          <a:lstStyle/>
          <a:p>
            <a:pPr marL="0" indent="0">
              <a:buNone/>
            </a:pPr>
            <a:r>
              <a:rPr lang="en-US" sz="1275">
                <a:solidFill>
                  <a:srgbClr val="2E7AB6"/>
                </a:solidFill>
                <a:latin typeface="Calibri" pitchFamily="34" charset="0"/>
                <a:ea typeface="Calibri" pitchFamily="34" charset="-122"/>
                <a:cs typeface="Calibri" pitchFamily="34" charset="-120"/>
              </a:rPr>
              <a:t>69.5% of total  ·  +26.1%</a:t>
            </a:r>
            <a:endParaRPr lang="en-US" sz="1275"/>
          </a:p>
        </p:txBody>
      </p:sp>
      <p:sp>
        <p:nvSpPr>
          <p:cNvPr id="17" name="Shape 15"/>
          <p:cNvSpPr/>
          <p:nvPr/>
        </p:nvSpPr>
        <p:spPr>
          <a:xfrm>
            <a:off x="4197096" y="868680"/>
            <a:ext cx="1828800" cy="105156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8" name="Shape 16"/>
          <p:cNvSpPr/>
          <p:nvPr/>
        </p:nvSpPr>
        <p:spPr>
          <a:xfrm>
            <a:off x="4197096" y="868680"/>
            <a:ext cx="54864" cy="1051560"/>
          </a:xfrm>
          <a:prstGeom prst="rect">
            <a:avLst/>
          </a:prstGeom>
          <a:solidFill>
            <a:srgbClr val="2E7AB6"/>
          </a:solidFill>
          <a:ln w="12700">
            <a:solidFill>
              <a:srgbClr val="2E7AB6"/>
            </a:solidFill>
            <a:prstDash val="solid"/>
          </a:ln>
        </p:spPr>
        <p:txBody>
          <a:bodyPr>
            <a:normAutofit/>
          </a:bodyPr>
          <a:lstStyle/>
          <a:p>
            <a:endParaRPr lang="en-US"/>
          </a:p>
        </p:txBody>
      </p:sp>
      <p:sp>
        <p:nvSpPr>
          <p:cNvPr id="19" name="Text 17"/>
          <p:cNvSpPr/>
          <p:nvPr/>
        </p:nvSpPr>
        <p:spPr>
          <a:xfrm>
            <a:off x="4325112" y="960120"/>
            <a:ext cx="16642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OP Revenue</a:t>
            </a:r>
            <a:endParaRPr lang="en-US" sz="1350"/>
          </a:p>
        </p:txBody>
      </p:sp>
      <p:sp>
        <p:nvSpPr>
          <p:cNvPr id="20" name="Text 18"/>
          <p:cNvSpPr/>
          <p:nvPr/>
        </p:nvSpPr>
        <p:spPr>
          <a:xfrm>
            <a:off x="4325112" y="1161288"/>
            <a:ext cx="16642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₹14,520L</a:t>
            </a:r>
            <a:endParaRPr lang="en-US" sz="2200" dirty="0"/>
          </a:p>
        </p:txBody>
      </p:sp>
      <p:sp>
        <p:nvSpPr>
          <p:cNvPr id="21" name="Text 19"/>
          <p:cNvSpPr/>
          <p:nvPr/>
        </p:nvSpPr>
        <p:spPr>
          <a:xfrm>
            <a:off x="4325112" y="1600200"/>
            <a:ext cx="1664208" cy="182880"/>
          </a:xfrm>
          <a:prstGeom prst="rect">
            <a:avLst/>
          </a:prstGeom>
          <a:noFill/>
          <a:ln/>
        </p:spPr>
        <p:txBody>
          <a:bodyPr wrap="square" lIns="0" tIns="0" rIns="0" bIns="0" rtlCol="0" anchor="ctr">
            <a:normAutofit lnSpcReduction="10000"/>
          </a:bodyPr>
          <a:lstStyle/>
          <a:p>
            <a:pPr marL="0" indent="0">
              <a:buNone/>
            </a:pPr>
            <a:r>
              <a:rPr lang="en-US" sz="1275">
                <a:solidFill>
                  <a:srgbClr val="2E7AB6"/>
                </a:solidFill>
                <a:latin typeface="Calibri" pitchFamily="34" charset="0"/>
                <a:ea typeface="Calibri" pitchFamily="34" charset="-122"/>
                <a:cs typeface="Calibri" pitchFamily="34" charset="-120"/>
              </a:rPr>
              <a:t>25.3% of total  ·  +30.7%</a:t>
            </a:r>
            <a:endParaRPr lang="en-US" sz="1275"/>
          </a:p>
        </p:txBody>
      </p:sp>
      <p:sp>
        <p:nvSpPr>
          <p:cNvPr id="22" name="Shape 20"/>
          <p:cNvSpPr/>
          <p:nvPr/>
        </p:nvSpPr>
        <p:spPr>
          <a:xfrm>
            <a:off x="6089904" y="868680"/>
            <a:ext cx="1828800" cy="105156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23" name="Shape 21"/>
          <p:cNvSpPr/>
          <p:nvPr/>
        </p:nvSpPr>
        <p:spPr>
          <a:xfrm>
            <a:off x="6089904" y="868680"/>
            <a:ext cx="54864" cy="1051560"/>
          </a:xfrm>
          <a:prstGeom prst="rect">
            <a:avLst/>
          </a:prstGeom>
          <a:solidFill>
            <a:srgbClr val="BE1558"/>
          </a:solidFill>
          <a:ln w="12700">
            <a:solidFill>
              <a:srgbClr val="BE1558"/>
            </a:solidFill>
            <a:prstDash val="solid"/>
          </a:ln>
        </p:spPr>
        <p:txBody>
          <a:bodyPr>
            <a:normAutofit/>
          </a:bodyPr>
          <a:lstStyle/>
          <a:p>
            <a:endParaRPr lang="en-US"/>
          </a:p>
        </p:txBody>
      </p:sp>
      <p:sp>
        <p:nvSpPr>
          <p:cNvPr id="24" name="Text 22"/>
          <p:cNvSpPr/>
          <p:nvPr/>
        </p:nvSpPr>
        <p:spPr>
          <a:xfrm>
            <a:off x="6217920" y="960120"/>
            <a:ext cx="16642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Contribution</a:t>
            </a:r>
            <a:endParaRPr lang="en-US" sz="1350"/>
          </a:p>
        </p:txBody>
      </p:sp>
      <p:sp>
        <p:nvSpPr>
          <p:cNvPr id="25" name="Text 23"/>
          <p:cNvSpPr/>
          <p:nvPr/>
        </p:nvSpPr>
        <p:spPr>
          <a:xfrm>
            <a:off x="6217920" y="1161288"/>
            <a:ext cx="16642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₹32,780L</a:t>
            </a:r>
            <a:endParaRPr lang="en-US" sz="2200" dirty="0"/>
          </a:p>
        </p:txBody>
      </p:sp>
      <p:sp>
        <p:nvSpPr>
          <p:cNvPr id="26" name="Text 24"/>
          <p:cNvSpPr/>
          <p:nvPr/>
        </p:nvSpPr>
        <p:spPr>
          <a:xfrm>
            <a:off x="6217920" y="1600200"/>
            <a:ext cx="1664208" cy="182880"/>
          </a:xfrm>
          <a:prstGeom prst="rect">
            <a:avLst/>
          </a:prstGeom>
          <a:noFill/>
          <a:ln/>
        </p:spPr>
        <p:txBody>
          <a:bodyPr wrap="square" lIns="0" tIns="0" rIns="0" bIns="0" rtlCol="0" anchor="ctr">
            <a:normAutofit lnSpcReduction="10000"/>
          </a:bodyPr>
          <a:lstStyle/>
          <a:p>
            <a:pPr marL="0" indent="0">
              <a:buNone/>
            </a:pPr>
            <a:r>
              <a:rPr lang="en-US" sz="1275">
                <a:solidFill>
                  <a:srgbClr val="BE1558"/>
                </a:solidFill>
                <a:latin typeface="Calibri" pitchFamily="34" charset="0"/>
                <a:ea typeface="Calibri" pitchFamily="34" charset="-122"/>
                <a:cs typeface="Calibri" pitchFamily="34" charset="-120"/>
              </a:rPr>
              <a:t>57.2% margin  ·  +36.9%</a:t>
            </a:r>
            <a:endParaRPr lang="en-US" sz="1275"/>
          </a:p>
        </p:txBody>
      </p:sp>
      <p:sp>
        <p:nvSpPr>
          <p:cNvPr id="27" name="Shape 25"/>
          <p:cNvSpPr/>
          <p:nvPr/>
        </p:nvSpPr>
        <p:spPr>
          <a:xfrm>
            <a:off x="7982712" y="868680"/>
            <a:ext cx="1828800" cy="105156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28" name="Shape 26"/>
          <p:cNvSpPr/>
          <p:nvPr/>
        </p:nvSpPr>
        <p:spPr>
          <a:xfrm>
            <a:off x="7982712" y="868680"/>
            <a:ext cx="54864" cy="1051560"/>
          </a:xfrm>
          <a:prstGeom prst="rect">
            <a:avLst/>
          </a:prstGeom>
          <a:solidFill>
            <a:srgbClr val="1A8C5B"/>
          </a:solidFill>
          <a:ln w="12700">
            <a:solidFill>
              <a:srgbClr val="1A8C5B"/>
            </a:solidFill>
            <a:prstDash val="solid"/>
          </a:ln>
        </p:spPr>
        <p:txBody>
          <a:bodyPr>
            <a:normAutofit/>
          </a:bodyPr>
          <a:lstStyle/>
          <a:p>
            <a:endParaRPr lang="en-US"/>
          </a:p>
        </p:txBody>
      </p:sp>
      <p:sp>
        <p:nvSpPr>
          <p:cNvPr id="29" name="Text 27"/>
          <p:cNvSpPr/>
          <p:nvPr/>
        </p:nvSpPr>
        <p:spPr>
          <a:xfrm>
            <a:off x="8110728" y="960120"/>
            <a:ext cx="16642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EBITDA</a:t>
            </a:r>
            <a:endParaRPr lang="en-US" sz="1350"/>
          </a:p>
        </p:txBody>
      </p:sp>
      <p:sp>
        <p:nvSpPr>
          <p:cNvPr id="30" name="Text 28"/>
          <p:cNvSpPr/>
          <p:nvPr/>
        </p:nvSpPr>
        <p:spPr>
          <a:xfrm>
            <a:off x="8110728" y="1161288"/>
            <a:ext cx="16642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₹14,899L</a:t>
            </a:r>
            <a:endParaRPr lang="en-US" sz="2200" dirty="0"/>
          </a:p>
        </p:txBody>
      </p:sp>
      <p:sp>
        <p:nvSpPr>
          <p:cNvPr id="31" name="Text 29"/>
          <p:cNvSpPr/>
          <p:nvPr/>
        </p:nvSpPr>
        <p:spPr>
          <a:xfrm>
            <a:off x="8110728" y="1600200"/>
            <a:ext cx="1664208" cy="182880"/>
          </a:xfrm>
          <a:prstGeom prst="rect">
            <a:avLst/>
          </a:prstGeom>
          <a:noFill/>
          <a:ln/>
        </p:spPr>
        <p:txBody>
          <a:bodyPr wrap="square" lIns="0" tIns="0" rIns="0" bIns="0" rtlCol="0" anchor="ctr">
            <a:normAutofit lnSpcReduction="10000"/>
          </a:bodyPr>
          <a:lstStyle/>
          <a:p>
            <a:pPr marL="0" indent="0">
              <a:buNone/>
            </a:pPr>
            <a:r>
              <a:rPr lang="en-US" sz="1275">
                <a:solidFill>
                  <a:srgbClr val="1A8C5B"/>
                </a:solidFill>
                <a:latin typeface="Calibri" pitchFamily="34" charset="0"/>
                <a:ea typeface="Calibri" pitchFamily="34" charset="-122"/>
                <a:cs typeface="Calibri" pitchFamily="34" charset="-120"/>
              </a:rPr>
              <a:t>26.1% margin  ·  +51.4%</a:t>
            </a:r>
            <a:endParaRPr lang="en-US" sz="1275"/>
          </a:p>
        </p:txBody>
      </p:sp>
      <p:sp>
        <p:nvSpPr>
          <p:cNvPr id="32" name="Shape 30"/>
          <p:cNvSpPr/>
          <p:nvPr/>
        </p:nvSpPr>
        <p:spPr>
          <a:xfrm>
            <a:off x="9875520" y="868680"/>
            <a:ext cx="1828800" cy="105156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33" name="Shape 31"/>
          <p:cNvSpPr/>
          <p:nvPr/>
        </p:nvSpPr>
        <p:spPr>
          <a:xfrm>
            <a:off x="9875520" y="868680"/>
            <a:ext cx="54864" cy="1051560"/>
          </a:xfrm>
          <a:prstGeom prst="rect">
            <a:avLst/>
          </a:prstGeom>
          <a:solidFill>
            <a:srgbClr val="1A8C5B"/>
          </a:solidFill>
          <a:ln w="12700">
            <a:solidFill>
              <a:srgbClr val="1A8C5B"/>
            </a:solidFill>
            <a:prstDash val="solid"/>
          </a:ln>
        </p:spPr>
        <p:txBody>
          <a:bodyPr>
            <a:normAutofit/>
          </a:bodyPr>
          <a:lstStyle/>
          <a:p>
            <a:endParaRPr lang="en-US"/>
          </a:p>
        </p:txBody>
      </p:sp>
      <p:sp>
        <p:nvSpPr>
          <p:cNvPr id="34" name="Text 32"/>
          <p:cNvSpPr/>
          <p:nvPr/>
        </p:nvSpPr>
        <p:spPr>
          <a:xfrm>
            <a:off x="10003536" y="960120"/>
            <a:ext cx="16642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PAT</a:t>
            </a:r>
            <a:endParaRPr lang="en-US" sz="1350"/>
          </a:p>
        </p:txBody>
      </p:sp>
      <p:sp>
        <p:nvSpPr>
          <p:cNvPr id="35" name="Text 33"/>
          <p:cNvSpPr/>
          <p:nvPr/>
        </p:nvSpPr>
        <p:spPr>
          <a:xfrm>
            <a:off x="10003536" y="1161288"/>
            <a:ext cx="16642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₹8,433L</a:t>
            </a:r>
            <a:endParaRPr lang="en-US" sz="2200" dirty="0"/>
          </a:p>
        </p:txBody>
      </p:sp>
      <p:sp>
        <p:nvSpPr>
          <p:cNvPr id="36" name="Text 34"/>
          <p:cNvSpPr/>
          <p:nvPr/>
        </p:nvSpPr>
        <p:spPr>
          <a:xfrm>
            <a:off x="10003536" y="1600200"/>
            <a:ext cx="1664208" cy="182880"/>
          </a:xfrm>
          <a:prstGeom prst="rect">
            <a:avLst/>
          </a:prstGeom>
          <a:noFill/>
          <a:ln/>
        </p:spPr>
        <p:txBody>
          <a:bodyPr wrap="square" lIns="0" tIns="0" rIns="0" bIns="0" rtlCol="0" anchor="ctr">
            <a:normAutofit lnSpcReduction="10000"/>
          </a:bodyPr>
          <a:lstStyle/>
          <a:p>
            <a:pPr marL="0" indent="0">
              <a:buNone/>
            </a:pPr>
            <a:r>
              <a:rPr lang="en-US" sz="1275">
                <a:solidFill>
                  <a:srgbClr val="1A8C5B"/>
                </a:solidFill>
                <a:latin typeface="Calibri" pitchFamily="34" charset="0"/>
                <a:ea typeface="Calibri" pitchFamily="34" charset="-122"/>
                <a:cs typeface="Calibri" pitchFamily="34" charset="-120"/>
              </a:rPr>
              <a:t>14.7% margin  ·  +56.1%</a:t>
            </a:r>
            <a:endParaRPr lang="en-US" sz="1275"/>
          </a:p>
        </p:txBody>
      </p:sp>
      <p:graphicFrame>
        <p:nvGraphicFramePr>
          <p:cNvPr id="37" name="Table 0"/>
          <p:cNvGraphicFramePr>
            <a:graphicFrameLocks noGrp="1"/>
          </p:cNvGraphicFramePr>
          <p:nvPr>
            <p:extLst>
              <p:ext uri="{D42A27DB-BD31-4B8C-83A1-F6EECF244321}">
                <p14:modId xmlns:p14="http://schemas.microsoft.com/office/powerpoint/2010/main" val="1460565559"/>
              </p:ext>
            </p:extLst>
          </p:nvPr>
        </p:nvGraphicFramePr>
        <p:xfrm>
          <a:off x="411480" y="2057400"/>
          <a:ext cx="11338560" cy="4484370"/>
        </p:xfrm>
        <a:graphic>
          <a:graphicData uri="http://schemas.openxmlformats.org/drawingml/2006/table">
            <a:tbl>
              <a:tblPr/>
              <a:tblGrid>
                <a:gridCol w="37490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226215">
                <a:tc>
                  <a:txBody>
                    <a:bodyPr/>
                    <a:lstStyle/>
                    <a:p>
                      <a:pPr marL="0" indent="0" algn="l">
                        <a:buNone/>
                      </a:pPr>
                      <a:r>
                        <a:rPr lang="en-US" sz="1075" b="1">
                          <a:solidFill>
                            <a:srgbClr val="FFFFFF"/>
                          </a:solidFill>
                          <a:latin typeface="Calibri" pitchFamily="34" charset="0"/>
                          <a:ea typeface="Calibri" pitchFamily="34" charset="-122"/>
                          <a:cs typeface="Calibri" pitchFamily="34" charset="-120"/>
                        </a:rPr>
                        <a:t>P&amp;L LINE</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r">
                        <a:buNone/>
                      </a:pPr>
                      <a:r>
                        <a:rPr lang="en-US" sz="1075" b="1">
                          <a:solidFill>
                            <a:srgbClr val="FFFFFF"/>
                          </a:solidFill>
                          <a:latin typeface="Calibri" pitchFamily="34" charset="0"/>
                          <a:ea typeface="Calibri" pitchFamily="34" charset="-122"/>
                          <a:cs typeface="Calibri" pitchFamily="34" charset="-120"/>
                        </a:rPr>
                        <a:t>FY26 ACTUAL</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r">
                        <a:buNone/>
                      </a:pPr>
                      <a:r>
                        <a:rPr lang="en-US" sz="1075" b="1">
                          <a:solidFill>
                            <a:srgbClr val="FFFFFF"/>
                          </a:solidFill>
                          <a:latin typeface="Calibri" pitchFamily="34" charset="0"/>
                          <a:ea typeface="Calibri" pitchFamily="34" charset="-122"/>
                          <a:cs typeface="Calibri" pitchFamily="34" charset="-120"/>
                        </a:rPr>
                        <a:t>FY27 PLAN</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r">
                        <a:buNone/>
                      </a:pPr>
                      <a:r>
                        <a:rPr lang="en-US" sz="1075" b="1">
                          <a:solidFill>
                            <a:srgbClr val="FFFFFF"/>
                          </a:solidFill>
                          <a:latin typeface="Calibri" pitchFamily="34" charset="0"/>
                          <a:ea typeface="Calibri" pitchFamily="34" charset="-122"/>
                          <a:cs typeface="Calibri" pitchFamily="34" charset="-120"/>
                        </a:rPr>
                        <a:t>Δ ₹L</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r">
                        <a:buNone/>
                      </a:pPr>
                      <a:r>
                        <a:rPr lang="en-US" sz="1075" b="1">
                          <a:solidFill>
                            <a:srgbClr val="FFFFFF"/>
                          </a:solidFill>
                          <a:latin typeface="Calibri" pitchFamily="34" charset="0"/>
                          <a:ea typeface="Calibri" pitchFamily="34" charset="-122"/>
                          <a:cs typeface="Calibri" pitchFamily="34" charset="-120"/>
                        </a:rPr>
                        <a:t>Δ %</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extLst>
                  <a:ext uri="{0D108BD9-81ED-4DB2-BD59-A6C34878D82A}">
                    <a16:rowId xmlns:a16="http://schemas.microsoft.com/office/drawing/2014/main" val="10000"/>
                  </a:ext>
                </a:extLst>
              </a:tr>
              <a:tr h="226215">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IP Revenue</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31,606</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C2B3A"/>
                          </a:solidFill>
                          <a:latin typeface="Calibri" pitchFamily="34" charset="0"/>
                          <a:ea typeface="Calibri" pitchFamily="34" charset="-122"/>
                          <a:cs typeface="Calibri" pitchFamily="34" charset="-120"/>
                        </a:rPr>
                        <a:t>39,854</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+8,248</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+26.1%</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6215">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OP Revenue</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11,105</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dirty="0">
                          <a:solidFill>
                            <a:srgbClr val="1C2B3A"/>
                          </a:solidFill>
                          <a:latin typeface="Calibri" pitchFamily="34" charset="0"/>
                          <a:ea typeface="Calibri" pitchFamily="34" charset="-122"/>
                          <a:cs typeface="Calibri" pitchFamily="34" charset="-120"/>
                        </a:rPr>
                        <a:t>14,520</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+3,415</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+30.7%</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2"/>
                  </a:ext>
                </a:extLst>
              </a:tr>
              <a:tr h="226215">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F&amp;B &amp; Other Income</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2,568</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C2B3A"/>
                          </a:solidFill>
                          <a:latin typeface="Calibri" pitchFamily="34" charset="0"/>
                          <a:ea typeface="Calibri" pitchFamily="34" charset="-122"/>
                          <a:cs typeface="Calibri" pitchFamily="34" charset="-120"/>
                        </a:rPr>
                        <a:t>3,148</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+580</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+22.6%</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6215">
                <a:tc>
                  <a:txBody>
                    <a:bodyPr/>
                    <a:lstStyle/>
                    <a:p>
                      <a:pPr marL="0" indent="0" algn="l">
                        <a:buNone/>
                      </a:pPr>
                      <a:r>
                        <a:rPr lang="en-US" sz="1250" b="1">
                          <a:solidFill>
                            <a:srgbClr val="1C2B3A"/>
                          </a:solidFill>
                          <a:latin typeface="Calibri" pitchFamily="34" charset="0"/>
                          <a:ea typeface="Calibri" pitchFamily="34" charset="-122"/>
                          <a:cs typeface="Calibri" pitchFamily="34" charset="-120"/>
                        </a:rPr>
                        <a:t>Total Revenue</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b="1">
                          <a:solidFill>
                            <a:srgbClr val="1C2B3A"/>
                          </a:solidFill>
                          <a:latin typeface="Calibri" pitchFamily="34" charset="0"/>
                          <a:ea typeface="Calibri" pitchFamily="34" charset="-122"/>
                          <a:cs typeface="Calibri" pitchFamily="34" charset="-120"/>
                        </a:rPr>
                        <a:t>45,278</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b="1" dirty="0">
                          <a:solidFill>
                            <a:srgbClr val="1C2B3A"/>
                          </a:solidFill>
                          <a:latin typeface="Calibri" pitchFamily="34" charset="0"/>
                          <a:ea typeface="Calibri" pitchFamily="34" charset="-122"/>
                          <a:cs typeface="Calibri" pitchFamily="34" charset="-120"/>
                        </a:rPr>
                        <a:t>57,503</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b="1" dirty="0">
                          <a:solidFill>
                            <a:srgbClr val="1C2B3A"/>
                          </a:solidFill>
                          <a:latin typeface="Calibri" pitchFamily="34" charset="0"/>
                          <a:ea typeface="Calibri" pitchFamily="34" charset="-122"/>
                          <a:cs typeface="Calibri" pitchFamily="34" charset="-120"/>
                        </a:rPr>
                        <a:t>+12,027</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b="1" dirty="0">
                          <a:solidFill>
                            <a:srgbClr val="1C2B3A"/>
                          </a:solidFill>
                          <a:latin typeface="Calibri" pitchFamily="34" charset="0"/>
                          <a:ea typeface="Calibri" pitchFamily="34" charset="-122"/>
                          <a:cs typeface="Calibri" pitchFamily="34" charset="-120"/>
                        </a:rPr>
                        <a:t>+26%</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4"/>
                  </a:ext>
                </a:extLst>
              </a:tr>
              <a:tr h="226215">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 Drug &amp; Consumables</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13,328</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C2B3A"/>
                          </a:solidFill>
                          <a:latin typeface="Calibri" pitchFamily="34" charset="0"/>
                          <a:ea typeface="Calibri" pitchFamily="34" charset="-122"/>
                          <a:cs typeface="Calibri" pitchFamily="34" charset="-120"/>
                        </a:rPr>
                        <a:t>15,525</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+2,197</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C2B3A"/>
                          </a:solidFill>
                          <a:latin typeface="Calibri" pitchFamily="34" charset="0"/>
                          <a:ea typeface="Calibri" pitchFamily="34" charset="-122"/>
                          <a:cs typeface="Calibri" pitchFamily="34" charset="-120"/>
                        </a:rPr>
                        <a:t>+16.5%</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6215">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 Doctor Cost</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8,009</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9,000</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+991</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dirty="0">
                          <a:solidFill>
                            <a:srgbClr val="1C2B3A"/>
                          </a:solidFill>
                          <a:latin typeface="Calibri" pitchFamily="34" charset="0"/>
                          <a:ea typeface="Calibri" pitchFamily="34" charset="-122"/>
                          <a:cs typeface="Calibri" pitchFamily="34" charset="-120"/>
                        </a:rPr>
                        <a:t>+12.4%</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6"/>
                  </a:ext>
                </a:extLst>
              </a:tr>
              <a:tr h="226215">
                <a:tc>
                  <a:txBody>
                    <a:bodyPr/>
                    <a:lstStyle/>
                    <a:p>
                      <a:pPr marL="0" indent="0" algn="l">
                        <a:buNone/>
                      </a:pPr>
                      <a:r>
                        <a:rPr lang="en-US" sz="1250" b="1">
                          <a:solidFill>
                            <a:srgbClr val="1C2B3A"/>
                          </a:solidFill>
                          <a:latin typeface="Calibri" pitchFamily="34" charset="0"/>
                          <a:ea typeface="Calibri" pitchFamily="34" charset="-122"/>
                          <a:cs typeface="Calibri" pitchFamily="34" charset="-120"/>
                        </a:rPr>
                        <a:t>Gross Contribution</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a:solidFill>
                            <a:srgbClr val="1C2B3A"/>
                          </a:solidFill>
                          <a:latin typeface="Calibri" pitchFamily="34" charset="0"/>
                          <a:ea typeface="Calibri" pitchFamily="34" charset="-122"/>
                          <a:cs typeface="Calibri" pitchFamily="34" charset="-120"/>
                        </a:rPr>
                        <a:t>23,941</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a:solidFill>
                            <a:srgbClr val="1C2B3A"/>
                          </a:solidFill>
                          <a:latin typeface="Calibri" pitchFamily="34" charset="0"/>
                          <a:ea typeface="Calibri" pitchFamily="34" charset="-122"/>
                          <a:cs typeface="Calibri" pitchFamily="34" charset="-120"/>
                        </a:rPr>
                        <a:t>32,780</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a:solidFill>
                            <a:srgbClr val="1C2B3A"/>
                          </a:solidFill>
                          <a:latin typeface="Calibri" pitchFamily="34" charset="0"/>
                          <a:ea typeface="Calibri" pitchFamily="34" charset="-122"/>
                          <a:cs typeface="Calibri" pitchFamily="34" charset="-120"/>
                        </a:rPr>
                        <a:t>+8,839</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1C2B3A"/>
                          </a:solidFill>
                          <a:latin typeface="Calibri" pitchFamily="34" charset="0"/>
                          <a:ea typeface="Calibri" pitchFamily="34" charset="-122"/>
                          <a:cs typeface="Calibri" pitchFamily="34" charset="-120"/>
                        </a:rPr>
                        <a:t>+36.9%</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26215">
                <a:tc>
                  <a:txBody>
                    <a:bodyPr/>
                    <a:lstStyle/>
                    <a:p>
                      <a:pPr marL="0" indent="0" algn="l">
                        <a:buNone/>
                      </a:pPr>
                      <a:r>
                        <a:rPr lang="en-US" sz="1200" i="1">
                          <a:solidFill>
                            <a:srgbClr val="1C2B3A"/>
                          </a:solidFill>
                          <a:latin typeface="Calibri" pitchFamily="34" charset="0"/>
                          <a:ea typeface="Calibri" pitchFamily="34" charset="-122"/>
                          <a:cs typeface="Calibri" pitchFamily="34" charset="-120"/>
                        </a:rPr>
                        <a:t>  Contribution Margin</a:t>
                      </a:r>
                      <a:endParaRPr lang="en-US" sz="12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200" i="1">
                          <a:solidFill>
                            <a:srgbClr val="1C2B3A"/>
                          </a:solidFill>
                          <a:latin typeface="Calibri" pitchFamily="34" charset="0"/>
                          <a:ea typeface="Calibri" pitchFamily="34" charset="-122"/>
                          <a:cs typeface="Calibri" pitchFamily="34" charset="-120"/>
                        </a:rPr>
                        <a:t>52.9%</a:t>
                      </a:r>
                      <a:endParaRPr lang="en-US" sz="12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200" i="1">
                          <a:solidFill>
                            <a:srgbClr val="1A8C5B"/>
                          </a:solidFill>
                          <a:latin typeface="Calibri" pitchFamily="34" charset="0"/>
                          <a:ea typeface="Calibri" pitchFamily="34" charset="-122"/>
                          <a:cs typeface="Calibri" pitchFamily="34" charset="-120"/>
                        </a:rPr>
                        <a:t>57.2%</a:t>
                      </a:r>
                      <a:endParaRPr lang="en-US" sz="12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200" i="1">
                          <a:solidFill>
                            <a:srgbClr val="1A8C5B"/>
                          </a:solidFill>
                          <a:latin typeface="Calibri" pitchFamily="34" charset="0"/>
                          <a:ea typeface="Calibri" pitchFamily="34" charset="-122"/>
                          <a:cs typeface="Calibri" pitchFamily="34" charset="-120"/>
                        </a:rPr>
                        <a:t>+430 bps</a:t>
                      </a:r>
                      <a:endParaRPr lang="en-US" sz="12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extLst>
                  <a:ext uri="{0D108BD9-81ED-4DB2-BD59-A6C34878D82A}">
                    <a16:rowId xmlns:a16="http://schemas.microsoft.com/office/drawing/2014/main" val="10008"/>
                  </a:ext>
                </a:extLst>
              </a:tr>
              <a:tr h="226215">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Total Fixed Cost</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14,058</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18,211</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+4,153</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dirty="0">
                          <a:solidFill>
                            <a:srgbClr val="1C2B3A"/>
                          </a:solidFill>
                          <a:latin typeface="Calibri" pitchFamily="34" charset="0"/>
                          <a:ea typeface="Calibri" pitchFamily="34" charset="-122"/>
                          <a:cs typeface="Calibri" pitchFamily="34" charset="-120"/>
                        </a:rPr>
                        <a:t>+29.5%</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26215">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  — Employee Cost</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7,718</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9,400</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+1,682</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dirty="0">
                          <a:solidFill>
                            <a:srgbClr val="1C2B3A"/>
                          </a:solidFill>
                          <a:latin typeface="Calibri" pitchFamily="34" charset="0"/>
                          <a:ea typeface="Calibri" pitchFamily="34" charset="-122"/>
                          <a:cs typeface="Calibri" pitchFamily="34" charset="-120"/>
                        </a:rPr>
                        <a:t>+21.8%</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10"/>
                  </a:ext>
                </a:extLst>
              </a:tr>
              <a:tr h="226215">
                <a:tc>
                  <a:txBody>
                    <a:bodyPr/>
                    <a:lstStyle/>
                    <a:p>
                      <a:pPr marL="0" indent="0" algn="l">
                        <a:buNone/>
                      </a:pPr>
                      <a:r>
                        <a:rPr lang="en-US" sz="1250" b="1">
                          <a:solidFill>
                            <a:srgbClr val="1A8C5B"/>
                          </a:solidFill>
                          <a:latin typeface="Calibri" pitchFamily="34" charset="0"/>
                          <a:ea typeface="Calibri" pitchFamily="34" charset="-122"/>
                          <a:cs typeface="Calibri" pitchFamily="34" charset="-120"/>
                        </a:rPr>
                        <a:t>EBITDA</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a:solidFill>
                            <a:srgbClr val="1C2B3A"/>
                          </a:solidFill>
                          <a:latin typeface="Calibri" pitchFamily="34" charset="0"/>
                          <a:ea typeface="Calibri" pitchFamily="34" charset="-122"/>
                          <a:cs typeface="Calibri" pitchFamily="34" charset="-120"/>
                        </a:rPr>
                        <a:t>9,882</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1A8C5B"/>
                          </a:solidFill>
                          <a:latin typeface="Calibri" pitchFamily="34" charset="0"/>
                          <a:ea typeface="Calibri" pitchFamily="34" charset="-122"/>
                          <a:cs typeface="Calibri" pitchFamily="34" charset="-120"/>
                        </a:rPr>
                        <a:t>14,899</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1A8C5B"/>
                          </a:solidFill>
                          <a:latin typeface="Calibri" pitchFamily="34" charset="0"/>
                          <a:ea typeface="Calibri" pitchFamily="34" charset="-122"/>
                          <a:cs typeface="Calibri" pitchFamily="34" charset="-120"/>
                        </a:rPr>
                        <a:t>+5,084</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1A8C5B"/>
                          </a:solidFill>
                          <a:latin typeface="Calibri" pitchFamily="34" charset="0"/>
                          <a:ea typeface="Calibri" pitchFamily="34" charset="-122"/>
                          <a:cs typeface="Calibri" pitchFamily="34" charset="-120"/>
                        </a:rPr>
                        <a:t>+51.4%</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26215">
                <a:tc>
                  <a:txBody>
                    <a:bodyPr/>
                    <a:lstStyle/>
                    <a:p>
                      <a:pPr marL="0" indent="0" algn="l">
                        <a:buNone/>
                      </a:pPr>
                      <a:r>
                        <a:rPr lang="en-US" sz="1200" i="1" dirty="0">
                          <a:solidFill>
                            <a:srgbClr val="1C2B3A"/>
                          </a:solidFill>
                          <a:latin typeface="Calibri" pitchFamily="34" charset="0"/>
                          <a:ea typeface="Calibri" pitchFamily="34" charset="-122"/>
                          <a:cs typeface="Calibri" pitchFamily="34" charset="-120"/>
                        </a:rPr>
                        <a:t>  EBITDA Margin %</a:t>
                      </a:r>
                      <a:endParaRPr lang="en-US" sz="120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200" i="1" dirty="0">
                          <a:solidFill>
                            <a:srgbClr val="1C2B3A"/>
                          </a:solidFill>
                          <a:latin typeface="Calibri" pitchFamily="34" charset="0"/>
                          <a:ea typeface="Calibri" pitchFamily="34" charset="-122"/>
                          <a:cs typeface="Calibri" pitchFamily="34" charset="-120"/>
                        </a:rPr>
                        <a:t>21.8%</a:t>
                      </a:r>
                      <a:endParaRPr lang="en-US" sz="120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200" i="1" dirty="0">
                          <a:solidFill>
                            <a:srgbClr val="1A8C5B"/>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200" i="1" dirty="0">
                          <a:solidFill>
                            <a:srgbClr val="1A8C5B"/>
                          </a:solidFill>
                          <a:latin typeface="Calibri" pitchFamily="34" charset="0"/>
                          <a:ea typeface="Calibri" pitchFamily="34" charset="-122"/>
                          <a:cs typeface="Calibri" pitchFamily="34" charset="-120"/>
                        </a:rPr>
                        <a:t>+400 bps</a:t>
                      </a:r>
                      <a:endParaRPr lang="en-US" sz="120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extLst>
                  <a:ext uri="{0D108BD9-81ED-4DB2-BD59-A6C34878D82A}">
                    <a16:rowId xmlns:a16="http://schemas.microsoft.com/office/drawing/2014/main" val="10012"/>
                  </a:ext>
                </a:extLst>
              </a:tr>
              <a:tr h="226215">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 Depreciation</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2,500</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3,493</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+993</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C2B3A"/>
                          </a:solidFill>
                          <a:latin typeface="Calibri" pitchFamily="34" charset="0"/>
                          <a:ea typeface="Calibri" pitchFamily="34" charset="-122"/>
                          <a:cs typeface="Calibri" pitchFamily="34" charset="-120"/>
                        </a:rPr>
                        <a:t>—</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26215">
                <a:tc>
                  <a:txBody>
                    <a:bodyPr/>
                    <a:lstStyle/>
                    <a:p>
                      <a:pPr marL="0" indent="0" algn="l">
                        <a:buNone/>
                      </a:pPr>
                      <a:r>
                        <a:rPr lang="en-US" sz="1250" b="1">
                          <a:solidFill>
                            <a:srgbClr val="1C2B3A"/>
                          </a:solidFill>
                          <a:latin typeface="Calibri" pitchFamily="34" charset="0"/>
                          <a:ea typeface="Calibri" pitchFamily="34" charset="-122"/>
                          <a:cs typeface="Calibri" pitchFamily="34" charset="-120"/>
                        </a:rPr>
                        <a:t>PBT</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b="1">
                          <a:solidFill>
                            <a:srgbClr val="1C2B3A"/>
                          </a:solidFill>
                          <a:latin typeface="Calibri" pitchFamily="34" charset="0"/>
                          <a:ea typeface="Calibri" pitchFamily="34" charset="-122"/>
                          <a:cs typeface="Calibri" pitchFamily="34" charset="-120"/>
                        </a:rPr>
                        <a:t>7,289</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b="1">
                          <a:solidFill>
                            <a:srgbClr val="1C2B3A"/>
                          </a:solidFill>
                          <a:latin typeface="Calibri" pitchFamily="34" charset="0"/>
                          <a:ea typeface="Calibri" pitchFamily="34" charset="-122"/>
                          <a:cs typeface="Calibri" pitchFamily="34" charset="-120"/>
                        </a:rPr>
                        <a:t>11,380</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b="1">
                          <a:solidFill>
                            <a:srgbClr val="1C2B3A"/>
                          </a:solidFill>
                          <a:latin typeface="Calibri" pitchFamily="34" charset="0"/>
                          <a:ea typeface="Calibri" pitchFamily="34" charset="-122"/>
                          <a:cs typeface="Calibri" pitchFamily="34" charset="-120"/>
                        </a:rPr>
                        <a:t>+4,091</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b="1">
                          <a:solidFill>
                            <a:srgbClr val="1C2B3A"/>
                          </a:solidFill>
                          <a:latin typeface="Calibri" pitchFamily="34" charset="0"/>
                          <a:ea typeface="Calibri" pitchFamily="34" charset="-122"/>
                          <a:cs typeface="Calibri" pitchFamily="34" charset="-120"/>
                        </a:rPr>
                        <a:t>+56.1%</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14"/>
                  </a:ext>
                </a:extLst>
              </a:tr>
              <a:tr h="226215">
                <a:tc>
                  <a:txBody>
                    <a:bodyPr/>
                    <a:lstStyle/>
                    <a:p>
                      <a:pPr marL="0" indent="0" algn="l">
                        <a:buNone/>
                      </a:pPr>
                      <a:r>
                        <a:rPr lang="en-US" sz="1250" b="1">
                          <a:solidFill>
                            <a:srgbClr val="2E7AB6"/>
                          </a:solidFill>
                          <a:latin typeface="Calibri" pitchFamily="34" charset="0"/>
                          <a:ea typeface="Calibri" pitchFamily="34" charset="-122"/>
                          <a:cs typeface="Calibri" pitchFamily="34" charset="-120"/>
                        </a:rPr>
                        <a:t>PAT</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a:solidFill>
                            <a:srgbClr val="1C2B3A"/>
                          </a:solidFill>
                          <a:latin typeface="Calibri" pitchFamily="34" charset="0"/>
                          <a:ea typeface="Calibri" pitchFamily="34" charset="-122"/>
                          <a:cs typeface="Calibri" pitchFamily="34" charset="-120"/>
                        </a:rPr>
                        <a:t>5,403</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a:solidFill>
                            <a:srgbClr val="2E7AB6"/>
                          </a:solidFill>
                          <a:latin typeface="Calibri" pitchFamily="34" charset="0"/>
                          <a:ea typeface="Calibri" pitchFamily="34" charset="-122"/>
                          <a:cs typeface="Calibri" pitchFamily="34" charset="-120"/>
                        </a:rPr>
                        <a:t>8,433</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a:solidFill>
                            <a:srgbClr val="2E7AB6"/>
                          </a:solidFill>
                          <a:latin typeface="Calibri" pitchFamily="34" charset="0"/>
                          <a:ea typeface="Calibri" pitchFamily="34" charset="-122"/>
                          <a:cs typeface="Calibri" pitchFamily="34" charset="-120"/>
                        </a:rPr>
                        <a:t>+3,030</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2E7AB6"/>
                          </a:solidFill>
                          <a:latin typeface="Calibri" pitchFamily="34" charset="0"/>
                          <a:ea typeface="Calibri" pitchFamily="34" charset="-122"/>
                          <a:cs typeface="Calibri" pitchFamily="34" charset="-120"/>
                        </a:rPr>
                        <a:t>+56.1%</a:t>
                      </a:r>
                      <a:endParaRPr lang="en-US" sz="12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QUARTERLY PERFORMANCE PLAN</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FY27 Phased Build  ·  ₹ Lakhs</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US"/>
          </a:p>
        </p:txBody>
      </p:sp>
      <p:graphicFrame>
        <p:nvGraphicFramePr>
          <p:cNvPr id="7" name="Chart 0"/>
          <p:cNvGraphicFramePr/>
          <p:nvPr/>
        </p:nvGraphicFramePr>
        <p:xfrm>
          <a:off x="411480" y="822960"/>
          <a:ext cx="557784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1"/>
          <p:cNvGraphicFramePr/>
          <p:nvPr/>
        </p:nvGraphicFramePr>
        <p:xfrm>
          <a:off x="6172200" y="822960"/>
          <a:ext cx="5577840" cy="32004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Table 0"/>
          <p:cNvGraphicFramePr>
            <a:graphicFrameLocks noGrp="1"/>
          </p:cNvGraphicFramePr>
          <p:nvPr>
            <p:extLst>
              <p:ext uri="{D42A27DB-BD31-4B8C-83A1-F6EECF244321}">
                <p14:modId xmlns:p14="http://schemas.microsoft.com/office/powerpoint/2010/main" val="525794010"/>
              </p:ext>
            </p:extLst>
          </p:nvPr>
        </p:nvGraphicFramePr>
        <p:xfrm>
          <a:off x="411480" y="4206240"/>
          <a:ext cx="11384280" cy="2651760"/>
        </p:xfrm>
        <a:graphic>
          <a:graphicData uri="http://schemas.openxmlformats.org/drawingml/2006/table">
            <a:tbl>
              <a:tblPr/>
              <a:tblGrid>
                <a:gridCol w="30175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69748">
                <a:tc>
                  <a:txBody>
                    <a:bodyPr/>
                    <a:lstStyle/>
                    <a:p>
                      <a:pPr marL="0" indent="0" algn="l">
                        <a:buNone/>
                      </a:pPr>
                      <a:r>
                        <a:rPr lang="en-US" sz="1350" b="1">
                          <a:solidFill>
                            <a:srgbClr val="FFFFFF"/>
                          </a:solidFill>
                          <a:latin typeface="Calibri" pitchFamily="34" charset="0"/>
                          <a:ea typeface="Calibri" pitchFamily="34" charset="-122"/>
                          <a:cs typeface="Calibri" pitchFamily="34" charset="-120"/>
                        </a:rPr>
                        <a:t>METRIC</a:t>
                      </a:r>
                      <a:endParaRPr lang="en-US" sz="13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r">
                        <a:buNone/>
                      </a:pPr>
                      <a:r>
                        <a:rPr lang="en-US" sz="1350" b="1">
                          <a:solidFill>
                            <a:srgbClr val="FFFFFF"/>
                          </a:solidFill>
                          <a:latin typeface="Calibri" pitchFamily="34" charset="0"/>
                          <a:ea typeface="Calibri" pitchFamily="34" charset="-122"/>
                          <a:cs typeface="Calibri" pitchFamily="34" charset="-120"/>
                        </a:rPr>
                        <a:t>Q1  Apr–Jun</a:t>
                      </a:r>
                      <a:endParaRPr lang="en-US" sz="13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r">
                        <a:buNone/>
                      </a:pPr>
                      <a:r>
                        <a:rPr lang="en-US" sz="1350" b="1">
                          <a:solidFill>
                            <a:srgbClr val="FFFFFF"/>
                          </a:solidFill>
                          <a:latin typeface="Calibri" pitchFamily="34" charset="0"/>
                          <a:ea typeface="Calibri" pitchFamily="34" charset="-122"/>
                          <a:cs typeface="Calibri" pitchFamily="34" charset="-120"/>
                        </a:rPr>
                        <a:t>Q2  Jul–Sep</a:t>
                      </a:r>
                      <a:endParaRPr lang="en-US" sz="13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r">
                        <a:buNone/>
                      </a:pPr>
                      <a:r>
                        <a:rPr lang="en-US" sz="1350" b="1">
                          <a:solidFill>
                            <a:srgbClr val="FFFFFF"/>
                          </a:solidFill>
                          <a:latin typeface="Calibri" pitchFamily="34" charset="0"/>
                          <a:ea typeface="Calibri" pitchFamily="34" charset="-122"/>
                          <a:cs typeface="Calibri" pitchFamily="34" charset="-120"/>
                        </a:rPr>
                        <a:t>Q3  Oct–Dec</a:t>
                      </a:r>
                      <a:endParaRPr lang="en-US" sz="13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r">
                        <a:buNone/>
                      </a:pPr>
                      <a:r>
                        <a:rPr lang="en-US" sz="1350" b="1">
                          <a:solidFill>
                            <a:srgbClr val="FFFFFF"/>
                          </a:solidFill>
                          <a:latin typeface="Calibri" pitchFamily="34" charset="0"/>
                          <a:ea typeface="Calibri" pitchFamily="34" charset="-122"/>
                          <a:cs typeface="Calibri" pitchFamily="34" charset="-120"/>
                        </a:rPr>
                        <a:t>Q4  Jan–Mar</a:t>
                      </a:r>
                      <a:endParaRPr lang="en-US" sz="13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r">
                        <a:buNone/>
                      </a:pPr>
                      <a:r>
                        <a:rPr lang="en-US" sz="1350" b="1">
                          <a:solidFill>
                            <a:srgbClr val="FFFFFF"/>
                          </a:solidFill>
                          <a:latin typeface="Calibri" pitchFamily="34" charset="0"/>
                          <a:ea typeface="Calibri" pitchFamily="34" charset="-122"/>
                          <a:cs typeface="Calibri" pitchFamily="34" charset="-120"/>
                        </a:rPr>
                        <a:t>FULL YEAR</a:t>
                      </a:r>
                      <a:endParaRPr lang="en-US" sz="13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extLst>
                  <a:ext uri="{0D108BD9-81ED-4DB2-BD59-A6C34878D82A}">
                    <a16:rowId xmlns:a16="http://schemas.microsoft.com/office/drawing/2014/main" val="10000"/>
                  </a:ext>
                </a:extLst>
              </a:tr>
              <a:tr h="269748">
                <a:tc>
                  <a:txBody>
                    <a:bodyPr/>
                    <a:lstStyle/>
                    <a:p>
                      <a:pPr marL="0" indent="0" algn="l">
                        <a:buNone/>
                      </a:pPr>
                      <a:r>
                        <a:rPr lang="en-US" sz="1650">
                          <a:solidFill>
                            <a:srgbClr val="1C2B3A"/>
                          </a:solidFill>
                          <a:latin typeface="Calibri" pitchFamily="34" charset="0"/>
                          <a:ea typeface="Calibri" pitchFamily="34" charset="-122"/>
                          <a:cs typeface="Calibri" pitchFamily="34" charset="-120"/>
                        </a:rPr>
                        <a:t>Revenue (₹L)</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12,951</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14,444</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14,748</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15,161</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dirty="0">
                          <a:solidFill>
                            <a:srgbClr val="1C2B3A"/>
                          </a:solidFill>
                          <a:latin typeface="Calibri" pitchFamily="34" charset="0"/>
                          <a:ea typeface="Calibri" pitchFamily="34" charset="-122"/>
                          <a:cs typeface="Calibri" pitchFamily="34" charset="-120"/>
                        </a:rPr>
                        <a:t>57,503</a:t>
                      </a:r>
                      <a:endParaRPr lang="en-US" sz="16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9748">
                <a:tc>
                  <a:txBody>
                    <a:bodyPr/>
                    <a:lstStyle/>
                    <a:p>
                      <a:pPr marL="0" indent="0" algn="l">
                        <a:buNone/>
                      </a:pPr>
                      <a:r>
                        <a:rPr lang="en-US" sz="1650">
                          <a:solidFill>
                            <a:srgbClr val="1C2B3A"/>
                          </a:solidFill>
                          <a:latin typeface="Calibri" pitchFamily="34" charset="0"/>
                          <a:ea typeface="Calibri" pitchFamily="34" charset="-122"/>
                          <a:cs typeface="Calibri" pitchFamily="34" charset="-120"/>
                        </a:rPr>
                        <a:t>Variable Cost (₹L)</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5,703</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6,134</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6,265</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6,401</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650" dirty="0">
                          <a:solidFill>
                            <a:srgbClr val="1C2B3A"/>
                          </a:solidFill>
                          <a:latin typeface="Calibri" pitchFamily="34" charset="0"/>
                          <a:ea typeface="Calibri" pitchFamily="34" charset="-122"/>
                          <a:cs typeface="Calibri" pitchFamily="34" charset="-120"/>
                        </a:rPr>
                        <a:t>24,525</a:t>
                      </a:r>
                      <a:endParaRPr lang="en-US" sz="165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2"/>
                  </a:ext>
                </a:extLst>
              </a:tr>
              <a:tr h="269748">
                <a:tc>
                  <a:txBody>
                    <a:bodyPr/>
                    <a:lstStyle/>
                    <a:p>
                      <a:pPr marL="0" indent="0" algn="l">
                        <a:buNone/>
                      </a:pPr>
                      <a:r>
                        <a:rPr lang="en-US" sz="1650" b="1">
                          <a:solidFill>
                            <a:srgbClr val="1C2B3A"/>
                          </a:solidFill>
                          <a:latin typeface="Calibri" pitchFamily="34" charset="0"/>
                          <a:ea typeface="Calibri" pitchFamily="34" charset="-122"/>
                          <a:cs typeface="Calibri" pitchFamily="34" charset="-120"/>
                        </a:rPr>
                        <a:t>Contribution (₹L)</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b="1">
                          <a:solidFill>
                            <a:srgbClr val="1C2B3A"/>
                          </a:solidFill>
                          <a:latin typeface="Calibri" pitchFamily="34" charset="0"/>
                          <a:ea typeface="Calibri" pitchFamily="34" charset="-122"/>
                          <a:cs typeface="Calibri" pitchFamily="34" charset="-120"/>
                        </a:rPr>
                        <a:t>7,248</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b="1">
                          <a:solidFill>
                            <a:srgbClr val="1C2B3A"/>
                          </a:solidFill>
                          <a:latin typeface="Calibri" pitchFamily="34" charset="0"/>
                          <a:ea typeface="Calibri" pitchFamily="34" charset="-122"/>
                          <a:cs typeface="Calibri" pitchFamily="34" charset="-120"/>
                        </a:rPr>
                        <a:t>8,287</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b="1">
                          <a:solidFill>
                            <a:srgbClr val="1C2B3A"/>
                          </a:solidFill>
                          <a:latin typeface="Calibri" pitchFamily="34" charset="0"/>
                          <a:ea typeface="Calibri" pitchFamily="34" charset="-122"/>
                          <a:cs typeface="Calibri" pitchFamily="34" charset="-120"/>
                        </a:rPr>
                        <a:t>8,483</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b="1">
                          <a:solidFill>
                            <a:srgbClr val="1C2B3A"/>
                          </a:solidFill>
                          <a:latin typeface="Calibri" pitchFamily="34" charset="0"/>
                          <a:ea typeface="Calibri" pitchFamily="34" charset="-122"/>
                          <a:cs typeface="Calibri" pitchFamily="34" charset="-120"/>
                        </a:rPr>
                        <a:t>8,760</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b="1">
                          <a:solidFill>
                            <a:srgbClr val="1C2B3A"/>
                          </a:solidFill>
                          <a:latin typeface="Calibri" pitchFamily="34" charset="0"/>
                          <a:ea typeface="Calibri" pitchFamily="34" charset="-122"/>
                          <a:cs typeface="Calibri" pitchFamily="34" charset="-120"/>
                        </a:rPr>
                        <a:t>32,780</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9748">
                <a:tc>
                  <a:txBody>
                    <a:bodyPr/>
                    <a:lstStyle/>
                    <a:p>
                      <a:pPr marL="0" indent="0" algn="l">
                        <a:buNone/>
                      </a:pPr>
                      <a:r>
                        <a:rPr lang="en-US" sz="1500" i="1">
                          <a:solidFill>
                            <a:srgbClr val="1C2B3A"/>
                          </a:solidFill>
                          <a:latin typeface="Calibri" pitchFamily="34" charset="0"/>
                          <a:ea typeface="Calibri" pitchFamily="34" charset="-122"/>
                          <a:cs typeface="Calibri" pitchFamily="34" charset="-120"/>
                        </a:rPr>
                        <a:t>  Contribution Margin</a:t>
                      </a:r>
                      <a:endParaRPr lang="en-US" sz="15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500" i="1">
                          <a:solidFill>
                            <a:srgbClr val="1C2B3A"/>
                          </a:solidFill>
                          <a:latin typeface="Calibri" pitchFamily="34" charset="0"/>
                          <a:ea typeface="Calibri" pitchFamily="34" charset="-122"/>
                          <a:cs typeface="Calibri" pitchFamily="34" charset="-120"/>
                        </a:rPr>
                        <a:t>55.9%</a:t>
                      </a:r>
                      <a:endParaRPr lang="en-US" sz="15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500" i="1">
                          <a:solidFill>
                            <a:srgbClr val="1C2B3A"/>
                          </a:solidFill>
                          <a:latin typeface="Calibri" pitchFamily="34" charset="0"/>
                          <a:ea typeface="Calibri" pitchFamily="34" charset="-122"/>
                          <a:cs typeface="Calibri" pitchFamily="34" charset="-120"/>
                        </a:rPr>
                        <a:t>57.4%</a:t>
                      </a:r>
                      <a:endParaRPr lang="en-US" sz="15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500" i="1">
                          <a:solidFill>
                            <a:srgbClr val="1C2B3A"/>
                          </a:solidFill>
                          <a:latin typeface="Calibri" pitchFamily="34" charset="0"/>
                          <a:ea typeface="Calibri" pitchFamily="34" charset="-122"/>
                          <a:cs typeface="Calibri" pitchFamily="34" charset="-120"/>
                        </a:rPr>
                        <a:t>57.5%</a:t>
                      </a:r>
                      <a:endParaRPr lang="en-US" sz="15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500" i="1">
                          <a:solidFill>
                            <a:srgbClr val="1C2B3A"/>
                          </a:solidFill>
                          <a:latin typeface="Calibri" pitchFamily="34" charset="0"/>
                          <a:ea typeface="Calibri" pitchFamily="34" charset="-122"/>
                          <a:cs typeface="Calibri" pitchFamily="34" charset="-120"/>
                        </a:rPr>
                        <a:t>57.8%</a:t>
                      </a:r>
                      <a:endParaRPr lang="en-US" sz="15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500" i="1">
                          <a:solidFill>
                            <a:srgbClr val="1C2B3A"/>
                          </a:solidFill>
                          <a:latin typeface="Calibri" pitchFamily="34" charset="0"/>
                          <a:ea typeface="Calibri" pitchFamily="34" charset="-122"/>
                          <a:cs typeface="Calibri" pitchFamily="34" charset="-120"/>
                        </a:rPr>
                        <a:t>57.2%</a:t>
                      </a:r>
                      <a:endParaRPr lang="en-US" sz="15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extLst>
                  <a:ext uri="{0D108BD9-81ED-4DB2-BD59-A6C34878D82A}">
                    <a16:rowId xmlns:a16="http://schemas.microsoft.com/office/drawing/2014/main" val="10004"/>
                  </a:ext>
                </a:extLst>
              </a:tr>
              <a:tr h="269748">
                <a:tc>
                  <a:txBody>
                    <a:bodyPr/>
                    <a:lstStyle/>
                    <a:p>
                      <a:pPr marL="0" indent="0" algn="l">
                        <a:buNone/>
                      </a:pPr>
                      <a:r>
                        <a:rPr lang="en-US" sz="1650">
                          <a:solidFill>
                            <a:srgbClr val="1C2B3A"/>
                          </a:solidFill>
                          <a:latin typeface="Calibri" pitchFamily="34" charset="0"/>
                          <a:ea typeface="Calibri" pitchFamily="34" charset="-122"/>
                          <a:cs typeface="Calibri" pitchFamily="34" charset="-120"/>
                        </a:rPr>
                        <a:t>Fixed Cost (₹L)</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4,517</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4,566</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4,559</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4,569</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650">
                          <a:solidFill>
                            <a:srgbClr val="1C2B3A"/>
                          </a:solidFill>
                          <a:latin typeface="Calibri" pitchFamily="34" charset="0"/>
                          <a:ea typeface="Calibri" pitchFamily="34" charset="-122"/>
                          <a:cs typeface="Calibri" pitchFamily="34" charset="-120"/>
                        </a:rPr>
                        <a:t>18,211</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9748">
                <a:tc>
                  <a:txBody>
                    <a:bodyPr/>
                    <a:lstStyle/>
                    <a:p>
                      <a:pPr marL="0" indent="0" algn="l">
                        <a:buNone/>
                      </a:pPr>
                      <a:r>
                        <a:rPr lang="en-US" sz="1650" b="1">
                          <a:solidFill>
                            <a:srgbClr val="1A8C5B"/>
                          </a:solidFill>
                          <a:latin typeface="Calibri" pitchFamily="34" charset="0"/>
                          <a:ea typeface="Calibri" pitchFamily="34" charset="-122"/>
                          <a:cs typeface="Calibri" pitchFamily="34" charset="-120"/>
                        </a:rPr>
                        <a:t>EBITDA (₹L)</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650" b="1">
                          <a:solidFill>
                            <a:srgbClr val="1C2B3A"/>
                          </a:solidFill>
                          <a:latin typeface="Calibri" pitchFamily="34" charset="0"/>
                          <a:ea typeface="Calibri" pitchFamily="34" charset="-122"/>
                          <a:cs typeface="Calibri" pitchFamily="34" charset="-120"/>
                        </a:rPr>
                        <a:t>2,728</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650" b="1">
                          <a:solidFill>
                            <a:srgbClr val="1C2B3A"/>
                          </a:solidFill>
                          <a:latin typeface="Calibri" pitchFamily="34" charset="0"/>
                          <a:ea typeface="Calibri" pitchFamily="34" charset="-122"/>
                          <a:cs typeface="Calibri" pitchFamily="34" charset="-120"/>
                        </a:rPr>
                        <a:t>3,757</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650" b="1">
                          <a:solidFill>
                            <a:srgbClr val="1C2B3A"/>
                          </a:solidFill>
                          <a:latin typeface="Calibri" pitchFamily="34" charset="0"/>
                          <a:ea typeface="Calibri" pitchFamily="34" charset="-122"/>
                          <a:cs typeface="Calibri" pitchFamily="34" charset="-120"/>
                        </a:rPr>
                        <a:t>3,964</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650" b="1">
                          <a:solidFill>
                            <a:srgbClr val="1C2B3A"/>
                          </a:solidFill>
                          <a:latin typeface="Calibri" pitchFamily="34" charset="0"/>
                          <a:ea typeface="Calibri" pitchFamily="34" charset="-122"/>
                          <a:cs typeface="Calibri" pitchFamily="34" charset="-120"/>
                        </a:rPr>
                        <a:t>4,506</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650" b="1">
                          <a:solidFill>
                            <a:srgbClr val="1A8C5B"/>
                          </a:solidFill>
                          <a:latin typeface="Calibri" pitchFamily="34" charset="0"/>
                          <a:ea typeface="Calibri" pitchFamily="34" charset="-122"/>
                          <a:cs typeface="Calibri" pitchFamily="34" charset="-120"/>
                        </a:rPr>
                        <a:t>14,966</a:t>
                      </a:r>
                      <a:endParaRPr lang="en-US" sz="16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6"/>
                  </a:ext>
                </a:extLst>
              </a:tr>
              <a:tr h="269748">
                <a:tc>
                  <a:txBody>
                    <a:bodyPr/>
                    <a:lstStyle/>
                    <a:p>
                      <a:pPr marL="0" indent="0" algn="l">
                        <a:buNone/>
                      </a:pPr>
                      <a:r>
                        <a:rPr lang="en-US" sz="1500" i="1">
                          <a:solidFill>
                            <a:srgbClr val="1A8C5B"/>
                          </a:solidFill>
                          <a:latin typeface="Calibri" pitchFamily="34" charset="0"/>
                          <a:ea typeface="Calibri" pitchFamily="34" charset="-122"/>
                          <a:cs typeface="Calibri" pitchFamily="34" charset="-120"/>
                        </a:rPr>
                        <a:t>  EBITDA Margin %</a:t>
                      </a:r>
                      <a:endParaRPr lang="en-US" sz="15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500" i="1">
                          <a:solidFill>
                            <a:srgbClr val="1C2B3A"/>
                          </a:solidFill>
                          <a:latin typeface="Calibri" pitchFamily="34" charset="0"/>
                          <a:ea typeface="Calibri" pitchFamily="34" charset="-122"/>
                          <a:cs typeface="Calibri" pitchFamily="34" charset="-120"/>
                        </a:rPr>
                        <a:t>21.1%</a:t>
                      </a:r>
                      <a:endParaRPr lang="en-US" sz="15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500" i="1">
                          <a:solidFill>
                            <a:srgbClr val="1C2B3A"/>
                          </a:solidFill>
                          <a:latin typeface="Calibri" pitchFamily="34" charset="0"/>
                          <a:ea typeface="Calibri" pitchFamily="34" charset="-122"/>
                          <a:cs typeface="Calibri" pitchFamily="34" charset="-120"/>
                        </a:rPr>
                        <a:t>26.0%</a:t>
                      </a:r>
                      <a:endParaRPr lang="en-US" sz="15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500" i="1">
                          <a:solidFill>
                            <a:srgbClr val="1C2B3A"/>
                          </a:solidFill>
                          <a:latin typeface="Calibri" pitchFamily="34" charset="0"/>
                          <a:ea typeface="Calibri" pitchFamily="34" charset="-122"/>
                          <a:cs typeface="Calibri" pitchFamily="34" charset="-120"/>
                        </a:rPr>
                        <a:t>26.9%</a:t>
                      </a:r>
                      <a:endParaRPr lang="en-US" sz="15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500" i="1">
                          <a:solidFill>
                            <a:srgbClr val="1C2B3A"/>
                          </a:solidFill>
                          <a:latin typeface="Calibri" pitchFamily="34" charset="0"/>
                          <a:ea typeface="Calibri" pitchFamily="34" charset="-122"/>
                          <a:cs typeface="Calibri" pitchFamily="34" charset="-120"/>
                        </a:rPr>
                        <a:t>29.7%</a:t>
                      </a:r>
                      <a:endParaRPr lang="en-US" sz="150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tc>
                  <a:txBody>
                    <a:bodyPr/>
                    <a:lstStyle/>
                    <a:p>
                      <a:pPr marL="0" indent="0" algn="r">
                        <a:buNone/>
                      </a:pPr>
                      <a:r>
                        <a:rPr lang="en-US" sz="1500" i="1" dirty="0">
                          <a:solidFill>
                            <a:srgbClr val="1A8C5B"/>
                          </a:solidFill>
                          <a:latin typeface="Calibri" pitchFamily="34" charset="0"/>
                          <a:ea typeface="Calibri" pitchFamily="34" charset="-122"/>
                          <a:cs typeface="Calibri" pitchFamily="34" charset="-120"/>
                        </a:rPr>
                        <a:t>26.1%</a:t>
                      </a:r>
                      <a:endParaRPr lang="en-US" sz="1500" dirty="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BF3FA"/>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BE1558"/>
          </a:solidFill>
          <a:ln w="12700">
            <a:solidFill>
              <a:srgbClr val="BE1558"/>
            </a:solidFill>
            <a:prstDash val="solid"/>
          </a:ln>
        </p:spPr>
        <p:txBody>
          <a:bodyPr>
            <a:normAutofit/>
          </a:bodyPr>
          <a:lstStyle/>
          <a:p>
            <a:endParaRPr lang="en-US"/>
          </a:p>
        </p:txBody>
      </p:sp>
      <p:sp>
        <p:nvSpPr>
          <p:cNvPr id="3" name="Shape 1"/>
          <p:cNvSpPr/>
          <p:nvPr/>
        </p:nvSpPr>
        <p:spPr>
          <a:xfrm>
            <a:off x="8961120" y="0"/>
            <a:ext cx="3200400" cy="6858000"/>
          </a:xfrm>
          <a:prstGeom prst="rect">
            <a:avLst/>
          </a:prstGeom>
          <a:solidFill>
            <a:srgbClr val="162433"/>
          </a:solidFill>
          <a:ln w="12700">
            <a:solidFill>
              <a:srgbClr val="162433"/>
            </a:solidFill>
            <a:prstDash val="solid"/>
          </a:ln>
        </p:spPr>
        <p:txBody>
          <a:bodyPr>
            <a:normAutofit/>
          </a:bodyPr>
          <a:lstStyle/>
          <a:p>
            <a:endParaRPr lang="en-US"/>
          </a:p>
        </p:txBody>
      </p:sp>
      <p:sp>
        <p:nvSpPr>
          <p:cNvPr id="4" name="Shape 2"/>
          <p:cNvSpPr/>
          <p:nvPr/>
        </p:nvSpPr>
        <p:spPr>
          <a:xfrm>
            <a:off x="8961120" y="859536"/>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5" name="Shape 3"/>
          <p:cNvSpPr/>
          <p:nvPr/>
        </p:nvSpPr>
        <p:spPr>
          <a:xfrm>
            <a:off x="8961120" y="1719072"/>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6" name="Shape 4"/>
          <p:cNvSpPr/>
          <p:nvPr/>
        </p:nvSpPr>
        <p:spPr>
          <a:xfrm>
            <a:off x="8961120" y="2578608"/>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7" name="Shape 5"/>
          <p:cNvSpPr/>
          <p:nvPr/>
        </p:nvSpPr>
        <p:spPr>
          <a:xfrm>
            <a:off x="8961120" y="3438144"/>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8" name="Shape 6"/>
          <p:cNvSpPr/>
          <p:nvPr/>
        </p:nvSpPr>
        <p:spPr>
          <a:xfrm>
            <a:off x="8961120" y="4297680"/>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9" name="Shape 7"/>
          <p:cNvSpPr/>
          <p:nvPr/>
        </p:nvSpPr>
        <p:spPr>
          <a:xfrm>
            <a:off x="8961120" y="5157216"/>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0" name="Shape 8"/>
          <p:cNvSpPr/>
          <p:nvPr/>
        </p:nvSpPr>
        <p:spPr>
          <a:xfrm>
            <a:off x="8961120" y="6016752"/>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1" name="Shape 9"/>
          <p:cNvSpPr/>
          <p:nvPr/>
        </p:nvSpPr>
        <p:spPr>
          <a:xfrm>
            <a:off x="8961120"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2" name="Shape 10"/>
          <p:cNvSpPr/>
          <p:nvPr/>
        </p:nvSpPr>
        <p:spPr>
          <a:xfrm>
            <a:off x="9756648"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3" name="Shape 11"/>
          <p:cNvSpPr/>
          <p:nvPr/>
        </p:nvSpPr>
        <p:spPr>
          <a:xfrm>
            <a:off x="10552176"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4" name="Shape 12"/>
          <p:cNvSpPr/>
          <p:nvPr/>
        </p:nvSpPr>
        <p:spPr>
          <a:xfrm>
            <a:off x="11347704"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5" name="Shape 13"/>
          <p:cNvSpPr/>
          <p:nvPr/>
        </p:nvSpPr>
        <p:spPr>
          <a:xfrm>
            <a:off x="12143232"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6" name="Text 14"/>
          <p:cNvSpPr/>
          <p:nvPr/>
        </p:nvSpPr>
        <p:spPr>
          <a:xfrm>
            <a:off x="9052560" y="3017520"/>
            <a:ext cx="2926080" cy="822960"/>
          </a:xfrm>
          <a:prstGeom prst="rect">
            <a:avLst/>
          </a:prstGeom>
          <a:noFill/>
          <a:ln/>
        </p:spPr>
        <p:txBody>
          <a:bodyPr wrap="square" lIns="0" tIns="0" rIns="0" bIns="0" rtlCol="0" anchor="ctr">
            <a:normAutofit/>
          </a:bodyPr>
          <a:lstStyle/>
          <a:p>
            <a:pPr marL="0" indent="0" algn="ctr">
              <a:lnSpc>
                <a:spcPct val="130000"/>
              </a:lnSpc>
              <a:buNone/>
            </a:pPr>
            <a:r>
              <a:rPr lang="en-US" sz="1500" b="1">
                <a:solidFill>
                  <a:srgbClr val="A0BBCC"/>
                </a:solidFill>
                <a:latin typeface="Calibri" pitchFamily="34" charset="0"/>
                <a:ea typeface="Calibri" pitchFamily="34" charset="-122"/>
                <a:cs typeface="Calibri" pitchFamily="34" charset="-120"/>
              </a:rPr>
              <a:t>VPS LAKESHORE</a:t>
            </a:r>
            <a:endParaRPr lang="en-US" sz="1500"/>
          </a:p>
          <a:p>
            <a:pPr marL="0" indent="0" algn="ctr">
              <a:lnSpc>
                <a:spcPct val="130000"/>
              </a:lnSpc>
              <a:buNone/>
            </a:pPr>
            <a:r>
              <a:rPr lang="en-US" sz="1500" b="1">
                <a:solidFill>
                  <a:srgbClr val="A0BBCC"/>
                </a:solidFill>
                <a:latin typeface="Calibri" pitchFamily="34" charset="0"/>
                <a:ea typeface="Calibri" pitchFamily="34" charset="-122"/>
                <a:cs typeface="Calibri" pitchFamily="34" charset="-120"/>
              </a:rPr>
              <a:t>HOSPITAL · KOCHI</a:t>
            </a:r>
            <a:endParaRPr lang="en-US" sz="1500"/>
          </a:p>
        </p:txBody>
      </p:sp>
      <p:sp>
        <p:nvSpPr>
          <p:cNvPr id="17" name="Text 15"/>
          <p:cNvSpPr/>
          <p:nvPr/>
        </p:nvSpPr>
        <p:spPr>
          <a:xfrm>
            <a:off x="777240" y="1874520"/>
            <a:ext cx="6400800" cy="320040"/>
          </a:xfrm>
          <a:prstGeom prst="rect">
            <a:avLst/>
          </a:prstGeom>
          <a:noFill/>
          <a:ln/>
        </p:spPr>
        <p:txBody>
          <a:bodyPr wrap="square" lIns="0" tIns="0" rIns="0" bIns="0" rtlCol="0" anchor="ctr">
            <a:normAutofit/>
          </a:bodyPr>
          <a:lstStyle/>
          <a:p>
            <a:pPr marL="0" indent="0">
              <a:buNone/>
            </a:pPr>
            <a:r>
              <a:rPr lang="en-US" sz="1350" b="1" kern="0" spc="500">
                <a:solidFill>
                  <a:srgbClr val="2E7AB6"/>
                </a:solidFill>
                <a:latin typeface="Calibri" pitchFamily="34" charset="0"/>
                <a:ea typeface="Calibri" pitchFamily="34" charset="-122"/>
                <a:cs typeface="Calibri" pitchFamily="34" charset="-120"/>
              </a:rPr>
              <a:t>SECTION</a:t>
            </a:r>
            <a:endParaRPr lang="en-US" sz="1350"/>
          </a:p>
        </p:txBody>
      </p:sp>
      <p:sp>
        <p:nvSpPr>
          <p:cNvPr id="18" name="Text 16"/>
          <p:cNvSpPr/>
          <p:nvPr/>
        </p:nvSpPr>
        <p:spPr>
          <a:xfrm>
            <a:off x="777240" y="2212848"/>
            <a:ext cx="7955280" cy="1463040"/>
          </a:xfrm>
          <a:prstGeom prst="rect">
            <a:avLst/>
          </a:prstGeom>
          <a:noFill/>
          <a:ln/>
        </p:spPr>
        <p:txBody>
          <a:bodyPr wrap="square" lIns="0" tIns="0" rIns="0" bIns="0" rtlCol="0" anchor="ctr">
            <a:normAutofit/>
          </a:bodyPr>
          <a:lstStyle/>
          <a:p>
            <a:pPr marL="0" indent="0">
              <a:lnSpc>
                <a:spcPct val="100000"/>
              </a:lnSpc>
              <a:buNone/>
            </a:pPr>
            <a:r>
              <a:rPr lang="en-US" sz="4400" b="1" dirty="0">
                <a:solidFill>
                  <a:srgbClr val="FFFFFF"/>
                </a:solidFill>
                <a:latin typeface="Calibri" pitchFamily="34" charset="0"/>
                <a:ea typeface="Calibri" pitchFamily="34" charset="-122"/>
                <a:cs typeface="Calibri" pitchFamily="34" charset="-120"/>
              </a:rPr>
              <a:t>Revenue</a:t>
            </a:r>
            <a:endParaRPr lang="en-US" sz="4400" dirty="0"/>
          </a:p>
          <a:p>
            <a:pPr marL="0" indent="0">
              <a:lnSpc>
                <a:spcPct val="100000"/>
              </a:lnSpc>
              <a:buNone/>
            </a:pPr>
            <a:r>
              <a:rPr lang="en-US" sz="4400" b="1" dirty="0">
                <a:solidFill>
                  <a:srgbClr val="FFFFFF"/>
                </a:solidFill>
                <a:latin typeface="Calibri" pitchFamily="34" charset="0"/>
                <a:ea typeface="Calibri" pitchFamily="34" charset="-122"/>
                <a:cs typeface="Calibri" pitchFamily="34" charset="-120"/>
              </a:rPr>
              <a:t>Plan</a:t>
            </a:r>
            <a:endParaRPr lang="en-US" sz="4400" dirty="0"/>
          </a:p>
        </p:txBody>
      </p:sp>
      <p:sp>
        <p:nvSpPr>
          <p:cNvPr id="19" name="Shape 17"/>
          <p:cNvSpPr/>
          <p:nvPr/>
        </p:nvSpPr>
        <p:spPr>
          <a:xfrm>
            <a:off x="777240" y="3730752"/>
            <a:ext cx="4389120" cy="0"/>
          </a:xfrm>
          <a:prstGeom prst="line">
            <a:avLst/>
          </a:prstGeom>
          <a:noFill/>
          <a:ln w="19050">
            <a:solidFill>
              <a:srgbClr val="2E7AB6"/>
            </a:solidFill>
            <a:prstDash val="solid"/>
          </a:ln>
        </p:spPr>
        <p:txBody>
          <a:bodyPr>
            <a:normAutofit fontScale="25000" lnSpcReduction="20000"/>
          </a:bodyPr>
          <a:lstStyle/>
          <a:p>
            <a:endParaRPr lang="en-US"/>
          </a:p>
        </p:txBody>
      </p:sp>
      <p:sp>
        <p:nvSpPr>
          <p:cNvPr id="20" name="Text 18"/>
          <p:cNvSpPr/>
          <p:nvPr/>
        </p:nvSpPr>
        <p:spPr>
          <a:xfrm>
            <a:off x="777240" y="3913632"/>
            <a:ext cx="7955280" cy="365760"/>
          </a:xfrm>
          <a:prstGeom prst="rect">
            <a:avLst/>
          </a:prstGeom>
          <a:noFill/>
          <a:ln/>
        </p:spPr>
        <p:txBody>
          <a:bodyPr wrap="square" lIns="0" tIns="0" rIns="0" bIns="0" rtlCol="0" anchor="ctr">
            <a:normAutofit/>
          </a:bodyPr>
          <a:lstStyle/>
          <a:p>
            <a:pPr marL="0" indent="0">
              <a:buNone/>
            </a:pPr>
            <a:r>
              <a:rPr lang="en-US" sz="1650">
                <a:solidFill>
                  <a:srgbClr val="A0BBCC"/>
                </a:solidFill>
                <a:latin typeface="Calibri" pitchFamily="34" charset="0"/>
                <a:ea typeface="Calibri" pitchFamily="34" charset="-122"/>
                <a:cs typeface="Calibri" pitchFamily="34" charset="-120"/>
              </a:rPr>
              <a:t>Revenue Streams · Initiative Map · 16 Initiative Drill-Downs</a:t>
            </a:r>
            <a:endParaRPr lang="en-US" sz="16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REVENUE PLAN — EXECUTIVE SUMMARY</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FY27  ·  ₹57,305L Target  ·  ₹123.4 Cr Initiative Impact</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US"/>
          </a:p>
        </p:txBody>
      </p:sp>
      <p:sp>
        <p:nvSpPr>
          <p:cNvPr id="7" name="Shape 5"/>
          <p:cNvSpPr/>
          <p:nvPr/>
        </p:nvSpPr>
        <p:spPr>
          <a:xfrm>
            <a:off x="411480" y="850392"/>
            <a:ext cx="2743200" cy="10058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8" name="Shape 6"/>
          <p:cNvSpPr/>
          <p:nvPr/>
        </p:nvSpPr>
        <p:spPr>
          <a:xfrm>
            <a:off x="411480" y="850392"/>
            <a:ext cx="54864" cy="1005840"/>
          </a:xfrm>
          <a:prstGeom prst="rect">
            <a:avLst/>
          </a:prstGeom>
          <a:solidFill>
            <a:srgbClr val="2E7AB6"/>
          </a:solidFill>
          <a:ln w="12700">
            <a:solidFill>
              <a:srgbClr val="2E7AB6"/>
            </a:solidFill>
            <a:prstDash val="solid"/>
          </a:ln>
        </p:spPr>
        <p:txBody>
          <a:bodyPr>
            <a:normAutofit/>
          </a:bodyPr>
          <a:lstStyle/>
          <a:p>
            <a:endParaRPr lang="en-US"/>
          </a:p>
        </p:txBody>
      </p:sp>
      <p:sp>
        <p:nvSpPr>
          <p:cNvPr id="9" name="Text 7"/>
          <p:cNvSpPr/>
          <p:nvPr/>
        </p:nvSpPr>
        <p:spPr>
          <a:xfrm>
            <a:off x="539496" y="941832"/>
            <a:ext cx="25786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Revenue Growth vs FY26</a:t>
            </a:r>
            <a:endParaRPr lang="en-US" sz="1350"/>
          </a:p>
        </p:txBody>
      </p:sp>
      <p:sp>
        <p:nvSpPr>
          <p:cNvPr id="10" name="Text 8"/>
          <p:cNvSpPr/>
          <p:nvPr/>
        </p:nvSpPr>
        <p:spPr>
          <a:xfrm>
            <a:off x="539496" y="1143000"/>
            <a:ext cx="25786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₹12,027L</a:t>
            </a:r>
            <a:endParaRPr lang="en-US" sz="2200" dirty="0"/>
          </a:p>
        </p:txBody>
      </p:sp>
      <p:sp>
        <p:nvSpPr>
          <p:cNvPr id="11" name="Text 9"/>
          <p:cNvSpPr/>
          <p:nvPr/>
        </p:nvSpPr>
        <p:spPr>
          <a:xfrm>
            <a:off x="539496" y="1581912"/>
            <a:ext cx="2578608" cy="182880"/>
          </a:xfrm>
          <a:prstGeom prst="rect">
            <a:avLst/>
          </a:prstGeom>
          <a:noFill/>
          <a:ln/>
        </p:spPr>
        <p:txBody>
          <a:bodyPr wrap="square" lIns="0" tIns="0" rIns="0" bIns="0" rtlCol="0" anchor="ctr">
            <a:normAutofit lnSpcReduction="10000"/>
          </a:bodyPr>
          <a:lstStyle/>
          <a:p>
            <a:pPr marL="0" indent="0">
              <a:buNone/>
            </a:pPr>
            <a:r>
              <a:rPr lang="en-US" sz="1275">
                <a:solidFill>
                  <a:srgbClr val="2E7AB6"/>
                </a:solidFill>
                <a:latin typeface="Calibri" pitchFamily="34" charset="0"/>
                <a:ea typeface="Calibri" pitchFamily="34" charset="-122"/>
                <a:cs typeface="Calibri" pitchFamily="34" charset="-120"/>
              </a:rPr>
              <a:t>+26.6%  ·  from ₹45,278L to ₹57,305L</a:t>
            </a:r>
            <a:endParaRPr lang="en-US" sz="1275"/>
          </a:p>
        </p:txBody>
      </p:sp>
      <p:sp>
        <p:nvSpPr>
          <p:cNvPr id="12" name="Shape 10"/>
          <p:cNvSpPr/>
          <p:nvPr/>
        </p:nvSpPr>
        <p:spPr>
          <a:xfrm>
            <a:off x="3291840" y="850392"/>
            <a:ext cx="2743200" cy="10058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3" name="Shape 11"/>
          <p:cNvSpPr/>
          <p:nvPr/>
        </p:nvSpPr>
        <p:spPr>
          <a:xfrm>
            <a:off x="3291840" y="850392"/>
            <a:ext cx="54864" cy="1005840"/>
          </a:xfrm>
          <a:prstGeom prst="rect">
            <a:avLst/>
          </a:prstGeom>
          <a:solidFill>
            <a:srgbClr val="2E7AB6"/>
          </a:solidFill>
          <a:ln w="12700">
            <a:solidFill>
              <a:srgbClr val="2E7AB6"/>
            </a:solidFill>
            <a:prstDash val="solid"/>
          </a:ln>
        </p:spPr>
        <p:txBody>
          <a:bodyPr>
            <a:normAutofit/>
          </a:bodyPr>
          <a:lstStyle/>
          <a:p>
            <a:endParaRPr lang="en-US"/>
          </a:p>
        </p:txBody>
      </p:sp>
      <p:sp>
        <p:nvSpPr>
          <p:cNvPr id="14" name="Text 12"/>
          <p:cNvSpPr/>
          <p:nvPr/>
        </p:nvSpPr>
        <p:spPr>
          <a:xfrm>
            <a:off x="3419856" y="941832"/>
            <a:ext cx="25786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Initiative Revenue Impact</a:t>
            </a:r>
            <a:endParaRPr lang="en-US" sz="1350"/>
          </a:p>
        </p:txBody>
      </p:sp>
      <p:sp>
        <p:nvSpPr>
          <p:cNvPr id="15" name="Text 13"/>
          <p:cNvSpPr/>
          <p:nvPr/>
        </p:nvSpPr>
        <p:spPr>
          <a:xfrm>
            <a:off x="3419856" y="1143000"/>
            <a:ext cx="25786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₹123.4 Cr</a:t>
            </a:r>
            <a:endParaRPr lang="en-US" sz="2200" dirty="0"/>
          </a:p>
        </p:txBody>
      </p:sp>
      <p:sp>
        <p:nvSpPr>
          <p:cNvPr id="16" name="Text 14"/>
          <p:cNvSpPr/>
          <p:nvPr/>
        </p:nvSpPr>
        <p:spPr>
          <a:xfrm>
            <a:off x="3419856" y="1581912"/>
            <a:ext cx="2578608" cy="182880"/>
          </a:xfrm>
          <a:prstGeom prst="rect">
            <a:avLst/>
          </a:prstGeom>
          <a:noFill/>
          <a:ln/>
        </p:spPr>
        <p:txBody>
          <a:bodyPr wrap="square" lIns="0" tIns="0" rIns="0" bIns="0" rtlCol="0" anchor="ctr">
            <a:normAutofit lnSpcReduction="10000"/>
          </a:bodyPr>
          <a:lstStyle/>
          <a:p>
            <a:pPr marL="0" indent="0">
              <a:buNone/>
            </a:pPr>
            <a:r>
              <a:rPr lang="en-US" sz="1275">
                <a:solidFill>
                  <a:srgbClr val="2E7AB6"/>
                </a:solidFill>
                <a:latin typeface="Calibri" pitchFamily="34" charset="0"/>
                <a:ea typeface="Calibri" pitchFamily="34" charset="-122"/>
                <a:cs typeface="Calibri" pitchFamily="34" charset="-120"/>
              </a:rPr>
              <a:t>16 initiatives across 5 categories</a:t>
            </a:r>
            <a:endParaRPr lang="en-US" sz="1275"/>
          </a:p>
        </p:txBody>
      </p:sp>
      <p:sp>
        <p:nvSpPr>
          <p:cNvPr id="17" name="Shape 15"/>
          <p:cNvSpPr/>
          <p:nvPr/>
        </p:nvSpPr>
        <p:spPr>
          <a:xfrm>
            <a:off x="6172200" y="850392"/>
            <a:ext cx="2743200" cy="10058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8" name="Shape 16"/>
          <p:cNvSpPr/>
          <p:nvPr/>
        </p:nvSpPr>
        <p:spPr>
          <a:xfrm>
            <a:off x="6172200" y="850392"/>
            <a:ext cx="54864" cy="1005840"/>
          </a:xfrm>
          <a:prstGeom prst="rect">
            <a:avLst/>
          </a:prstGeom>
          <a:solidFill>
            <a:srgbClr val="BE1558"/>
          </a:solidFill>
          <a:ln w="12700">
            <a:solidFill>
              <a:srgbClr val="BE1558"/>
            </a:solidFill>
            <a:prstDash val="solid"/>
          </a:ln>
        </p:spPr>
        <p:txBody>
          <a:bodyPr>
            <a:normAutofit/>
          </a:bodyPr>
          <a:lstStyle/>
          <a:p>
            <a:endParaRPr lang="en-US"/>
          </a:p>
        </p:txBody>
      </p:sp>
      <p:sp>
        <p:nvSpPr>
          <p:cNvPr id="19" name="Text 17"/>
          <p:cNvSpPr/>
          <p:nvPr/>
        </p:nvSpPr>
        <p:spPr>
          <a:xfrm>
            <a:off x="6300216" y="941832"/>
            <a:ext cx="25786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Contribution Margin</a:t>
            </a:r>
            <a:endParaRPr lang="en-US" sz="1350"/>
          </a:p>
        </p:txBody>
      </p:sp>
      <p:sp>
        <p:nvSpPr>
          <p:cNvPr id="20" name="Text 18"/>
          <p:cNvSpPr/>
          <p:nvPr/>
        </p:nvSpPr>
        <p:spPr>
          <a:xfrm>
            <a:off x="6300216" y="1143000"/>
            <a:ext cx="25786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57.2%</a:t>
            </a:r>
            <a:endParaRPr lang="en-US" sz="2200" dirty="0"/>
          </a:p>
        </p:txBody>
      </p:sp>
      <p:sp>
        <p:nvSpPr>
          <p:cNvPr id="21" name="Text 19"/>
          <p:cNvSpPr/>
          <p:nvPr/>
        </p:nvSpPr>
        <p:spPr>
          <a:xfrm>
            <a:off x="6300216" y="1581912"/>
            <a:ext cx="2578608" cy="182880"/>
          </a:xfrm>
          <a:prstGeom prst="rect">
            <a:avLst/>
          </a:prstGeom>
          <a:noFill/>
          <a:ln/>
        </p:spPr>
        <p:txBody>
          <a:bodyPr wrap="square" lIns="0" tIns="0" rIns="0" bIns="0" rtlCol="0" anchor="ctr">
            <a:normAutofit fontScale="85000" lnSpcReduction="10000"/>
          </a:bodyPr>
          <a:lstStyle/>
          <a:p>
            <a:pPr marL="0" indent="0">
              <a:buNone/>
            </a:pPr>
            <a:r>
              <a:rPr lang="en-US" sz="1275">
                <a:solidFill>
                  <a:srgbClr val="BE1558"/>
                </a:solidFill>
                <a:latin typeface="Calibri" pitchFamily="34" charset="0"/>
                <a:ea typeface="Calibri" pitchFamily="34" charset="-122"/>
                <a:cs typeface="Calibri" pitchFamily="34" charset="-120"/>
              </a:rPr>
              <a:t>+430 bps over FY26 — the key EBITDA lever</a:t>
            </a:r>
            <a:endParaRPr lang="en-US" sz="1275"/>
          </a:p>
        </p:txBody>
      </p:sp>
      <p:sp>
        <p:nvSpPr>
          <p:cNvPr id="22" name="Shape 20"/>
          <p:cNvSpPr/>
          <p:nvPr/>
        </p:nvSpPr>
        <p:spPr>
          <a:xfrm>
            <a:off x="9052560" y="850392"/>
            <a:ext cx="2743200" cy="10058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23" name="Shape 21"/>
          <p:cNvSpPr/>
          <p:nvPr/>
        </p:nvSpPr>
        <p:spPr>
          <a:xfrm>
            <a:off x="9052560" y="850392"/>
            <a:ext cx="54864" cy="1005840"/>
          </a:xfrm>
          <a:prstGeom prst="rect">
            <a:avLst/>
          </a:prstGeom>
          <a:solidFill>
            <a:srgbClr val="2E7AB6"/>
          </a:solidFill>
          <a:ln w="12700">
            <a:solidFill>
              <a:srgbClr val="2E7AB6"/>
            </a:solidFill>
            <a:prstDash val="solid"/>
          </a:ln>
        </p:spPr>
        <p:txBody>
          <a:bodyPr>
            <a:normAutofit/>
          </a:bodyPr>
          <a:lstStyle/>
          <a:p>
            <a:endParaRPr lang="en-US"/>
          </a:p>
        </p:txBody>
      </p:sp>
      <p:sp>
        <p:nvSpPr>
          <p:cNvPr id="24" name="Text 22"/>
          <p:cNvSpPr/>
          <p:nvPr/>
        </p:nvSpPr>
        <p:spPr>
          <a:xfrm>
            <a:off x="9180576" y="941832"/>
            <a:ext cx="25786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Revenue Initiatives</a:t>
            </a:r>
            <a:endParaRPr lang="en-US" sz="1350"/>
          </a:p>
        </p:txBody>
      </p:sp>
      <p:sp>
        <p:nvSpPr>
          <p:cNvPr id="25" name="Text 23"/>
          <p:cNvSpPr/>
          <p:nvPr/>
        </p:nvSpPr>
        <p:spPr>
          <a:xfrm>
            <a:off x="9180576" y="1143000"/>
            <a:ext cx="25786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16 Initiatives</a:t>
            </a:r>
            <a:endParaRPr lang="en-US" sz="2200" dirty="0"/>
          </a:p>
        </p:txBody>
      </p:sp>
      <p:sp>
        <p:nvSpPr>
          <p:cNvPr id="26" name="Text 24"/>
          <p:cNvSpPr/>
          <p:nvPr/>
        </p:nvSpPr>
        <p:spPr>
          <a:xfrm>
            <a:off x="9180576" y="1581912"/>
            <a:ext cx="2578608" cy="182880"/>
          </a:xfrm>
          <a:prstGeom prst="rect">
            <a:avLst/>
          </a:prstGeom>
          <a:noFill/>
          <a:ln/>
        </p:spPr>
        <p:txBody>
          <a:bodyPr wrap="square" lIns="0" tIns="0" rIns="0" bIns="0" rtlCol="0" anchor="ctr">
            <a:normAutofit lnSpcReduction="10000"/>
          </a:bodyPr>
          <a:lstStyle/>
          <a:p>
            <a:pPr marL="0" indent="0">
              <a:buNone/>
            </a:pPr>
            <a:r>
              <a:rPr lang="en-US" sz="1275">
                <a:solidFill>
                  <a:srgbClr val="2E7AB6"/>
                </a:solidFill>
                <a:latin typeface="Calibri" pitchFamily="34" charset="0"/>
                <a:ea typeface="Calibri" pitchFamily="34" charset="-122"/>
                <a:cs typeface="Calibri" pitchFamily="34" charset="-120"/>
              </a:rPr>
              <a:t>Apr-26 to Sep-26 start window</a:t>
            </a:r>
            <a:endParaRPr lang="en-US" sz="1275"/>
          </a:p>
        </p:txBody>
      </p:sp>
      <p:sp>
        <p:nvSpPr>
          <p:cNvPr id="27" name="Shape 25"/>
          <p:cNvSpPr/>
          <p:nvPr/>
        </p:nvSpPr>
        <p:spPr>
          <a:xfrm>
            <a:off x="411480" y="1993392"/>
            <a:ext cx="11338560" cy="14630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28" name="Shape 26"/>
          <p:cNvSpPr/>
          <p:nvPr/>
        </p:nvSpPr>
        <p:spPr>
          <a:xfrm>
            <a:off x="411480" y="1993392"/>
            <a:ext cx="54864" cy="1463040"/>
          </a:xfrm>
          <a:prstGeom prst="rect">
            <a:avLst/>
          </a:prstGeom>
          <a:solidFill>
            <a:srgbClr val="2E7AB6"/>
          </a:solidFill>
          <a:ln w="12700">
            <a:solidFill>
              <a:srgbClr val="2E7AB6"/>
            </a:solidFill>
            <a:prstDash val="solid"/>
          </a:ln>
        </p:spPr>
        <p:txBody>
          <a:bodyPr>
            <a:normAutofit/>
          </a:bodyPr>
          <a:lstStyle/>
          <a:p>
            <a:endParaRPr lang="en-US"/>
          </a:p>
        </p:txBody>
      </p:sp>
      <p:sp>
        <p:nvSpPr>
          <p:cNvPr id="29" name="Text 27"/>
          <p:cNvSpPr/>
          <p:nvPr/>
        </p:nvSpPr>
        <p:spPr>
          <a:xfrm>
            <a:off x="566928" y="2075688"/>
            <a:ext cx="3474720" cy="347472"/>
          </a:xfrm>
          <a:prstGeom prst="rect">
            <a:avLst/>
          </a:prstGeom>
          <a:noFill/>
          <a:ln/>
        </p:spPr>
        <p:txBody>
          <a:bodyPr wrap="square" lIns="0" tIns="0" rIns="0" bIns="0" rtlCol="0" anchor="ctr">
            <a:normAutofit/>
          </a:bodyPr>
          <a:lstStyle/>
          <a:p>
            <a:pPr marL="0" indent="0">
              <a:buNone/>
            </a:pPr>
            <a:r>
              <a:rPr lang="en-US" sz="1800" b="1">
                <a:solidFill>
                  <a:srgbClr val="2E7AB6"/>
                </a:solidFill>
                <a:latin typeface="Calibri" pitchFamily="34" charset="0"/>
                <a:ea typeface="Calibri" pitchFamily="34" charset="-122"/>
                <a:cs typeface="Calibri" pitchFamily="34" charset="-120"/>
              </a:rPr>
              <a:t>Revenue Strategy in Brief</a:t>
            </a:r>
            <a:endParaRPr lang="en-US" sz="1800"/>
          </a:p>
        </p:txBody>
      </p:sp>
      <p:sp>
        <p:nvSpPr>
          <p:cNvPr id="30" name="Text 28"/>
          <p:cNvSpPr/>
          <p:nvPr/>
        </p:nvSpPr>
        <p:spPr>
          <a:xfrm>
            <a:off x="566928" y="2423160"/>
            <a:ext cx="11018520" cy="932688"/>
          </a:xfrm>
          <a:prstGeom prst="rect">
            <a:avLst/>
          </a:prstGeom>
          <a:noFill/>
          <a:ln/>
        </p:spPr>
        <p:txBody>
          <a:bodyPr wrap="square" lIns="0" tIns="0" rIns="0" bIns="0" rtlCol="0" anchor="ctr">
            <a:normAutofit/>
          </a:bodyPr>
          <a:lstStyle/>
          <a:p>
            <a:pPr marL="0" indent="0">
              <a:buNone/>
            </a:pPr>
            <a:r>
              <a:rPr lang="en-US" sz="1425">
                <a:solidFill>
                  <a:srgbClr val="1C2B3A"/>
                </a:solidFill>
                <a:latin typeface="Calibri" pitchFamily="34" charset="0"/>
                <a:ea typeface="Calibri" pitchFamily="34" charset="-122"/>
                <a:cs typeface="Calibri" pitchFamily="34" charset="-120"/>
              </a:rPr>
              <a:t>The FY27 revenue plan is built on three reinforcing levers: restoring pricing power lost over 3–5 years of frozen tariffs; building institutional reach through the BD organisation, satellite clinics and corporate health; and adding revenue density through senior clinician recruitment and high-value service packages. The 16 initiatives are sequenced so that quick-win pricing and charge capture improvements (R-01, R-03) generate cash in Q1 that funds the BD and clinic build-out (R-04, R-09) that delivers compounding growth in Q3–Q4.</a:t>
            </a:r>
            <a:endParaRPr lang="en-US" sz="1425"/>
          </a:p>
        </p:txBody>
      </p:sp>
      <p:sp>
        <p:nvSpPr>
          <p:cNvPr id="31" name="Shape 29"/>
          <p:cNvSpPr/>
          <p:nvPr/>
        </p:nvSpPr>
        <p:spPr>
          <a:xfrm>
            <a:off x="411480" y="3566160"/>
            <a:ext cx="11338560" cy="14630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32" name="Shape 30"/>
          <p:cNvSpPr/>
          <p:nvPr/>
        </p:nvSpPr>
        <p:spPr>
          <a:xfrm>
            <a:off x="411480" y="3566160"/>
            <a:ext cx="54864" cy="1463040"/>
          </a:xfrm>
          <a:prstGeom prst="rect">
            <a:avLst/>
          </a:prstGeom>
          <a:solidFill>
            <a:srgbClr val="BE1558"/>
          </a:solidFill>
          <a:ln w="12700">
            <a:solidFill>
              <a:srgbClr val="BE1558"/>
            </a:solidFill>
            <a:prstDash val="solid"/>
          </a:ln>
        </p:spPr>
        <p:txBody>
          <a:bodyPr>
            <a:normAutofit/>
          </a:bodyPr>
          <a:lstStyle/>
          <a:p>
            <a:endParaRPr lang="en-US"/>
          </a:p>
        </p:txBody>
      </p:sp>
      <p:sp>
        <p:nvSpPr>
          <p:cNvPr id="33" name="Text 31"/>
          <p:cNvSpPr/>
          <p:nvPr/>
        </p:nvSpPr>
        <p:spPr>
          <a:xfrm>
            <a:off x="566928" y="3648456"/>
            <a:ext cx="3474720" cy="347472"/>
          </a:xfrm>
          <a:prstGeom prst="rect">
            <a:avLst/>
          </a:prstGeom>
          <a:noFill/>
          <a:ln/>
        </p:spPr>
        <p:txBody>
          <a:bodyPr wrap="square" lIns="0" tIns="0" rIns="0" bIns="0" rtlCol="0" anchor="ctr">
            <a:normAutofit fontScale="92500"/>
          </a:bodyPr>
          <a:lstStyle/>
          <a:p>
            <a:pPr marL="0" indent="0">
              <a:buNone/>
            </a:pPr>
            <a:r>
              <a:rPr lang="en-US" sz="1800" b="1">
                <a:solidFill>
                  <a:srgbClr val="BE1558"/>
                </a:solidFill>
                <a:latin typeface="Calibri" pitchFamily="34" charset="0"/>
                <a:ea typeface="Calibri" pitchFamily="34" charset="-122"/>
                <a:cs typeface="Calibri" pitchFamily="34" charset="-120"/>
              </a:rPr>
              <a:t>Growth Is Front-Loaded on Execution</a:t>
            </a:r>
            <a:endParaRPr lang="en-US" sz="1800"/>
          </a:p>
        </p:txBody>
      </p:sp>
      <p:sp>
        <p:nvSpPr>
          <p:cNvPr id="34" name="Text 32"/>
          <p:cNvSpPr/>
          <p:nvPr/>
        </p:nvSpPr>
        <p:spPr>
          <a:xfrm>
            <a:off x="566928" y="3995928"/>
            <a:ext cx="11018520" cy="932688"/>
          </a:xfrm>
          <a:prstGeom prst="rect">
            <a:avLst/>
          </a:prstGeom>
          <a:noFill/>
          <a:ln/>
        </p:spPr>
        <p:txBody>
          <a:bodyPr wrap="square" lIns="0" tIns="0" rIns="0" bIns="0" rtlCol="0" anchor="ctr">
            <a:normAutofit/>
          </a:bodyPr>
          <a:lstStyle/>
          <a:p>
            <a:pPr marL="0" indent="0">
              <a:buNone/>
            </a:pPr>
            <a:r>
              <a:rPr lang="en-US" sz="1425">
                <a:solidFill>
                  <a:srgbClr val="1C2B3A"/>
                </a:solidFill>
                <a:latin typeface="Calibri" pitchFamily="34" charset="0"/>
                <a:ea typeface="Calibri" pitchFamily="34" charset="-122"/>
                <a:cs typeface="Calibri" pitchFamily="34" charset="-120"/>
              </a:rPr>
              <a:t>Seven of the 16 initiatives start in May-26. The plan exits Q4 with ₹15,161L quarterly revenue — a run-rate of ₹60,644L annualised — already ahead of the FY27 plan total. This means if the May-26 initiatives launch on time, the FY27 target is de-risked by Q3 and the business enters FY28 on a materially higher base. The single biggest risk is the BD org hiring: R-09 (₹25 Cr) is the largest single revenue initiative and depends on filling 6 open BD roles by Jun-26.</a:t>
            </a:r>
            <a:endParaRPr lang="en-US" sz="1425"/>
          </a:p>
        </p:txBody>
      </p:sp>
      <p:sp>
        <p:nvSpPr>
          <p:cNvPr id="35" name="Shape 33"/>
          <p:cNvSpPr/>
          <p:nvPr/>
        </p:nvSpPr>
        <p:spPr>
          <a:xfrm>
            <a:off x="411480" y="5138928"/>
            <a:ext cx="11338560" cy="14630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36" name="Shape 34"/>
          <p:cNvSpPr/>
          <p:nvPr/>
        </p:nvSpPr>
        <p:spPr>
          <a:xfrm>
            <a:off x="411480" y="5138928"/>
            <a:ext cx="54864" cy="1463040"/>
          </a:xfrm>
          <a:prstGeom prst="rect">
            <a:avLst/>
          </a:prstGeom>
          <a:solidFill>
            <a:srgbClr val="1A8C5B"/>
          </a:solidFill>
          <a:ln w="12700">
            <a:solidFill>
              <a:srgbClr val="1A8C5B"/>
            </a:solidFill>
            <a:prstDash val="solid"/>
          </a:ln>
        </p:spPr>
        <p:txBody>
          <a:bodyPr>
            <a:normAutofit/>
          </a:bodyPr>
          <a:lstStyle/>
          <a:p>
            <a:endParaRPr lang="en-US"/>
          </a:p>
        </p:txBody>
      </p:sp>
      <p:sp>
        <p:nvSpPr>
          <p:cNvPr id="37" name="Text 35"/>
          <p:cNvSpPr/>
          <p:nvPr/>
        </p:nvSpPr>
        <p:spPr>
          <a:xfrm>
            <a:off x="566928" y="5221224"/>
            <a:ext cx="3474720" cy="347472"/>
          </a:xfrm>
          <a:prstGeom prst="rect">
            <a:avLst/>
          </a:prstGeom>
          <a:noFill/>
          <a:ln/>
        </p:spPr>
        <p:txBody>
          <a:bodyPr wrap="square" lIns="0" tIns="0" rIns="0" bIns="0" rtlCol="0" anchor="ctr">
            <a:normAutofit/>
          </a:bodyPr>
          <a:lstStyle/>
          <a:p>
            <a:pPr marL="0" indent="0">
              <a:buNone/>
            </a:pPr>
            <a:r>
              <a:rPr lang="en-US" sz="1800" b="1">
                <a:solidFill>
                  <a:srgbClr val="1A8C5B"/>
                </a:solidFill>
                <a:latin typeface="Calibri" pitchFamily="34" charset="0"/>
                <a:ea typeface="Calibri" pitchFamily="34" charset="-122"/>
                <a:cs typeface="Calibri" pitchFamily="34" charset="-120"/>
              </a:rPr>
              <a:t>What Success Looks Like</a:t>
            </a:r>
            <a:endParaRPr lang="en-US" sz="1800"/>
          </a:p>
        </p:txBody>
      </p:sp>
      <p:sp>
        <p:nvSpPr>
          <p:cNvPr id="38" name="Text 36"/>
          <p:cNvSpPr/>
          <p:nvPr/>
        </p:nvSpPr>
        <p:spPr>
          <a:xfrm>
            <a:off x="566928" y="5568696"/>
            <a:ext cx="11018520" cy="932688"/>
          </a:xfrm>
          <a:prstGeom prst="rect">
            <a:avLst/>
          </a:prstGeom>
          <a:noFill/>
          <a:ln/>
        </p:spPr>
        <p:txBody>
          <a:bodyPr wrap="square" lIns="0" tIns="0" rIns="0" bIns="0" rtlCol="0" anchor="ctr">
            <a:normAutofit/>
          </a:bodyPr>
          <a:lstStyle/>
          <a:p>
            <a:pPr marL="0" indent="0">
              <a:buNone/>
            </a:pPr>
            <a:r>
              <a:rPr lang="en-US" sz="1425">
                <a:solidFill>
                  <a:srgbClr val="1C2B3A"/>
                </a:solidFill>
                <a:latin typeface="Calibri" pitchFamily="34" charset="0"/>
                <a:ea typeface="Calibri" pitchFamily="34" charset="-122"/>
                <a:cs typeface="Calibri" pitchFamily="34" charset="-120"/>
              </a:rPr>
              <a:t>By Mar-27: 500 registered referring doctors in the BD CRM; 4 satellite clinics open and generating IP referrals; at least 4 new senior consultants onboarded and generating procedure revenue; TPA tariff renegotiation closed with at least 8 of 10 target insurers; and contribution margin tracking at or above 57% in every month from Oct-26. These are the five leading indicators that determine whether the ₹573 Cr target is on track at the mid-year review.</a:t>
            </a:r>
            <a:endParaRPr lang="en-US" sz="142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REVENUE STREAMS &amp; INITIATIVE MAP</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FY27  ·  ₹573 Cr across four revenue streams  ·  ₹123.4 Cr initiative-driven growth</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US"/>
          </a:p>
        </p:txBody>
      </p:sp>
      <p:graphicFrame>
        <p:nvGraphicFramePr>
          <p:cNvPr id="7" name="Chart 0"/>
          <p:cNvGraphicFramePr/>
          <p:nvPr/>
        </p:nvGraphicFramePr>
        <p:xfrm>
          <a:off x="411480" y="850392"/>
          <a:ext cx="51206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715000" y="868680"/>
            <a:ext cx="6035040" cy="91440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9" name="Shape 6"/>
          <p:cNvSpPr/>
          <p:nvPr/>
        </p:nvSpPr>
        <p:spPr>
          <a:xfrm>
            <a:off x="5715000" y="868680"/>
            <a:ext cx="54864" cy="914400"/>
          </a:xfrm>
          <a:prstGeom prst="rect">
            <a:avLst/>
          </a:prstGeom>
          <a:solidFill>
            <a:srgbClr val="2E7AB6"/>
          </a:solidFill>
          <a:ln w="12700">
            <a:solidFill>
              <a:srgbClr val="2E7AB6"/>
            </a:solidFill>
            <a:prstDash val="solid"/>
          </a:ln>
        </p:spPr>
        <p:txBody>
          <a:bodyPr>
            <a:normAutofit/>
          </a:bodyPr>
          <a:lstStyle/>
          <a:p>
            <a:endParaRPr lang="en-US"/>
          </a:p>
        </p:txBody>
      </p:sp>
      <p:sp>
        <p:nvSpPr>
          <p:cNvPr id="10" name="Text 7"/>
          <p:cNvSpPr/>
          <p:nvPr/>
        </p:nvSpPr>
        <p:spPr>
          <a:xfrm>
            <a:off x="5870448" y="932688"/>
            <a:ext cx="3200400" cy="310896"/>
          </a:xfrm>
          <a:prstGeom prst="rect">
            <a:avLst/>
          </a:prstGeom>
          <a:noFill/>
          <a:ln/>
        </p:spPr>
        <p:txBody>
          <a:bodyPr wrap="square" lIns="0" tIns="0" rIns="0" bIns="0" rtlCol="0" anchor="ctr">
            <a:normAutofit/>
          </a:bodyPr>
          <a:lstStyle/>
          <a:p>
            <a:pPr marL="0" indent="0">
              <a:buNone/>
            </a:pPr>
            <a:r>
              <a:rPr lang="en-US" sz="1800" b="1">
                <a:solidFill>
                  <a:srgbClr val="1C2B3A"/>
                </a:solidFill>
                <a:latin typeface="Calibri" pitchFamily="34" charset="0"/>
                <a:ea typeface="Calibri" pitchFamily="34" charset="-122"/>
                <a:cs typeface="Calibri" pitchFamily="34" charset="-120"/>
              </a:rPr>
              <a:t>Pricing &amp; Yield</a:t>
            </a:r>
            <a:endParaRPr lang="en-US" sz="1800"/>
          </a:p>
        </p:txBody>
      </p:sp>
      <p:sp>
        <p:nvSpPr>
          <p:cNvPr id="11" name="Text 8"/>
          <p:cNvSpPr/>
          <p:nvPr/>
        </p:nvSpPr>
        <p:spPr>
          <a:xfrm>
            <a:off x="5870448" y="1271016"/>
            <a:ext cx="3200400" cy="402336"/>
          </a:xfrm>
          <a:prstGeom prst="rect">
            <a:avLst/>
          </a:prstGeom>
          <a:noFill/>
          <a:ln/>
        </p:spPr>
        <p:txBody>
          <a:bodyPr wrap="square" lIns="0" tIns="0" rIns="0" bIns="0" rtlCol="0" anchor="ctr">
            <a:normAutofit lnSpcReduction="10000"/>
          </a:bodyPr>
          <a:lstStyle/>
          <a:p>
            <a:pPr marL="0" indent="0">
              <a:buNone/>
            </a:pPr>
            <a:r>
              <a:rPr lang="en-US" sz="1425">
                <a:solidFill>
                  <a:srgbClr val="5A7A96"/>
                </a:solidFill>
                <a:latin typeface="Calibri" pitchFamily="34" charset="0"/>
                <a:ea typeface="Calibri" pitchFamily="34" charset="-122"/>
                <a:cs typeface="Calibri" pitchFamily="34" charset="-120"/>
              </a:rPr>
              <a:t>Rate revision, procedure repricing, insurance renegotiation</a:t>
            </a:r>
            <a:endParaRPr lang="en-US" sz="1425"/>
          </a:p>
        </p:txBody>
      </p:sp>
      <p:sp>
        <p:nvSpPr>
          <p:cNvPr id="12" name="Text 9"/>
          <p:cNvSpPr/>
          <p:nvPr/>
        </p:nvSpPr>
        <p:spPr>
          <a:xfrm>
            <a:off x="9326880" y="996696"/>
            <a:ext cx="2240280" cy="594360"/>
          </a:xfrm>
          <a:prstGeom prst="rect">
            <a:avLst/>
          </a:prstGeom>
          <a:noFill/>
          <a:ln/>
        </p:spPr>
        <p:txBody>
          <a:bodyPr wrap="square" lIns="0" tIns="0" rIns="0" bIns="0" rtlCol="0" anchor="ctr">
            <a:normAutofit/>
          </a:bodyPr>
          <a:lstStyle/>
          <a:p>
            <a:pPr marL="0" indent="0" algn="r">
              <a:buNone/>
            </a:pPr>
            <a:r>
              <a:rPr lang="en-US" sz="2000" b="1" dirty="0">
                <a:solidFill>
                  <a:srgbClr val="2E7AB6"/>
                </a:solidFill>
                <a:latin typeface="Calibri" pitchFamily="34" charset="0"/>
                <a:ea typeface="Calibri" pitchFamily="34" charset="-122"/>
                <a:cs typeface="Calibri" pitchFamily="34" charset="-120"/>
              </a:rPr>
              <a:t>₹21.1 Cr</a:t>
            </a:r>
            <a:endParaRPr lang="en-US" sz="2000" dirty="0"/>
          </a:p>
        </p:txBody>
      </p:sp>
      <p:sp>
        <p:nvSpPr>
          <p:cNvPr id="13" name="Shape 10"/>
          <p:cNvSpPr/>
          <p:nvPr/>
        </p:nvSpPr>
        <p:spPr>
          <a:xfrm>
            <a:off x="5715000" y="1883664"/>
            <a:ext cx="6035040" cy="91440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4" name="Shape 11"/>
          <p:cNvSpPr/>
          <p:nvPr/>
        </p:nvSpPr>
        <p:spPr>
          <a:xfrm>
            <a:off x="5715000" y="1883664"/>
            <a:ext cx="54864" cy="914400"/>
          </a:xfrm>
          <a:prstGeom prst="rect">
            <a:avLst/>
          </a:prstGeom>
          <a:solidFill>
            <a:srgbClr val="2E7AB6"/>
          </a:solidFill>
          <a:ln w="12700">
            <a:solidFill>
              <a:srgbClr val="2E7AB6"/>
            </a:solidFill>
            <a:prstDash val="solid"/>
          </a:ln>
        </p:spPr>
        <p:txBody>
          <a:bodyPr>
            <a:normAutofit/>
          </a:bodyPr>
          <a:lstStyle/>
          <a:p>
            <a:endParaRPr lang="en-US"/>
          </a:p>
        </p:txBody>
      </p:sp>
      <p:sp>
        <p:nvSpPr>
          <p:cNvPr id="15" name="Text 12"/>
          <p:cNvSpPr/>
          <p:nvPr/>
        </p:nvSpPr>
        <p:spPr>
          <a:xfrm>
            <a:off x="5870448" y="1947672"/>
            <a:ext cx="3200400" cy="310896"/>
          </a:xfrm>
          <a:prstGeom prst="rect">
            <a:avLst/>
          </a:prstGeom>
          <a:noFill/>
          <a:ln/>
        </p:spPr>
        <p:txBody>
          <a:bodyPr wrap="square" lIns="0" tIns="0" rIns="0" bIns="0" rtlCol="0" anchor="ctr">
            <a:normAutofit/>
          </a:bodyPr>
          <a:lstStyle/>
          <a:p>
            <a:pPr marL="0" indent="0">
              <a:buNone/>
            </a:pPr>
            <a:r>
              <a:rPr lang="en-US" sz="1800" b="1">
                <a:solidFill>
                  <a:srgbClr val="1C2B3A"/>
                </a:solidFill>
                <a:latin typeface="Calibri" pitchFamily="34" charset="0"/>
                <a:ea typeface="Calibri" pitchFamily="34" charset="-122"/>
                <a:cs typeface="Calibri" pitchFamily="34" charset="-120"/>
              </a:rPr>
              <a:t>Network Expansion</a:t>
            </a:r>
            <a:endParaRPr lang="en-US" sz="1800"/>
          </a:p>
        </p:txBody>
      </p:sp>
      <p:sp>
        <p:nvSpPr>
          <p:cNvPr id="16" name="Text 13"/>
          <p:cNvSpPr/>
          <p:nvPr/>
        </p:nvSpPr>
        <p:spPr>
          <a:xfrm>
            <a:off x="5870448" y="2286000"/>
            <a:ext cx="3200400" cy="402336"/>
          </a:xfrm>
          <a:prstGeom prst="rect">
            <a:avLst/>
          </a:prstGeom>
          <a:noFill/>
          <a:ln/>
        </p:spPr>
        <p:txBody>
          <a:bodyPr wrap="square" lIns="0" tIns="0" rIns="0" bIns="0" rtlCol="0" anchor="ctr">
            <a:normAutofit lnSpcReduction="10000"/>
          </a:bodyPr>
          <a:lstStyle/>
          <a:p>
            <a:pPr marL="0" indent="0">
              <a:buNone/>
            </a:pPr>
            <a:r>
              <a:rPr lang="en-US" sz="1425">
                <a:solidFill>
                  <a:srgbClr val="5A7A96"/>
                </a:solidFill>
                <a:latin typeface="Calibri" pitchFamily="34" charset="0"/>
                <a:ea typeface="Calibri" pitchFamily="34" charset="-122"/>
                <a:cs typeface="Calibri" pitchFamily="34" charset="-120"/>
              </a:rPr>
              <a:t>Satellite clinics, corporate health, community outreach</a:t>
            </a:r>
            <a:endParaRPr lang="en-US" sz="1425"/>
          </a:p>
        </p:txBody>
      </p:sp>
      <p:sp>
        <p:nvSpPr>
          <p:cNvPr id="17" name="Text 14"/>
          <p:cNvSpPr/>
          <p:nvPr/>
        </p:nvSpPr>
        <p:spPr>
          <a:xfrm>
            <a:off x="9326880" y="2011680"/>
            <a:ext cx="2240280" cy="594360"/>
          </a:xfrm>
          <a:prstGeom prst="rect">
            <a:avLst/>
          </a:prstGeom>
          <a:noFill/>
          <a:ln/>
        </p:spPr>
        <p:txBody>
          <a:bodyPr wrap="square" lIns="0" tIns="0" rIns="0" bIns="0" rtlCol="0" anchor="ctr">
            <a:normAutofit/>
          </a:bodyPr>
          <a:lstStyle/>
          <a:p>
            <a:pPr marL="0" indent="0" algn="r">
              <a:buNone/>
            </a:pPr>
            <a:r>
              <a:rPr lang="en-US" sz="2000" b="1" dirty="0">
                <a:solidFill>
                  <a:srgbClr val="2E7AB6"/>
                </a:solidFill>
                <a:latin typeface="Calibri" pitchFamily="34" charset="0"/>
                <a:ea typeface="Calibri" pitchFamily="34" charset="-122"/>
                <a:cs typeface="Calibri" pitchFamily="34" charset="-120"/>
              </a:rPr>
              <a:t>₹21.0 Cr</a:t>
            </a:r>
            <a:endParaRPr lang="en-US" sz="2000" dirty="0"/>
          </a:p>
        </p:txBody>
      </p:sp>
      <p:sp>
        <p:nvSpPr>
          <p:cNvPr id="18" name="Shape 15"/>
          <p:cNvSpPr/>
          <p:nvPr/>
        </p:nvSpPr>
        <p:spPr>
          <a:xfrm>
            <a:off x="5715000" y="2898648"/>
            <a:ext cx="6035040" cy="91440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9" name="Shape 16"/>
          <p:cNvSpPr/>
          <p:nvPr/>
        </p:nvSpPr>
        <p:spPr>
          <a:xfrm>
            <a:off x="5715000" y="2898648"/>
            <a:ext cx="54864" cy="914400"/>
          </a:xfrm>
          <a:prstGeom prst="rect">
            <a:avLst/>
          </a:prstGeom>
          <a:solidFill>
            <a:srgbClr val="BE1558"/>
          </a:solidFill>
          <a:ln w="12700">
            <a:solidFill>
              <a:srgbClr val="BE1558"/>
            </a:solidFill>
            <a:prstDash val="solid"/>
          </a:ln>
        </p:spPr>
        <p:txBody>
          <a:bodyPr>
            <a:normAutofit/>
          </a:bodyPr>
          <a:lstStyle/>
          <a:p>
            <a:endParaRPr lang="en-US"/>
          </a:p>
        </p:txBody>
      </p:sp>
      <p:sp>
        <p:nvSpPr>
          <p:cNvPr id="20" name="Text 17"/>
          <p:cNvSpPr/>
          <p:nvPr/>
        </p:nvSpPr>
        <p:spPr>
          <a:xfrm>
            <a:off x="5870448" y="2962656"/>
            <a:ext cx="3200400" cy="310896"/>
          </a:xfrm>
          <a:prstGeom prst="rect">
            <a:avLst/>
          </a:prstGeom>
          <a:noFill/>
          <a:ln/>
        </p:spPr>
        <p:txBody>
          <a:bodyPr wrap="square" lIns="0" tIns="0" rIns="0" bIns="0" rtlCol="0" anchor="ctr">
            <a:normAutofit/>
          </a:bodyPr>
          <a:lstStyle/>
          <a:p>
            <a:pPr marL="0" indent="0">
              <a:buNone/>
            </a:pPr>
            <a:r>
              <a:rPr lang="en-US" sz="1800" b="1">
                <a:solidFill>
                  <a:srgbClr val="1C2B3A"/>
                </a:solidFill>
                <a:latin typeface="Calibri" pitchFamily="34" charset="0"/>
                <a:ea typeface="Calibri" pitchFamily="34" charset="-122"/>
                <a:cs typeface="Calibri" pitchFamily="34" charset="-120"/>
              </a:rPr>
              <a:t>Referral Growth</a:t>
            </a:r>
            <a:endParaRPr lang="en-US" sz="1800"/>
          </a:p>
        </p:txBody>
      </p:sp>
      <p:sp>
        <p:nvSpPr>
          <p:cNvPr id="21" name="Text 18"/>
          <p:cNvSpPr/>
          <p:nvPr/>
        </p:nvSpPr>
        <p:spPr>
          <a:xfrm>
            <a:off x="5870448" y="3300984"/>
            <a:ext cx="3200400" cy="402336"/>
          </a:xfrm>
          <a:prstGeom prst="rect">
            <a:avLst/>
          </a:prstGeom>
          <a:noFill/>
          <a:ln/>
        </p:spPr>
        <p:txBody>
          <a:bodyPr wrap="square" lIns="0" tIns="0" rIns="0" bIns="0" rtlCol="0" anchor="ctr">
            <a:normAutofit lnSpcReduction="10000"/>
          </a:bodyPr>
          <a:lstStyle/>
          <a:p>
            <a:pPr marL="0" indent="0">
              <a:buNone/>
            </a:pPr>
            <a:r>
              <a:rPr lang="en-US" sz="1425">
                <a:solidFill>
                  <a:srgbClr val="5A7A96"/>
                </a:solidFill>
                <a:latin typeface="Calibri" pitchFamily="34" charset="0"/>
                <a:ea typeface="Calibri" pitchFamily="34" charset="-122"/>
                <a:cs typeface="Calibri" pitchFamily="34" charset="-120"/>
              </a:rPr>
              <a:t>BD organisation, MVT, govt schemes, OP-to-IP conversion</a:t>
            </a:r>
            <a:endParaRPr lang="en-US" sz="1425"/>
          </a:p>
        </p:txBody>
      </p:sp>
      <p:sp>
        <p:nvSpPr>
          <p:cNvPr id="22" name="Text 19"/>
          <p:cNvSpPr/>
          <p:nvPr/>
        </p:nvSpPr>
        <p:spPr>
          <a:xfrm>
            <a:off x="9326880" y="3026664"/>
            <a:ext cx="2240280" cy="594360"/>
          </a:xfrm>
          <a:prstGeom prst="rect">
            <a:avLst/>
          </a:prstGeom>
          <a:noFill/>
          <a:ln/>
        </p:spPr>
        <p:txBody>
          <a:bodyPr wrap="square" lIns="0" tIns="0" rIns="0" bIns="0" rtlCol="0" anchor="ctr">
            <a:normAutofit/>
          </a:bodyPr>
          <a:lstStyle/>
          <a:p>
            <a:pPr marL="0" indent="0" algn="r">
              <a:buNone/>
            </a:pPr>
            <a:r>
              <a:rPr lang="en-US" sz="2000" b="1" dirty="0">
                <a:solidFill>
                  <a:srgbClr val="BE1558"/>
                </a:solidFill>
                <a:latin typeface="Calibri" pitchFamily="34" charset="0"/>
                <a:ea typeface="Calibri" pitchFamily="34" charset="-122"/>
                <a:cs typeface="Calibri" pitchFamily="34" charset="-120"/>
              </a:rPr>
              <a:t>₹38.0 Cr</a:t>
            </a:r>
            <a:endParaRPr lang="en-US" sz="2000" dirty="0"/>
          </a:p>
        </p:txBody>
      </p:sp>
      <p:sp>
        <p:nvSpPr>
          <p:cNvPr id="23" name="Shape 20"/>
          <p:cNvSpPr/>
          <p:nvPr/>
        </p:nvSpPr>
        <p:spPr>
          <a:xfrm>
            <a:off x="5715000" y="3913632"/>
            <a:ext cx="6035040" cy="91440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24" name="Shape 21"/>
          <p:cNvSpPr/>
          <p:nvPr/>
        </p:nvSpPr>
        <p:spPr>
          <a:xfrm>
            <a:off x="5715000" y="3913632"/>
            <a:ext cx="54864" cy="914400"/>
          </a:xfrm>
          <a:prstGeom prst="rect">
            <a:avLst/>
          </a:prstGeom>
          <a:solidFill>
            <a:srgbClr val="BE1558"/>
          </a:solidFill>
          <a:ln w="12700">
            <a:solidFill>
              <a:srgbClr val="BE1558"/>
            </a:solidFill>
            <a:prstDash val="solid"/>
          </a:ln>
        </p:spPr>
        <p:txBody>
          <a:bodyPr>
            <a:normAutofit/>
          </a:bodyPr>
          <a:lstStyle/>
          <a:p>
            <a:endParaRPr lang="en-US"/>
          </a:p>
        </p:txBody>
      </p:sp>
      <p:sp>
        <p:nvSpPr>
          <p:cNvPr id="25" name="Text 22"/>
          <p:cNvSpPr/>
          <p:nvPr/>
        </p:nvSpPr>
        <p:spPr>
          <a:xfrm>
            <a:off x="5870448" y="3977640"/>
            <a:ext cx="3200400" cy="310896"/>
          </a:xfrm>
          <a:prstGeom prst="rect">
            <a:avLst/>
          </a:prstGeom>
          <a:noFill/>
          <a:ln/>
        </p:spPr>
        <p:txBody>
          <a:bodyPr wrap="square" lIns="0" tIns="0" rIns="0" bIns="0" rtlCol="0" anchor="ctr">
            <a:normAutofit/>
          </a:bodyPr>
          <a:lstStyle/>
          <a:p>
            <a:pPr marL="0" indent="0">
              <a:buNone/>
            </a:pPr>
            <a:r>
              <a:rPr lang="en-US" sz="1800" b="1">
                <a:solidFill>
                  <a:srgbClr val="1C2B3A"/>
                </a:solidFill>
                <a:latin typeface="Calibri" pitchFamily="34" charset="0"/>
                <a:ea typeface="Calibri" pitchFamily="34" charset="-122"/>
                <a:cs typeface="Calibri" pitchFamily="34" charset="-120"/>
              </a:rPr>
              <a:t>High-Value Services</a:t>
            </a:r>
            <a:endParaRPr lang="en-US" sz="1800"/>
          </a:p>
        </p:txBody>
      </p:sp>
      <p:sp>
        <p:nvSpPr>
          <p:cNvPr id="26" name="Text 23"/>
          <p:cNvSpPr/>
          <p:nvPr/>
        </p:nvSpPr>
        <p:spPr>
          <a:xfrm>
            <a:off x="5870448" y="4315968"/>
            <a:ext cx="3200400" cy="402336"/>
          </a:xfrm>
          <a:prstGeom prst="rect">
            <a:avLst/>
          </a:prstGeom>
          <a:noFill/>
          <a:ln/>
        </p:spPr>
        <p:txBody>
          <a:bodyPr wrap="square" lIns="0" tIns="0" rIns="0" bIns="0" rtlCol="0" anchor="ctr">
            <a:normAutofit lnSpcReduction="10000"/>
          </a:bodyPr>
          <a:lstStyle/>
          <a:p>
            <a:pPr marL="0" indent="0">
              <a:buNone/>
            </a:pPr>
            <a:r>
              <a:rPr lang="en-US" sz="1425">
                <a:solidFill>
                  <a:srgbClr val="5A7A96"/>
                </a:solidFill>
                <a:latin typeface="Calibri" pitchFamily="34" charset="0"/>
                <a:ea typeface="Calibri" pitchFamily="34" charset="-122"/>
                <a:cs typeface="Calibri" pitchFamily="34" charset="-120"/>
              </a:rPr>
              <a:t>Clinician recruitment, new specialties, dept organic growth</a:t>
            </a:r>
            <a:endParaRPr lang="en-US" sz="1425"/>
          </a:p>
        </p:txBody>
      </p:sp>
      <p:sp>
        <p:nvSpPr>
          <p:cNvPr id="27" name="Text 24"/>
          <p:cNvSpPr/>
          <p:nvPr/>
        </p:nvSpPr>
        <p:spPr>
          <a:xfrm>
            <a:off x="9326880" y="4041648"/>
            <a:ext cx="2240280" cy="594360"/>
          </a:xfrm>
          <a:prstGeom prst="rect">
            <a:avLst/>
          </a:prstGeom>
          <a:noFill/>
          <a:ln/>
        </p:spPr>
        <p:txBody>
          <a:bodyPr wrap="square" lIns="0" tIns="0" rIns="0" bIns="0" rtlCol="0" anchor="ctr">
            <a:normAutofit/>
          </a:bodyPr>
          <a:lstStyle/>
          <a:p>
            <a:pPr marL="0" indent="0" algn="r">
              <a:buNone/>
            </a:pPr>
            <a:r>
              <a:rPr lang="en-US" sz="2000" b="1" dirty="0">
                <a:solidFill>
                  <a:srgbClr val="BE1558"/>
                </a:solidFill>
                <a:latin typeface="Calibri" pitchFamily="34" charset="0"/>
                <a:ea typeface="Calibri" pitchFamily="34" charset="-122"/>
                <a:cs typeface="Calibri" pitchFamily="34" charset="-120"/>
              </a:rPr>
              <a:t>₹34.8 Cr</a:t>
            </a:r>
            <a:endParaRPr lang="en-US" sz="2000" dirty="0"/>
          </a:p>
        </p:txBody>
      </p:sp>
      <p:sp>
        <p:nvSpPr>
          <p:cNvPr id="28" name="Shape 25"/>
          <p:cNvSpPr/>
          <p:nvPr/>
        </p:nvSpPr>
        <p:spPr>
          <a:xfrm>
            <a:off x="5715000" y="4928616"/>
            <a:ext cx="6035040" cy="91440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29" name="Shape 26"/>
          <p:cNvSpPr/>
          <p:nvPr/>
        </p:nvSpPr>
        <p:spPr>
          <a:xfrm>
            <a:off x="5715000" y="4928616"/>
            <a:ext cx="54864" cy="914400"/>
          </a:xfrm>
          <a:prstGeom prst="rect">
            <a:avLst/>
          </a:prstGeom>
          <a:solidFill>
            <a:srgbClr val="2E7AB6"/>
          </a:solidFill>
          <a:ln w="12700">
            <a:solidFill>
              <a:srgbClr val="2E7AB6"/>
            </a:solidFill>
            <a:prstDash val="solid"/>
          </a:ln>
        </p:spPr>
        <p:txBody>
          <a:bodyPr>
            <a:normAutofit/>
          </a:bodyPr>
          <a:lstStyle/>
          <a:p>
            <a:endParaRPr lang="en-US"/>
          </a:p>
        </p:txBody>
      </p:sp>
      <p:sp>
        <p:nvSpPr>
          <p:cNvPr id="30" name="Text 27"/>
          <p:cNvSpPr/>
          <p:nvPr/>
        </p:nvSpPr>
        <p:spPr>
          <a:xfrm>
            <a:off x="5870448" y="4992624"/>
            <a:ext cx="3200400" cy="310896"/>
          </a:xfrm>
          <a:prstGeom prst="rect">
            <a:avLst/>
          </a:prstGeom>
          <a:noFill/>
          <a:ln/>
        </p:spPr>
        <p:txBody>
          <a:bodyPr wrap="square" lIns="0" tIns="0" rIns="0" bIns="0" rtlCol="0" anchor="ctr">
            <a:normAutofit/>
          </a:bodyPr>
          <a:lstStyle/>
          <a:p>
            <a:pPr marL="0" indent="0">
              <a:buNone/>
            </a:pPr>
            <a:r>
              <a:rPr lang="en-US" sz="1800" b="1">
                <a:solidFill>
                  <a:srgbClr val="1C2B3A"/>
                </a:solidFill>
                <a:latin typeface="Calibri" pitchFamily="34" charset="0"/>
                <a:ea typeface="Calibri" pitchFamily="34" charset="-122"/>
                <a:cs typeface="Calibri" pitchFamily="34" charset="-120"/>
              </a:rPr>
              <a:t>Marketing &amp; Income</a:t>
            </a:r>
            <a:endParaRPr lang="en-US" sz="1800"/>
          </a:p>
        </p:txBody>
      </p:sp>
      <p:sp>
        <p:nvSpPr>
          <p:cNvPr id="31" name="Text 28"/>
          <p:cNvSpPr/>
          <p:nvPr/>
        </p:nvSpPr>
        <p:spPr>
          <a:xfrm>
            <a:off x="5870448" y="5330952"/>
            <a:ext cx="3200400" cy="402336"/>
          </a:xfrm>
          <a:prstGeom prst="rect">
            <a:avLst/>
          </a:prstGeom>
          <a:noFill/>
          <a:ln/>
        </p:spPr>
        <p:txBody>
          <a:bodyPr wrap="square" lIns="0" tIns="0" rIns="0" bIns="0" rtlCol="0" anchor="ctr">
            <a:normAutofit lnSpcReduction="10000"/>
          </a:bodyPr>
          <a:lstStyle/>
          <a:p>
            <a:pPr marL="0" indent="0">
              <a:buNone/>
            </a:pPr>
            <a:r>
              <a:rPr lang="en-US" sz="1425">
                <a:solidFill>
                  <a:srgbClr val="5A7A96"/>
                </a:solidFill>
                <a:latin typeface="Calibri" pitchFamily="34" charset="0"/>
                <a:ea typeface="Calibri" pitchFamily="34" charset="-122"/>
                <a:cs typeface="Calibri" pitchFamily="34" charset="-120"/>
              </a:rPr>
              <a:t>Digital acquisition, health events, treasury optimisation</a:t>
            </a:r>
            <a:endParaRPr lang="en-US" sz="1425"/>
          </a:p>
        </p:txBody>
      </p:sp>
      <p:sp>
        <p:nvSpPr>
          <p:cNvPr id="32" name="Text 29"/>
          <p:cNvSpPr/>
          <p:nvPr/>
        </p:nvSpPr>
        <p:spPr>
          <a:xfrm>
            <a:off x="9326880" y="5056632"/>
            <a:ext cx="2240280" cy="594360"/>
          </a:xfrm>
          <a:prstGeom prst="rect">
            <a:avLst/>
          </a:prstGeom>
          <a:noFill/>
          <a:ln/>
        </p:spPr>
        <p:txBody>
          <a:bodyPr wrap="square" lIns="0" tIns="0" rIns="0" bIns="0" rtlCol="0" anchor="ctr">
            <a:normAutofit/>
          </a:bodyPr>
          <a:lstStyle/>
          <a:p>
            <a:pPr marL="0" indent="0" algn="r">
              <a:buNone/>
            </a:pPr>
            <a:r>
              <a:rPr lang="en-US" sz="2000" b="1" dirty="0">
                <a:solidFill>
                  <a:srgbClr val="2E7AB6"/>
                </a:solidFill>
                <a:latin typeface="Calibri" pitchFamily="34" charset="0"/>
                <a:ea typeface="Calibri" pitchFamily="34" charset="-122"/>
                <a:cs typeface="Calibri" pitchFamily="34" charset="-120"/>
              </a:rPr>
              <a:t>₹8.5 Cr</a:t>
            </a:r>
            <a:endParaRPr lang="en-US" sz="2000" dirty="0"/>
          </a:p>
        </p:txBody>
      </p:sp>
      <p:sp>
        <p:nvSpPr>
          <p:cNvPr id="33" name="Shape 30"/>
          <p:cNvSpPr/>
          <p:nvPr/>
        </p:nvSpPr>
        <p:spPr>
          <a:xfrm>
            <a:off x="411480" y="6080760"/>
            <a:ext cx="11338560" cy="594360"/>
          </a:xfrm>
          <a:prstGeom prst="rect">
            <a:avLst/>
          </a:prstGeom>
          <a:solidFill>
            <a:srgbClr val="1C2B3A"/>
          </a:solidFill>
          <a:ln w="12700">
            <a:solidFill>
              <a:srgbClr val="1C2B3A"/>
            </a:solidFill>
            <a:prstDash val="solid"/>
          </a:ln>
        </p:spPr>
        <p:txBody>
          <a:bodyPr>
            <a:normAutofit/>
          </a:bodyPr>
          <a:lstStyle/>
          <a:p>
            <a:endParaRPr lang="en-US"/>
          </a:p>
        </p:txBody>
      </p:sp>
      <p:sp>
        <p:nvSpPr>
          <p:cNvPr id="34" name="Text 31"/>
          <p:cNvSpPr/>
          <p:nvPr/>
        </p:nvSpPr>
        <p:spPr>
          <a:xfrm>
            <a:off x="594360" y="6144768"/>
            <a:ext cx="5486400" cy="347472"/>
          </a:xfrm>
          <a:prstGeom prst="rect">
            <a:avLst/>
          </a:prstGeom>
          <a:noFill/>
          <a:ln/>
        </p:spPr>
        <p:txBody>
          <a:bodyPr wrap="square" lIns="0" tIns="0" rIns="0" bIns="0" rtlCol="0" anchor="ctr">
            <a:normAutofit/>
          </a:bodyPr>
          <a:lstStyle/>
          <a:p>
            <a:pPr marL="0" indent="0">
              <a:buNone/>
            </a:pPr>
            <a:r>
              <a:rPr lang="en-US" sz="1800" b="1">
                <a:solidFill>
                  <a:srgbClr val="FFFFFF"/>
                </a:solidFill>
                <a:latin typeface="Calibri" pitchFamily="34" charset="0"/>
                <a:ea typeface="Calibri" pitchFamily="34" charset="-122"/>
                <a:cs typeface="Calibri" pitchFamily="34" charset="-120"/>
              </a:rPr>
              <a:t>Total Initiative Revenue Impact</a:t>
            </a:r>
            <a:endParaRPr lang="en-US" sz="1800"/>
          </a:p>
        </p:txBody>
      </p:sp>
      <p:sp>
        <p:nvSpPr>
          <p:cNvPr id="35" name="Text 32"/>
          <p:cNvSpPr/>
          <p:nvPr/>
        </p:nvSpPr>
        <p:spPr>
          <a:xfrm>
            <a:off x="594360" y="6419088"/>
            <a:ext cx="6858000" cy="201168"/>
          </a:xfrm>
          <a:prstGeom prst="rect">
            <a:avLst/>
          </a:prstGeom>
          <a:noFill/>
          <a:ln/>
        </p:spPr>
        <p:txBody>
          <a:bodyPr wrap="square" lIns="0" tIns="0" rIns="0" bIns="0" rtlCol="0" anchor="ctr">
            <a:normAutofit/>
          </a:bodyPr>
          <a:lstStyle/>
          <a:p>
            <a:pPr marL="0" indent="0">
              <a:buNone/>
            </a:pPr>
            <a:r>
              <a:rPr lang="en-US" sz="1275">
                <a:solidFill>
                  <a:srgbClr val="7AAAC5"/>
                </a:solidFill>
                <a:latin typeface="Calibri" pitchFamily="34" charset="0"/>
                <a:ea typeface="Calibri" pitchFamily="34" charset="-122"/>
                <a:cs typeface="Calibri" pitchFamily="34" charset="-120"/>
              </a:rPr>
              <a:t>Drives ₹573 Cr total from ₹453 Cr run-rate base  ·  16 initiatives  ·  Apr–Sep 26 start window</a:t>
            </a:r>
            <a:endParaRPr lang="en-US" sz="1275"/>
          </a:p>
        </p:txBody>
      </p:sp>
      <p:sp>
        <p:nvSpPr>
          <p:cNvPr id="36" name="Text 33"/>
          <p:cNvSpPr/>
          <p:nvPr/>
        </p:nvSpPr>
        <p:spPr>
          <a:xfrm>
            <a:off x="8229600" y="6108192"/>
            <a:ext cx="3383280" cy="502920"/>
          </a:xfrm>
          <a:prstGeom prst="rect">
            <a:avLst/>
          </a:prstGeom>
          <a:noFill/>
          <a:ln/>
        </p:spPr>
        <p:txBody>
          <a:bodyPr wrap="square" lIns="0" tIns="0" rIns="0" bIns="0" rtlCol="0" anchor="ctr">
            <a:normAutofit/>
          </a:bodyPr>
          <a:lstStyle/>
          <a:p>
            <a:pPr marL="0" indent="0" algn="r">
              <a:buNone/>
            </a:pPr>
            <a:r>
              <a:rPr lang="en-US" sz="2800" b="1" dirty="0">
                <a:solidFill>
                  <a:srgbClr val="FFFFFF"/>
                </a:solidFill>
                <a:latin typeface="Calibri" pitchFamily="34" charset="0"/>
                <a:ea typeface="Calibri" pitchFamily="34" charset="-122"/>
                <a:cs typeface="Calibri" pitchFamily="34" charset="-120"/>
              </a:rPr>
              <a:t>₹123.4 Cr</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REVENUE INITIATIVES — ALL 16 AT A GLANCE</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Category  ·  Start Month  ·  Annual Impact</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US"/>
          </a:p>
        </p:txBody>
      </p:sp>
      <p:graphicFrame>
        <p:nvGraphicFramePr>
          <p:cNvPr id="11" name="Table 0"/>
          <p:cNvGraphicFramePr>
            <a:graphicFrameLocks noGrp="1"/>
          </p:cNvGraphicFramePr>
          <p:nvPr>
            <p:extLst>
              <p:ext uri="{D42A27DB-BD31-4B8C-83A1-F6EECF244321}">
                <p14:modId xmlns:p14="http://schemas.microsoft.com/office/powerpoint/2010/main" val="3739229122"/>
              </p:ext>
            </p:extLst>
          </p:nvPr>
        </p:nvGraphicFramePr>
        <p:xfrm>
          <a:off x="411480" y="850392"/>
          <a:ext cx="11338560" cy="5277583"/>
        </p:xfrm>
        <a:graphic>
          <a:graphicData uri="http://schemas.openxmlformats.org/drawingml/2006/table">
            <a:tbl>
              <a:tblPr/>
              <a:tblGrid>
                <a:gridCol w="77724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290293">
                <a:tc>
                  <a:txBody>
                    <a:bodyPr/>
                    <a:lstStyle/>
                    <a:p>
                      <a:pPr marL="0" indent="0" algn="l">
                        <a:buNone/>
                      </a:pPr>
                      <a:r>
                        <a:rPr lang="en-US" sz="1075" b="1">
                          <a:solidFill>
                            <a:srgbClr val="FFFFFF"/>
                          </a:solidFill>
                          <a:latin typeface="Calibri" pitchFamily="34" charset="0"/>
                          <a:ea typeface="Calibri" pitchFamily="34" charset="-122"/>
                          <a:cs typeface="Calibri" pitchFamily="34" charset="-120"/>
                        </a:rPr>
                        <a:t>ID</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l">
                        <a:buNone/>
                      </a:pPr>
                      <a:r>
                        <a:rPr lang="en-US" sz="1075" b="1">
                          <a:solidFill>
                            <a:srgbClr val="FFFFFF"/>
                          </a:solidFill>
                          <a:latin typeface="Calibri" pitchFamily="34" charset="0"/>
                          <a:ea typeface="Calibri" pitchFamily="34" charset="-122"/>
                          <a:cs typeface="Calibri" pitchFamily="34" charset="-120"/>
                        </a:rPr>
                        <a:t>INITIATIVE</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l">
                        <a:buNone/>
                      </a:pPr>
                      <a:r>
                        <a:rPr lang="en-US" sz="1075" b="1">
                          <a:solidFill>
                            <a:srgbClr val="FFFFFF"/>
                          </a:solidFill>
                          <a:latin typeface="Calibri" pitchFamily="34" charset="0"/>
                          <a:ea typeface="Calibri" pitchFamily="34" charset="-122"/>
                          <a:cs typeface="Calibri" pitchFamily="34" charset="-120"/>
                        </a:rPr>
                        <a:t>CATEGORY</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l">
                        <a:buNone/>
                      </a:pPr>
                      <a:r>
                        <a:rPr lang="en-US" sz="1075" b="1">
                          <a:solidFill>
                            <a:srgbClr val="FFFFFF"/>
                          </a:solidFill>
                          <a:latin typeface="Calibri" pitchFamily="34" charset="0"/>
                          <a:ea typeface="Calibri" pitchFamily="34" charset="-122"/>
                          <a:cs typeface="Calibri" pitchFamily="34" charset="-120"/>
                        </a:rPr>
                        <a:t>START</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r">
                        <a:buNone/>
                      </a:pPr>
                      <a:r>
                        <a:rPr lang="en-US" sz="1075" b="1">
                          <a:solidFill>
                            <a:srgbClr val="FFFFFF"/>
                          </a:solidFill>
                          <a:latin typeface="Calibri" pitchFamily="34" charset="0"/>
                          <a:ea typeface="Calibri" pitchFamily="34" charset="-122"/>
                          <a:cs typeface="Calibri" pitchFamily="34" charset="-120"/>
                        </a:rPr>
                        <a:t>IMPACT</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extLst>
                  <a:ext uri="{0D108BD9-81ED-4DB2-BD59-A6C34878D82A}">
                    <a16:rowId xmlns:a16="http://schemas.microsoft.com/office/drawing/2014/main" val="10000"/>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R-01</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Annual Rate Revision</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Pricing &amp; Yield</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Apr-26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₹9.6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R-02</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Procedure Contribution Framework</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Pricing &amp; Yield</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Apr-26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₹2.5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2"/>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R-03</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Insurance Renegotiation &amp; Empanelment</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Pricing &amp; Yield</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Apr-26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₹9.0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R-04</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Distributed Healthcare Network</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Network Expansion</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May-26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₹13.0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4"/>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R-05</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Corporate Health Programme</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Network Expansion</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May-26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₹5.0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R-06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Residential &amp; Community Outreach</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Network Expansion</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May-26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₹3.0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6"/>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R-07</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International Medical Value Travel</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Referral Development</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May-26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325">
                          <a:solidFill>
                            <a:srgbClr val="BE1558"/>
                          </a:solidFill>
                          <a:latin typeface="Calibri" pitchFamily="34" charset="0"/>
                          <a:ea typeface="Calibri" pitchFamily="34" charset="-122"/>
                          <a:cs typeface="Calibri" pitchFamily="34" charset="-120"/>
                        </a:rPr>
                        <a:t>₹6.0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R-08</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Govt Scheme Empanelment</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Referral Development</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May-26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325">
                          <a:solidFill>
                            <a:srgbClr val="BE1558"/>
                          </a:solidFill>
                          <a:latin typeface="Calibri" pitchFamily="34" charset="0"/>
                          <a:ea typeface="Calibri" pitchFamily="34" charset="-122"/>
                          <a:cs typeface="Calibri" pitchFamily="34" charset="-120"/>
                        </a:rPr>
                        <a:t>₹3.0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8"/>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R-09</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Scaled BD Organisation &amp; Referral</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Referral Development</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May-26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325">
                          <a:solidFill>
                            <a:srgbClr val="BE1558"/>
                          </a:solidFill>
                          <a:latin typeface="Calibri" pitchFamily="34" charset="0"/>
                          <a:ea typeface="Calibri" pitchFamily="34" charset="-122"/>
                          <a:cs typeface="Calibri" pitchFamily="34" charset="-120"/>
                        </a:rPr>
                        <a:t>₹25.0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R-10</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OP-to-IP Conversion &amp; Follow-Up</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Referral Development</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May-26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325">
                          <a:solidFill>
                            <a:srgbClr val="BE1558"/>
                          </a:solidFill>
                          <a:latin typeface="Calibri" pitchFamily="34" charset="0"/>
                          <a:ea typeface="Calibri" pitchFamily="34" charset="-122"/>
                          <a:cs typeface="Calibri" pitchFamily="34" charset="-120"/>
                        </a:rPr>
                        <a:t>₹4.0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10"/>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R-11</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Departmental Organic Growth</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High-Value Services</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May-26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₹8.0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R-12</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New Specialties &amp; Premium Packages</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High-Value Services</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May-26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₹8.9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12"/>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R-13</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Senior Clinician Recruitment</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High-Value Services</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May-26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₹17.9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R-14</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Quarterly Flagship Health Events</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Marketing</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Sep-26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₹1.5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14"/>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R-15</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Digital Patient Acquisition</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Marketing</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Apr-26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₹5.0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90293">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R-16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Treasury &amp; Cash Optimisation</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Financial Income</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325">
                          <a:solidFill>
                            <a:srgbClr val="1C2B3A"/>
                          </a:solidFill>
                          <a:latin typeface="Calibri" pitchFamily="34" charset="0"/>
                          <a:ea typeface="Calibri" pitchFamily="34" charset="-122"/>
                          <a:cs typeface="Calibri" pitchFamily="34" charset="-120"/>
                        </a:rPr>
                        <a:t>May-26</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325">
                          <a:solidFill>
                            <a:srgbClr val="2E7AB6"/>
                          </a:solidFill>
                          <a:latin typeface="Calibri" pitchFamily="34" charset="0"/>
                          <a:ea typeface="Calibri" pitchFamily="34" charset="-122"/>
                          <a:cs typeface="Calibri" pitchFamily="34" charset="-120"/>
                        </a:rPr>
                        <a:t>₹2.0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16"/>
                  </a:ext>
                </a:extLst>
              </a:tr>
              <a:tr h="290293">
                <a:tc>
                  <a:txBody>
                    <a:bodyPr/>
                    <a:lstStyle/>
                    <a:p>
                      <a:pPr marL="0" indent="0" algn="l">
                        <a:buNone/>
                      </a:pP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8F5EE"/>
                    </a:solidFill>
                  </a:tcPr>
                </a:tc>
                <a:tc>
                  <a:txBody>
                    <a:bodyPr/>
                    <a:lstStyle/>
                    <a:p>
                      <a:pPr marL="0" indent="0" algn="l">
                        <a:buNone/>
                      </a:pPr>
                      <a:r>
                        <a:rPr lang="en-US" sz="1325" b="1">
                          <a:solidFill>
                            <a:srgbClr val="1C2B3A"/>
                          </a:solidFill>
                          <a:latin typeface="Calibri" pitchFamily="34" charset="0"/>
                          <a:ea typeface="Calibri" pitchFamily="34" charset="-122"/>
                          <a:cs typeface="Calibri" pitchFamily="34" charset="-120"/>
                        </a:rPr>
                        <a:t>TOTAL REVENUE INITIATIVE IMPACT</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8F5EE"/>
                    </a:solidFill>
                  </a:tcPr>
                </a:tc>
                <a:tc>
                  <a:txBody>
                    <a:bodyPr/>
                    <a:lstStyle/>
                    <a:p>
                      <a:pPr marL="0" indent="0" algn="l">
                        <a:buNone/>
                      </a:pP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8F5EE"/>
                    </a:solidFill>
                  </a:tcPr>
                </a:tc>
                <a:tc>
                  <a:txBody>
                    <a:bodyPr/>
                    <a:lstStyle/>
                    <a:p>
                      <a:pPr marL="0" indent="0" algn="l">
                        <a:buNone/>
                      </a:pP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8F5EE"/>
                    </a:solidFill>
                  </a:tcPr>
                </a:tc>
                <a:tc>
                  <a:txBody>
                    <a:bodyPr/>
                    <a:lstStyle/>
                    <a:p>
                      <a:pPr marL="0" indent="0" algn="r">
                        <a:buNone/>
                      </a:pPr>
                      <a:r>
                        <a:rPr lang="en-US" sz="1325" b="1">
                          <a:solidFill>
                            <a:srgbClr val="1A8C5B"/>
                          </a:solidFill>
                          <a:latin typeface="Calibri" pitchFamily="34" charset="0"/>
                          <a:ea typeface="Calibri" pitchFamily="34" charset="-122"/>
                          <a:cs typeface="Calibri" pitchFamily="34" charset="-120"/>
                        </a:rPr>
                        <a:t>₹123.4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8F5EE"/>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1750" b="1" kern="0" spc="150">
                <a:solidFill>
                  <a:srgbClr val="1C2B3A"/>
                </a:solidFill>
                <a:latin typeface="Calibri" pitchFamily="34" charset="0"/>
                <a:ea typeface="Calibri" pitchFamily="34" charset="-122"/>
                <a:cs typeface="Calibri" pitchFamily="34" charset="-120"/>
              </a:rPr>
              <a:t>REVENUE PLAN — PRICING &amp; YIELD</a:t>
            </a:r>
            <a:endParaRPr lang="en-US" sz="175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125" i="1">
                <a:solidFill>
                  <a:srgbClr val="5A7A96"/>
                </a:solidFill>
                <a:latin typeface="Calibri" pitchFamily="34" charset="0"/>
                <a:ea typeface="Calibri" pitchFamily="34" charset="-122"/>
                <a:cs typeface="Calibri" pitchFamily="34" charset="-120"/>
              </a:rPr>
              <a:t>Drill-Down  ·  Objective  ·  Basis &amp; Impact  ·  Owner  ·  Risks</a:t>
            </a:r>
            <a:endParaRPr lang="en-US" sz="1125"/>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000" b="1">
                <a:solidFill>
                  <a:srgbClr val="2E7AB6"/>
                </a:solidFill>
                <a:latin typeface="Calibri" pitchFamily="34" charset="0"/>
                <a:ea typeface="Calibri" pitchFamily="34" charset="-122"/>
                <a:cs typeface="Calibri" pitchFamily="34" charset="-120"/>
              </a:rPr>
              <a:t>VPS LAKESHORE  ·  AOP FY 2026–27</a:t>
            </a:r>
            <a:endParaRPr lang="en-US" sz="10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US"/>
          </a:p>
        </p:txBody>
      </p:sp>
      <p:sp>
        <p:nvSpPr>
          <p:cNvPr id="7" name="Shape 5"/>
          <p:cNvSpPr/>
          <p:nvPr/>
        </p:nvSpPr>
        <p:spPr>
          <a:xfrm>
            <a:off x="411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8" name="Shape 6"/>
          <p:cNvSpPr/>
          <p:nvPr/>
        </p:nvSpPr>
        <p:spPr>
          <a:xfrm>
            <a:off x="411480" y="84124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9" name="Text 7"/>
          <p:cNvSpPr/>
          <p:nvPr/>
        </p:nvSpPr>
        <p:spPr>
          <a:xfrm>
            <a:off x="539496" y="89611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R-01  ·  Annual Rate Revision</a:t>
            </a:r>
            <a:endParaRPr lang="en-US" sz="1375"/>
          </a:p>
        </p:txBody>
      </p:sp>
      <p:sp>
        <p:nvSpPr>
          <p:cNvPr id="10" name="Shape 8"/>
          <p:cNvSpPr/>
          <p:nvPr/>
        </p:nvSpPr>
        <p:spPr>
          <a:xfrm>
            <a:off x="411480" y="128016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11" name="Text 9"/>
          <p:cNvSpPr/>
          <p:nvPr/>
        </p:nvSpPr>
        <p:spPr>
          <a:xfrm>
            <a:off x="539496" y="130759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Pricing &amp; Yield  ·  Apr-26  ·  Nil cost</a:t>
            </a:r>
            <a:endParaRPr lang="en-US" sz="1050"/>
          </a:p>
        </p:txBody>
      </p:sp>
      <p:sp>
        <p:nvSpPr>
          <p:cNvPr id="12" name="Text 10"/>
          <p:cNvSpPr/>
          <p:nvPr/>
        </p:nvSpPr>
        <p:spPr>
          <a:xfrm>
            <a:off x="3977640" y="129844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₹9.6 Cr</a:t>
            </a:r>
            <a:endParaRPr lang="en-US" sz="1250"/>
          </a:p>
        </p:txBody>
      </p:sp>
      <p:sp>
        <p:nvSpPr>
          <p:cNvPr id="13" name="Text 11"/>
          <p:cNvSpPr/>
          <p:nvPr/>
        </p:nvSpPr>
        <p:spPr>
          <a:xfrm>
            <a:off x="539496" y="160934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14" name="Text 12"/>
          <p:cNvSpPr/>
          <p:nvPr/>
        </p:nvSpPr>
        <p:spPr>
          <a:xfrm>
            <a:off x="539496" y="176479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Revise cash/self-pay room, nursing and procedure tariffs from May-26. Room categories benchmarked across 19 types vs Aster, Rajagiri, Welcare and Sunrise — average +12%. Top 50 revenue procedures repriced to the midpoint between Lakeshore and the highest competitor rate.</a:t>
            </a:r>
            <a:endParaRPr lang="en-US" sz="1175"/>
          </a:p>
        </p:txBody>
      </p:sp>
      <p:sp>
        <p:nvSpPr>
          <p:cNvPr id="15" name="Text 13"/>
          <p:cNvSpPr/>
          <p:nvPr/>
        </p:nvSpPr>
        <p:spPr>
          <a:xfrm>
            <a:off x="539496" y="260604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16" name="Text 14"/>
          <p:cNvSpPr/>
          <p:nvPr/>
        </p:nvSpPr>
        <p:spPr>
          <a:xfrm>
            <a:off x="539496" y="276148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Room &amp; nursing: ₹3.5 Cr (wards +11–25%, AC rooms +4–13%, critical care +10–16%). Procedure repricing: ₹6.1 Cr. Lakeshore remains below Aster post-revision on most categories — pricing headroom intact.</a:t>
            </a:r>
            <a:endParaRPr lang="en-US" sz="1125"/>
          </a:p>
        </p:txBody>
      </p:sp>
      <p:sp>
        <p:nvSpPr>
          <p:cNvPr id="17" name="Text 15"/>
          <p:cNvSpPr/>
          <p:nvPr/>
        </p:nvSpPr>
        <p:spPr>
          <a:xfrm>
            <a:off x="539496" y="332841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CFO  ·  Risk: Patient pushback on high-increase wards; HIS billing master update must be error-free at go-live</a:t>
            </a:r>
            <a:endParaRPr lang="en-US" sz="1000"/>
          </a:p>
        </p:txBody>
      </p:sp>
      <p:sp>
        <p:nvSpPr>
          <p:cNvPr id="18" name="Shape 16"/>
          <p:cNvSpPr/>
          <p:nvPr/>
        </p:nvSpPr>
        <p:spPr>
          <a:xfrm>
            <a:off x="6126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9" name="Shape 17"/>
          <p:cNvSpPr/>
          <p:nvPr/>
        </p:nvSpPr>
        <p:spPr>
          <a:xfrm>
            <a:off x="6126480" y="84124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20" name="Text 18"/>
          <p:cNvSpPr/>
          <p:nvPr/>
        </p:nvSpPr>
        <p:spPr>
          <a:xfrm>
            <a:off x="6254496" y="89611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R-02  ·  Procedure Contribution Framework</a:t>
            </a:r>
            <a:endParaRPr lang="en-US" sz="1375"/>
          </a:p>
        </p:txBody>
      </p:sp>
      <p:sp>
        <p:nvSpPr>
          <p:cNvPr id="21" name="Shape 19"/>
          <p:cNvSpPr/>
          <p:nvPr/>
        </p:nvSpPr>
        <p:spPr>
          <a:xfrm>
            <a:off x="6126480" y="128016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22" name="Text 20"/>
          <p:cNvSpPr/>
          <p:nvPr/>
        </p:nvSpPr>
        <p:spPr>
          <a:xfrm>
            <a:off x="6254496" y="130759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Pricing &amp; Yield  ·  Apr-26  ·  ₹1.5L/mo</a:t>
            </a:r>
            <a:endParaRPr lang="en-US" sz="1050"/>
          </a:p>
        </p:txBody>
      </p:sp>
      <p:sp>
        <p:nvSpPr>
          <p:cNvPr id="23" name="Text 21"/>
          <p:cNvSpPr/>
          <p:nvPr/>
        </p:nvSpPr>
        <p:spPr>
          <a:xfrm>
            <a:off x="9692640" y="129844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₹2.5 Cr</a:t>
            </a:r>
            <a:endParaRPr lang="en-US" sz="1250"/>
          </a:p>
        </p:txBody>
      </p:sp>
      <p:sp>
        <p:nvSpPr>
          <p:cNvPr id="24" name="Text 22"/>
          <p:cNvSpPr/>
          <p:nvPr/>
        </p:nvSpPr>
        <p:spPr>
          <a:xfrm>
            <a:off x="6254496" y="160934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25" name="Text 23"/>
          <p:cNvSpPr/>
          <p:nvPr/>
        </p:nvSpPr>
        <p:spPr>
          <a:xfrm>
            <a:off x="6254496" y="176479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Build a per-procedure P&amp;L for the top 50 revenue procedures — fully loading doctor fees, OT/nursing/anaesthesia team, consumables and overhead. Identify procedures below 50% contribution. Reprice cash rates and create an evidence-based insurer renegotiation list.</a:t>
            </a:r>
            <a:endParaRPr lang="en-US" sz="1175"/>
          </a:p>
        </p:txBody>
      </p:sp>
      <p:sp>
        <p:nvSpPr>
          <p:cNvPr id="26" name="Text 24"/>
          <p:cNvSpPr/>
          <p:nvPr/>
        </p:nvSpPr>
        <p:spPr>
          <a:xfrm>
            <a:off x="6254496" y="260604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27" name="Text 25"/>
          <p:cNvSpPr/>
          <p:nvPr/>
        </p:nvSpPr>
        <p:spPr>
          <a:xfrm>
            <a:off x="6254496" y="276148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Target 58% average contribution supporting 26% EBITDA. Uplift from repricing sub-50% margin cash procedures once the framework is live. Also provides the data infrastructure for R-03 TPA renegotiation.</a:t>
            </a:r>
            <a:endParaRPr lang="en-US" sz="1125"/>
          </a:p>
        </p:txBody>
      </p:sp>
      <p:sp>
        <p:nvSpPr>
          <p:cNvPr id="28" name="Text 26"/>
          <p:cNvSpPr/>
          <p:nvPr/>
        </p:nvSpPr>
        <p:spPr>
          <a:xfrm>
            <a:off x="6254496" y="3328416"/>
            <a:ext cx="5230368" cy="256032"/>
          </a:xfrm>
          <a:prstGeom prst="rect">
            <a:avLst/>
          </a:prstGeom>
          <a:noFill/>
          <a:ln/>
        </p:spPr>
        <p:txBody>
          <a:bodyPr wrap="square" lIns="0" tIns="0" rIns="0" bIns="0" rtlCol="0" anchor="ctr">
            <a:normAutofit/>
          </a:bodyPr>
          <a:lstStyle/>
          <a:p>
            <a:pPr marL="0" indent="0">
              <a:buNone/>
            </a:pPr>
            <a:r>
              <a:rPr lang="en-US" sz="1000" i="1">
                <a:solidFill>
                  <a:srgbClr val="5A7A96"/>
                </a:solidFill>
                <a:latin typeface="Calibri" pitchFamily="34" charset="0"/>
                <a:ea typeface="Calibri" pitchFamily="34" charset="-122"/>
                <a:cs typeface="Calibri" pitchFamily="34" charset="-120"/>
              </a:rPr>
              <a:t>Owner: CFO  ·  Risk: Clinician resistance to repricing; HIS data completeness for accurate cost loading</a:t>
            </a:r>
            <a:endParaRPr lang="en-US" sz="1000"/>
          </a:p>
        </p:txBody>
      </p:sp>
      <p:sp>
        <p:nvSpPr>
          <p:cNvPr id="29" name="Shape 27"/>
          <p:cNvSpPr/>
          <p:nvPr/>
        </p:nvSpPr>
        <p:spPr>
          <a:xfrm>
            <a:off x="411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30" name="Shape 28"/>
          <p:cNvSpPr/>
          <p:nvPr/>
        </p:nvSpPr>
        <p:spPr>
          <a:xfrm>
            <a:off x="411480" y="376732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31" name="Text 29"/>
          <p:cNvSpPr/>
          <p:nvPr/>
        </p:nvSpPr>
        <p:spPr>
          <a:xfrm>
            <a:off x="539496" y="382219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R-03  ·  Insurance Renegotiation &amp; Empanelment</a:t>
            </a:r>
            <a:endParaRPr lang="en-US" sz="1375"/>
          </a:p>
        </p:txBody>
      </p:sp>
      <p:sp>
        <p:nvSpPr>
          <p:cNvPr id="32" name="Shape 30"/>
          <p:cNvSpPr/>
          <p:nvPr/>
        </p:nvSpPr>
        <p:spPr>
          <a:xfrm>
            <a:off x="411480" y="420624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33" name="Text 31"/>
          <p:cNvSpPr/>
          <p:nvPr/>
        </p:nvSpPr>
        <p:spPr>
          <a:xfrm>
            <a:off x="539496" y="423367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Pricing &amp; Yield  ·  Apr-26  ·  ₹4L one-time</a:t>
            </a:r>
            <a:endParaRPr lang="en-US" sz="1050"/>
          </a:p>
        </p:txBody>
      </p:sp>
      <p:sp>
        <p:nvSpPr>
          <p:cNvPr id="34" name="Text 32"/>
          <p:cNvSpPr/>
          <p:nvPr/>
        </p:nvSpPr>
        <p:spPr>
          <a:xfrm>
            <a:off x="3977640" y="422452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₹9.0 Cr</a:t>
            </a:r>
            <a:endParaRPr lang="en-US" sz="1250"/>
          </a:p>
        </p:txBody>
      </p:sp>
      <p:sp>
        <p:nvSpPr>
          <p:cNvPr id="35" name="Text 33"/>
          <p:cNvSpPr/>
          <p:nvPr/>
        </p:nvSpPr>
        <p:spPr>
          <a:xfrm>
            <a:off x="539496" y="453542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36" name="Text 34"/>
          <p:cNvSpPr/>
          <p:nvPr/>
        </p:nvSpPr>
        <p:spPr>
          <a:xfrm>
            <a:off x="539496" y="4690872"/>
            <a:ext cx="5230368" cy="804672"/>
          </a:xfrm>
          <a:prstGeom prst="rect">
            <a:avLst/>
          </a:prstGeom>
          <a:noFill/>
          <a:ln/>
        </p:spPr>
        <p:txBody>
          <a:bodyPr wrap="square" lIns="0" tIns="0" rIns="0" bIns="0" rtlCol="0" anchor="ctr">
            <a:normAutofit fontScale="92500" lnSpcReduction="10000"/>
          </a:bodyPr>
          <a:lstStyle/>
          <a:p>
            <a:pPr marL="0" indent="0">
              <a:buNone/>
            </a:pPr>
            <a:r>
              <a:rPr lang="en-US" sz="1175">
                <a:solidFill>
                  <a:srgbClr val="1C2B3A"/>
                </a:solidFill>
                <a:latin typeface="Calibri" pitchFamily="34" charset="0"/>
                <a:ea typeface="Calibri" pitchFamily="34" charset="-122"/>
                <a:cs typeface="Calibri" pitchFamily="34" charset="-120"/>
              </a:rPr>
              <a:t>Three-pronged: (A) Charge Capture — fix charge master for covered-but-unbilled items (nursing monitoring, physiotherapy, ICU charges). (B) TPA Tariff Renegotiation — formal annual revision with all empanelled insurers; most agreements 2–3 years old. (C) New Empanelments — close gaps vs Aster and KIMS on 10 identified insurers including Star Health, TATA AIG and Go Digit.</a:t>
            </a:r>
            <a:endParaRPr lang="en-US" sz="1175"/>
          </a:p>
        </p:txBody>
      </p:sp>
      <p:sp>
        <p:nvSpPr>
          <p:cNvPr id="37" name="Text 35"/>
          <p:cNvSpPr/>
          <p:nvPr/>
        </p:nvSpPr>
        <p:spPr>
          <a:xfrm>
            <a:off x="539496" y="553212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38" name="Text 36"/>
          <p:cNvSpPr/>
          <p:nvPr/>
        </p:nvSpPr>
        <p:spPr>
          <a:xfrm>
            <a:off x="539496" y="568756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₹3 Cr charge capture (12,000 IP admissions × ₹2,500 missed billing). ₹4 Cr TPA renegotiation (₹160 Cr insurance IP × 2.5% blended increase). ₹2 Cr new empanelments (10 insurers × 100 cases × ₹1.5L avg ticket).</a:t>
            </a:r>
            <a:endParaRPr lang="en-US" sz="1125"/>
          </a:p>
        </p:txBody>
      </p:sp>
      <p:sp>
        <p:nvSpPr>
          <p:cNvPr id="39" name="Text 37"/>
          <p:cNvSpPr/>
          <p:nvPr/>
        </p:nvSpPr>
        <p:spPr>
          <a:xfrm>
            <a:off x="539496" y="625449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CFO / Head Insurance &amp; TPA  ·  Risk: TPA contract cycle 60–90 day lag; new empanelments take 3–6 months to activate</a:t>
            </a:r>
            <a:endParaRPr lang="en-US" sz="1000"/>
          </a:p>
        </p:txBody>
      </p:sp>
      <p:sp>
        <p:nvSpPr>
          <p:cNvPr id="40" name="Shape 38"/>
          <p:cNvSpPr/>
          <p:nvPr/>
        </p:nvSpPr>
        <p:spPr>
          <a:xfrm>
            <a:off x="6126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41" name="Shape 39"/>
          <p:cNvSpPr/>
          <p:nvPr/>
        </p:nvSpPr>
        <p:spPr>
          <a:xfrm>
            <a:off x="6126480" y="376732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42" name="Text 40"/>
          <p:cNvSpPr/>
          <p:nvPr/>
        </p:nvSpPr>
        <p:spPr>
          <a:xfrm>
            <a:off x="6254496" y="382219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R-04  ·  Distributed Healthcare Network</a:t>
            </a:r>
            <a:endParaRPr lang="en-US" sz="1375"/>
          </a:p>
        </p:txBody>
      </p:sp>
      <p:sp>
        <p:nvSpPr>
          <p:cNvPr id="43" name="Shape 41"/>
          <p:cNvSpPr/>
          <p:nvPr/>
        </p:nvSpPr>
        <p:spPr>
          <a:xfrm>
            <a:off x="6126480" y="420624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44" name="Text 42"/>
          <p:cNvSpPr/>
          <p:nvPr/>
        </p:nvSpPr>
        <p:spPr>
          <a:xfrm>
            <a:off x="6254496" y="423367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Network Expansion  ·  May-26  ·  ₹65L opex/yr</a:t>
            </a:r>
            <a:endParaRPr lang="en-US" sz="1050"/>
          </a:p>
        </p:txBody>
      </p:sp>
      <p:sp>
        <p:nvSpPr>
          <p:cNvPr id="45" name="Text 43"/>
          <p:cNvSpPr/>
          <p:nvPr/>
        </p:nvSpPr>
        <p:spPr>
          <a:xfrm>
            <a:off x="9692640" y="422452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₹13.0 Cr</a:t>
            </a:r>
            <a:endParaRPr lang="en-US" sz="1250"/>
          </a:p>
        </p:txBody>
      </p:sp>
      <p:sp>
        <p:nvSpPr>
          <p:cNvPr id="46" name="Text 44"/>
          <p:cNvSpPr/>
          <p:nvPr/>
        </p:nvSpPr>
        <p:spPr>
          <a:xfrm>
            <a:off x="6254496" y="453542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47" name="Text 45"/>
          <p:cNvSpPr/>
          <p:nvPr/>
        </p:nvSpPr>
        <p:spPr>
          <a:xfrm>
            <a:off x="6254496" y="469087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Establish 5–8 branded satellite primary care clinics across Kochi metro and feeder districts to capture patients outmigrating to competitors. Each clinic is a branded Lakeshore touchpoint for routine OPD care, channelling IP referrals to the main facility.</a:t>
            </a:r>
            <a:endParaRPr lang="en-US" sz="1175"/>
          </a:p>
        </p:txBody>
      </p:sp>
      <p:sp>
        <p:nvSpPr>
          <p:cNvPr id="48" name="Text 46"/>
          <p:cNvSpPr/>
          <p:nvPr/>
        </p:nvSpPr>
        <p:spPr>
          <a:xfrm>
            <a:off x="6254496" y="553212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49" name="Text 47"/>
          <p:cNvSpPr/>
          <p:nvPr/>
        </p:nvSpPr>
        <p:spPr>
          <a:xfrm>
            <a:off x="6254496" y="568756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Each clinic projected at ₹1.5–2.5 Cr IP referral revenue per year at maturity. Phased rollout from Jun-26 with 4 clinics in Year 1. Access-to-care positioning differentiates Lakeshore from tertiary-only competitors.</a:t>
            </a:r>
            <a:endParaRPr lang="en-US" sz="1125"/>
          </a:p>
        </p:txBody>
      </p:sp>
      <p:sp>
        <p:nvSpPr>
          <p:cNvPr id="50" name="Text 48"/>
          <p:cNvSpPr/>
          <p:nvPr/>
        </p:nvSpPr>
        <p:spPr>
          <a:xfrm>
            <a:off x="6254496" y="625449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CEO / Head BD  ·  Risk: Site identification and regulatory approvals; ramp-up curve typically 12–18 months at new locations</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1750" b="1" kern="0" spc="150">
                <a:solidFill>
                  <a:srgbClr val="1C2B3A"/>
                </a:solidFill>
                <a:latin typeface="Calibri" pitchFamily="34" charset="0"/>
                <a:ea typeface="Calibri" pitchFamily="34" charset="-122"/>
                <a:cs typeface="Calibri" pitchFamily="34" charset="-120"/>
              </a:rPr>
              <a:t>REVENUE PLAN — NETWORK EXPANSION</a:t>
            </a:r>
            <a:endParaRPr lang="en-US" sz="175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125" i="1">
                <a:solidFill>
                  <a:srgbClr val="5A7A96"/>
                </a:solidFill>
                <a:latin typeface="Calibri" pitchFamily="34" charset="0"/>
                <a:ea typeface="Calibri" pitchFamily="34" charset="-122"/>
                <a:cs typeface="Calibri" pitchFamily="34" charset="-120"/>
              </a:rPr>
              <a:t>Drill-Down  ·  Objective  ·  Basis &amp; Impact  ·  Owner  ·  Risks</a:t>
            </a:r>
            <a:endParaRPr lang="en-US" sz="1125"/>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000" b="1">
                <a:solidFill>
                  <a:srgbClr val="2E7AB6"/>
                </a:solidFill>
                <a:latin typeface="Calibri" pitchFamily="34" charset="0"/>
                <a:ea typeface="Calibri" pitchFamily="34" charset="-122"/>
                <a:cs typeface="Calibri" pitchFamily="34" charset="-120"/>
              </a:rPr>
              <a:t>VPS LAKESHORE  ·  AOP FY 2026–27</a:t>
            </a:r>
            <a:endParaRPr lang="en-US" sz="10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US"/>
          </a:p>
        </p:txBody>
      </p:sp>
      <p:sp>
        <p:nvSpPr>
          <p:cNvPr id="7" name="Shape 5"/>
          <p:cNvSpPr/>
          <p:nvPr/>
        </p:nvSpPr>
        <p:spPr>
          <a:xfrm>
            <a:off x="411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8" name="Shape 6"/>
          <p:cNvSpPr/>
          <p:nvPr/>
        </p:nvSpPr>
        <p:spPr>
          <a:xfrm>
            <a:off x="411480" y="84124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9" name="Text 7"/>
          <p:cNvSpPr/>
          <p:nvPr/>
        </p:nvSpPr>
        <p:spPr>
          <a:xfrm>
            <a:off x="539496" y="89611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R-05  ·  Corporate Health Programme</a:t>
            </a:r>
            <a:endParaRPr lang="en-US" sz="1375"/>
          </a:p>
        </p:txBody>
      </p:sp>
      <p:sp>
        <p:nvSpPr>
          <p:cNvPr id="10" name="Shape 8"/>
          <p:cNvSpPr/>
          <p:nvPr/>
        </p:nvSpPr>
        <p:spPr>
          <a:xfrm>
            <a:off x="411480" y="128016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11" name="Text 9"/>
          <p:cNvSpPr/>
          <p:nvPr/>
        </p:nvSpPr>
        <p:spPr>
          <a:xfrm>
            <a:off x="539496" y="130759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Network Expansion  ·  May-26  ·  ₹17L opex/yr</a:t>
            </a:r>
            <a:endParaRPr lang="en-US" sz="1050"/>
          </a:p>
        </p:txBody>
      </p:sp>
      <p:sp>
        <p:nvSpPr>
          <p:cNvPr id="12" name="Text 10"/>
          <p:cNvSpPr/>
          <p:nvPr/>
        </p:nvSpPr>
        <p:spPr>
          <a:xfrm>
            <a:off x="3977640" y="129844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₹5.0 Cr</a:t>
            </a:r>
            <a:endParaRPr lang="en-US" sz="1250"/>
          </a:p>
        </p:txBody>
      </p:sp>
      <p:sp>
        <p:nvSpPr>
          <p:cNvPr id="13" name="Text 11"/>
          <p:cNvSpPr/>
          <p:nvPr/>
        </p:nvSpPr>
        <p:spPr>
          <a:xfrm>
            <a:off x="539496" y="160934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14" name="Text 12"/>
          <p:cNvSpPr/>
          <p:nvPr/>
        </p:nvSpPr>
        <p:spPr>
          <a:xfrm>
            <a:off x="539496" y="176479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Structured health agreements with 30–40 Kochi corporates for annual health checks, OPD packages and preferential IP rates. Health-at-work design with on-site camps, dedicated relationship manager and quarterly health reports to HR.</a:t>
            </a:r>
            <a:endParaRPr lang="en-US" sz="1175"/>
          </a:p>
        </p:txBody>
      </p:sp>
      <p:sp>
        <p:nvSpPr>
          <p:cNvPr id="15" name="Text 13"/>
          <p:cNvSpPr/>
          <p:nvPr/>
        </p:nvSpPr>
        <p:spPr>
          <a:xfrm>
            <a:off x="539496" y="260604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16" name="Text 14"/>
          <p:cNvSpPr/>
          <p:nvPr/>
        </p:nvSpPr>
        <p:spPr>
          <a:xfrm>
            <a:off x="539496" y="276148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₹5 Cr from 30 corporates × ₹15L average annual programme value, plus IP conversion uplift at ~15% on health-check-detected conditions.</a:t>
            </a:r>
            <a:endParaRPr lang="en-US" sz="1125"/>
          </a:p>
        </p:txBody>
      </p:sp>
      <p:sp>
        <p:nvSpPr>
          <p:cNvPr id="17" name="Text 15"/>
          <p:cNvSpPr/>
          <p:nvPr/>
        </p:nvSpPr>
        <p:spPr>
          <a:xfrm>
            <a:off x="539496" y="332841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Head BD / Medical Superintendent  ·  Risk: Long HR decision cycles at corporates; competitive pricing pressure from Aster and Apollo</a:t>
            </a:r>
            <a:endParaRPr lang="en-US" sz="1000"/>
          </a:p>
        </p:txBody>
      </p:sp>
      <p:sp>
        <p:nvSpPr>
          <p:cNvPr id="18" name="Shape 16"/>
          <p:cNvSpPr/>
          <p:nvPr/>
        </p:nvSpPr>
        <p:spPr>
          <a:xfrm>
            <a:off x="6126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9" name="Shape 17"/>
          <p:cNvSpPr/>
          <p:nvPr/>
        </p:nvSpPr>
        <p:spPr>
          <a:xfrm>
            <a:off x="6126480" y="84124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20" name="Text 18"/>
          <p:cNvSpPr/>
          <p:nvPr/>
        </p:nvSpPr>
        <p:spPr>
          <a:xfrm>
            <a:off x="6254496" y="89611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R-06  ·  Residential &amp; Community Outreach</a:t>
            </a:r>
            <a:endParaRPr lang="en-US" sz="1375"/>
          </a:p>
        </p:txBody>
      </p:sp>
      <p:sp>
        <p:nvSpPr>
          <p:cNvPr id="21" name="Shape 19"/>
          <p:cNvSpPr/>
          <p:nvPr/>
        </p:nvSpPr>
        <p:spPr>
          <a:xfrm>
            <a:off x="6126480" y="128016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22" name="Text 20"/>
          <p:cNvSpPr/>
          <p:nvPr/>
        </p:nvSpPr>
        <p:spPr>
          <a:xfrm>
            <a:off x="6254496" y="130759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Network Expansion  ·  May-26  ·  ₹30L opex/yr</a:t>
            </a:r>
            <a:endParaRPr lang="en-US" sz="1050"/>
          </a:p>
        </p:txBody>
      </p:sp>
      <p:sp>
        <p:nvSpPr>
          <p:cNvPr id="23" name="Text 21"/>
          <p:cNvSpPr/>
          <p:nvPr/>
        </p:nvSpPr>
        <p:spPr>
          <a:xfrm>
            <a:off x="9692640" y="129844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₹3.0 Cr</a:t>
            </a:r>
            <a:endParaRPr lang="en-US" sz="1250"/>
          </a:p>
        </p:txBody>
      </p:sp>
      <p:sp>
        <p:nvSpPr>
          <p:cNvPr id="24" name="Text 22"/>
          <p:cNvSpPr/>
          <p:nvPr/>
        </p:nvSpPr>
        <p:spPr>
          <a:xfrm>
            <a:off x="6254496" y="160934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25" name="Text 23"/>
          <p:cNvSpPr/>
          <p:nvPr/>
        </p:nvSpPr>
        <p:spPr>
          <a:xfrm>
            <a:off x="6254496" y="176479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Medical camps and RWA health screenings targeting residential colonies within 20 km. Build Lakeshore as the preferred neighbourhood hospital for emergency, elective and paediatric care.</a:t>
            </a:r>
            <a:endParaRPr lang="en-US" sz="1175"/>
          </a:p>
        </p:txBody>
      </p:sp>
      <p:sp>
        <p:nvSpPr>
          <p:cNvPr id="26" name="Text 24"/>
          <p:cNvSpPr/>
          <p:nvPr/>
        </p:nvSpPr>
        <p:spPr>
          <a:xfrm>
            <a:off x="6254496" y="260604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27" name="Text 25"/>
          <p:cNvSpPr/>
          <p:nvPr/>
        </p:nvSpPr>
        <p:spPr>
          <a:xfrm>
            <a:off x="6254496" y="276148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₹3 Cr from 200+ camps per year, each generating ~₹1.5L average IP conversion revenue. Executed by the institutional BD vertical with a rotating clinical team.</a:t>
            </a:r>
            <a:endParaRPr lang="en-US" sz="1125"/>
          </a:p>
        </p:txBody>
      </p:sp>
      <p:sp>
        <p:nvSpPr>
          <p:cNvPr id="28" name="Text 26"/>
          <p:cNvSpPr/>
          <p:nvPr/>
        </p:nvSpPr>
        <p:spPr>
          <a:xfrm>
            <a:off x="6254496" y="332841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Head BD / Medical Superintendent  ·  Risk: Conversion is season-dependent; ROI attribution requires CRM integration for accurate tracking</a:t>
            </a:r>
            <a:endParaRPr lang="en-US" sz="1000"/>
          </a:p>
        </p:txBody>
      </p:sp>
      <p:sp>
        <p:nvSpPr>
          <p:cNvPr id="29" name="Shape 27"/>
          <p:cNvSpPr/>
          <p:nvPr/>
        </p:nvSpPr>
        <p:spPr>
          <a:xfrm>
            <a:off x="411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30" name="Shape 28"/>
          <p:cNvSpPr/>
          <p:nvPr/>
        </p:nvSpPr>
        <p:spPr>
          <a:xfrm>
            <a:off x="411480" y="3767328"/>
            <a:ext cx="5486400" cy="438912"/>
          </a:xfrm>
          <a:prstGeom prst="rect">
            <a:avLst/>
          </a:prstGeom>
          <a:solidFill>
            <a:srgbClr val="BE1558"/>
          </a:solidFill>
          <a:ln w="12700">
            <a:solidFill>
              <a:srgbClr val="BE1558"/>
            </a:solidFill>
            <a:prstDash val="solid"/>
          </a:ln>
        </p:spPr>
        <p:txBody>
          <a:bodyPr>
            <a:normAutofit/>
          </a:bodyPr>
          <a:lstStyle/>
          <a:p>
            <a:endParaRPr lang="en-US"/>
          </a:p>
        </p:txBody>
      </p:sp>
      <p:sp>
        <p:nvSpPr>
          <p:cNvPr id="31" name="Text 29"/>
          <p:cNvSpPr/>
          <p:nvPr/>
        </p:nvSpPr>
        <p:spPr>
          <a:xfrm>
            <a:off x="539496" y="382219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R-07  ·  International Medical Value Travel</a:t>
            </a:r>
            <a:endParaRPr lang="en-US" sz="1375"/>
          </a:p>
        </p:txBody>
      </p:sp>
      <p:sp>
        <p:nvSpPr>
          <p:cNvPr id="32" name="Shape 30"/>
          <p:cNvSpPr/>
          <p:nvPr/>
        </p:nvSpPr>
        <p:spPr>
          <a:xfrm>
            <a:off x="411480" y="420624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33" name="Text 31"/>
          <p:cNvSpPr/>
          <p:nvPr/>
        </p:nvSpPr>
        <p:spPr>
          <a:xfrm>
            <a:off x="539496" y="423367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Referral Development  ·  May-26  ·  ₹25L opex/yr</a:t>
            </a:r>
            <a:endParaRPr lang="en-US" sz="1050"/>
          </a:p>
        </p:txBody>
      </p:sp>
      <p:sp>
        <p:nvSpPr>
          <p:cNvPr id="34" name="Text 32"/>
          <p:cNvSpPr/>
          <p:nvPr/>
        </p:nvSpPr>
        <p:spPr>
          <a:xfrm>
            <a:off x="3977640" y="4224528"/>
            <a:ext cx="1783080" cy="237744"/>
          </a:xfrm>
          <a:prstGeom prst="rect">
            <a:avLst/>
          </a:prstGeom>
          <a:noFill/>
          <a:ln/>
        </p:spPr>
        <p:txBody>
          <a:bodyPr wrap="square" lIns="0" tIns="0" rIns="0" bIns="0" rtlCol="0" anchor="ctr">
            <a:normAutofit/>
          </a:bodyPr>
          <a:lstStyle/>
          <a:p>
            <a:pPr marL="0" indent="0" algn="r">
              <a:buNone/>
            </a:pPr>
            <a:r>
              <a:rPr lang="en-US" sz="1250" b="1">
                <a:solidFill>
                  <a:srgbClr val="BE1558"/>
                </a:solidFill>
                <a:latin typeface="Calibri" pitchFamily="34" charset="0"/>
                <a:ea typeface="Calibri" pitchFamily="34" charset="-122"/>
                <a:cs typeface="Calibri" pitchFamily="34" charset="-120"/>
              </a:rPr>
              <a:t>₹6.0 Cr</a:t>
            </a:r>
            <a:endParaRPr lang="en-US" sz="1250"/>
          </a:p>
        </p:txBody>
      </p:sp>
      <p:sp>
        <p:nvSpPr>
          <p:cNvPr id="35" name="Text 33"/>
          <p:cNvSpPr/>
          <p:nvPr/>
        </p:nvSpPr>
        <p:spPr>
          <a:xfrm>
            <a:off x="539496" y="453542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BE1558"/>
                </a:solidFill>
                <a:latin typeface="Calibri" pitchFamily="34" charset="0"/>
                <a:ea typeface="Calibri" pitchFamily="34" charset="-122"/>
                <a:cs typeface="Calibri" pitchFamily="34" charset="-120"/>
              </a:rPr>
              <a:t>OBJECTIVE</a:t>
            </a:r>
            <a:endParaRPr lang="en-US" sz="925"/>
          </a:p>
        </p:txBody>
      </p:sp>
      <p:sp>
        <p:nvSpPr>
          <p:cNvPr id="36" name="Text 34"/>
          <p:cNvSpPr/>
          <p:nvPr/>
        </p:nvSpPr>
        <p:spPr>
          <a:xfrm>
            <a:off x="539496" y="469087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Structured MVT programme targeting GCC, Africa and Bangladesh. Dedicated MVT Coordinator in BD. Agent tie-ups, embassy outreach, international insurer panels. Arabic and Swahili language support. Focus on high-complexity procedures — transplants, oncology, cardiac surgery.</a:t>
            </a:r>
            <a:endParaRPr lang="en-US" sz="1175"/>
          </a:p>
        </p:txBody>
      </p:sp>
      <p:sp>
        <p:nvSpPr>
          <p:cNvPr id="37" name="Text 35"/>
          <p:cNvSpPr/>
          <p:nvPr/>
        </p:nvSpPr>
        <p:spPr>
          <a:xfrm>
            <a:off x="539496" y="553212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BE1558"/>
                </a:solidFill>
                <a:latin typeface="Calibri" pitchFamily="34" charset="0"/>
                <a:ea typeface="Calibri" pitchFamily="34" charset="-122"/>
                <a:cs typeface="Calibri" pitchFamily="34" charset="-120"/>
              </a:rPr>
              <a:t>BASIS &amp; IMPACT</a:t>
            </a:r>
            <a:endParaRPr lang="en-US" sz="925"/>
          </a:p>
        </p:txBody>
      </p:sp>
      <p:sp>
        <p:nvSpPr>
          <p:cNvPr id="38" name="Text 36"/>
          <p:cNvSpPr/>
          <p:nvPr/>
        </p:nvSpPr>
        <p:spPr>
          <a:xfrm>
            <a:off x="539496" y="568756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₹6 Cr from 150–200 international patients per year at ₹3–4L average procedure ticket. Kerala's GCC diaspora is the primary referral channel. Lakeshore's transplant and oncology programmes are the anchor specialties.</a:t>
            </a:r>
            <a:endParaRPr lang="en-US" sz="1125"/>
          </a:p>
        </p:txBody>
      </p:sp>
      <p:sp>
        <p:nvSpPr>
          <p:cNvPr id="39" name="Text 37"/>
          <p:cNvSpPr/>
          <p:nvPr/>
        </p:nvSpPr>
        <p:spPr>
          <a:xfrm>
            <a:off x="539496" y="625449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Head BD / MVT Coordinator  ·  Risk: Aster has a strong established MVT franchise in Kerala; visa documentation barriers by market</a:t>
            </a:r>
            <a:endParaRPr lang="en-US" sz="1000"/>
          </a:p>
        </p:txBody>
      </p:sp>
      <p:sp>
        <p:nvSpPr>
          <p:cNvPr id="40" name="Shape 38"/>
          <p:cNvSpPr/>
          <p:nvPr/>
        </p:nvSpPr>
        <p:spPr>
          <a:xfrm>
            <a:off x="6126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41" name="Shape 39"/>
          <p:cNvSpPr/>
          <p:nvPr/>
        </p:nvSpPr>
        <p:spPr>
          <a:xfrm>
            <a:off x="6126480" y="3767328"/>
            <a:ext cx="5486400" cy="438912"/>
          </a:xfrm>
          <a:prstGeom prst="rect">
            <a:avLst/>
          </a:prstGeom>
          <a:solidFill>
            <a:srgbClr val="BE1558"/>
          </a:solidFill>
          <a:ln w="12700">
            <a:solidFill>
              <a:srgbClr val="BE1558"/>
            </a:solidFill>
            <a:prstDash val="solid"/>
          </a:ln>
        </p:spPr>
        <p:txBody>
          <a:bodyPr>
            <a:normAutofit/>
          </a:bodyPr>
          <a:lstStyle/>
          <a:p>
            <a:endParaRPr lang="en-US"/>
          </a:p>
        </p:txBody>
      </p:sp>
      <p:sp>
        <p:nvSpPr>
          <p:cNvPr id="42" name="Text 40"/>
          <p:cNvSpPr/>
          <p:nvPr/>
        </p:nvSpPr>
        <p:spPr>
          <a:xfrm>
            <a:off x="6254496" y="382219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R-08  ·  Govt Scheme Empanelment</a:t>
            </a:r>
            <a:endParaRPr lang="en-US" sz="1375"/>
          </a:p>
        </p:txBody>
      </p:sp>
      <p:sp>
        <p:nvSpPr>
          <p:cNvPr id="43" name="Shape 41"/>
          <p:cNvSpPr/>
          <p:nvPr/>
        </p:nvSpPr>
        <p:spPr>
          <a:xfrm>
            <a:off x="6126480" y="420624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44" name="Text 42"/>
          <p:cNvSpPr/>
          <p:nvPr/>
        </p:nvSpPr>
        <p:spPr>
          <a:xfrm>
            <a:off x="6254496" y="423367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Referral Development  ·  May-26  ·  ₹6L opex/yr</a:t>
            </a:r>
            <a:endParaRPr lang="en-US" sz="1050"/>
          </a:p>
        </p:txBody>
      </p:sp>
      <p:sp>
        <p:nvSpPr>
          <p:cNvPr id="45" name="Text 43"/>
          <p:cNvSpPr/>
          <p:nvPr/>
        </p:nvSpPr>
        <p:spPr>
          <a:xfrm>
            <a:off x="9692640" y="4224528"/>
            <a:ext cx="1783080" cy="237744"/>
          </a:xfrm>
          <a:prstGeom prst="rect">
            <a:avLst/>
          </a:prstGeom>
          <a:noFill/>
          <a:ln/>
        </p:spPr>
        <p:txBody>
          <a:bodyPr wrap="square" lIns="0" tIns="0" rIns="0" bIns="0" rtlCol="0" anchor="ctr">
            <a:normAutofit/>
          </a:bodyPr>
          <a:lstStyle/>
          <a:p>
            <a:pPr marL="0" indent="0" algn="r">
              <a:buNone/>
            </a:pPr>
            <a:r>
              <a:rPr lang="en-US" sz="1250" b="1">
                <a:solidFill>
                  <a:srgbClr val="BE1558"/>
                </a:solidFill>
                <a:latin typeface="Calibri" pitchFamily="34" charset="0"/>
                <a:ea typeface="Calibri" pitchFamily="34" charset="-122"/>
                <a:cs typeface="Calibri" pitchFamily="34" charset="-120"/>
              </a:rPr>
              <a:t>₹3.0 Cr</a:t>
            </a:r>
            <a:endParaRPr lang="en-US" sz="1250"/>
          </a:p>
        </p:txBody>
      </p:sp>
      <p:sp>
        <p:nvSpPr>
          <p:cNvPr id="46" name="Text 44"/>
          <p:cNvSpPr/>
          <p:nvPr/>
        </p:nvSpPr>
        <p:spPr>
          <a:xfrm>
            <a:off x="6254496" y="453542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BE1558"/>
                </a:solidFill>
                <a:latin typeface="Calibri" pitchFamily="34" charset="0"/>
                <a:ea typeface="Calibri" pitchFamily="34" charset="-122"/>
                <a:cs typeface="Calibri" pitchFamily="34" charset="-120"/>
              </a:rPr>
              <a:t>OBJECTIVE</a:t>
            </a:r>
            <a:endParaRPr lang="en-US" sz="925"/>
          </a:p>
        </p:txBody>
      </p:sp>
      <p:sp>
        <p:nvSpPr>
          <p:cNvPr id="47" name="Text 45"/>
          <p:cNvSpPr/>
          <p:nvPr/>
        </p:nvSpPr>
        <p:spPr>
          <a:xfrm>
            <a:off x="6254496" y="469087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Expand coverage under Ayushman Bharat, PMJAY, KASP and state schemes. Identify procedure-level empanelment gaps, accelerate claim processing, and appoint a dedicated scheme coordinator. Target 10–15 new procedure empanelments in Year 1.</a:t>
            </a:r>
            <a:endParaRPr lang="en-US" sz="1175"/>
          </a:p>
        </p:txBody>
      </p:sp>
      <p:sp>
        <p:nvSpPr>
          <p:cNvPr id="48" name="Text 46"/>
          <p:cNvSpPr/>
          <p:nvPr/>
        </p:nvSpPr>
        <p:spPr>
          <a:xfrm>
            <a:off x="6254496" y="553212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BE1558"/>
                </a:solidFill>
                <a:latin typeface="Calibri" pitchFamily="34" charset="0"/>
                <a:ea typeface="Calibri" pitchFamily="34" charset="-122"/>
                <a:cs typeface="Calibri" pitchFamily="34" charset="-120"/>
              </a:rPr>
              <a:t>BASIS &amp; IMPACT</a:t>
            </a:r>
            <a:endParaRPr lang="en-US" sz="925"/>
          </a:p>
        </p:txBody>
      </p:sp>
      <p:sp>
        <p:nvSpPr>
          <p:cNvPr id="49" name="Text 47"/>
          <p:cNvSpPr/>
          <p:nvPr/>
        </p:nvSpPr>
        <p:spPr>
          <a:xfrm>
            <a:off x="6254496" y="568756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₹3 Cr from 2,000 incremental scheme cases at ₹15,000 average reimbursement, plus faster processing reducing write-off leakage on existing scheme revenue.</a:t>
            </a:r>
            <a:endParaRPr lang="en-US" sz="1125"/>
          </a:p>
        </p:txBody>
      </p:sp>
      <p:sp>
        <p:nvSpPr>
          <p:cNvPr id="50" name="Text 48"/>
          <p:cNvSpPr/>
          <p:nvPr/>
        </p:nvSpPr>
        <p:spPr>
          <a:xfrm>
            <a:off x="6254496" y="625449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CFO / BD Scheme Coordinator  ·  Risk: Below-market reimbursement rates; claim delays erode working capital</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1750" b="1" kern="0" spc="150">
                <a:solidFill>
                  <a:srgbClr val="1C2B3A"/>
                </a:solidFill>
                <a:latin typeface="Calibri" pitchFamily="34" charset="0"/>
                <a:ea typeface="Calibri" pitchFamily="34" charset="-122"/>
                <a:cs typeface="Calibri" pitchFamily="34" charset="-120"/>
              </a:rPr>
              <a:t>REVENUE PLAN — REFERRAL DEVELOPMENT</a:t>
            </a:r>
            <a:endParaRPr lang="en-US" sz="175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125" i="1">
                <a:solidFill>
                  <a:srgbClr val="5A7A96"/>
                </a:solidFill>
                <a:latin typeface="Calibri" pitchFamily="34" charset="0"/>
                <a:ea typeface="Calibri" pitchFamily="34" charset="-122"/>
                <a:cs typeface="Calibri" pitchFamily="34" charset="-120"/>
              </a:rPr>
              <a:t>Drill-Down  ·  Objective  ·  Basis &amp; Impact  ·  Owner  ·  Risks</a:t>
            </a:r>
            <a:endParaRPr lang="en-US" sz="1125"/>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000" b="1">
                <a:solidFill>
                  <a:srgbClr val="2E7AB6"/>
                </a:solidFill>
                <a:latin typeface="Calibri" pitchFamily="34" charset="0"/>
                <a:ea typeface="Calibri" pitchFamily="34" charset="-122"/>
                <a:cs typeface="Calibri" pitchFamily="34" charset="-120"/>
              </a:rPr>
              <a:t>VPS LAKESHORE  ·  AOP FY 2026–27</a:t>
            </a:r>
            <a:endParaRPr lang="en-US" sz="10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US"/>
          </a:p>
        </p:txBody>
      </p:sp>
      <p:sp>
        <p:nvSpPr>
          <p:cNvPr id="7" name="Shape 5"/>
          <p:cNvSpPr/>
          <p:nvPr/>
        </p:nvSpPr>
        <p:spPr>
          <a:xfrm>
            <a:off x="411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8" name="Shape 6"/>
          <p:cNvSpPr/>
          <p:nvPr/>
        </p:nvSpPr>
        <p:spPr>
          <a:xfrm>
            <a:off x="411480" y="841248"/>
            <a:ext cx="5486400" cy="438912"/>
          </a:xfrm>
          <a:prstGeom prst="rect">
            <a:avLst/>
          </a:prstGeom>
          <a:solidFill>
            <a:srgbClr val="BE1558"/>
          </a:solidFill>
          <a:ln w="12700">
            <a:solidFill>
              <a:srgbClr val="BE1558"/>
            </a:solidFill>
            <a:prstDash val="solid"/>
          </a:ln>
        </p:spPr>
        <p:txBody>
          <a:bodyPr>
            <a:normAutofit/>
          </a:bodyPr>
          <a:lstStyle/>
          <a:p>
            <a:endParaRPr lang="en-US"/>
          </a:p>
        </p:txBody>
      </p:sp>
      <p:sp>
        <p:nvSpPr>
          <p:cNvPr id="9" name="Text 7"/>
          <p:cNvSpPr/>
          <p:nvPr/>
        </p:nvSpPr>
        <p:spPr>
          <a:xfrm>
            <a:off x="539496" y="89611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R-09  ·  Scaled BD Organisation &amp; Referral</a:t>
            </a:r>
            <a:endParaRPr lang="en-US" sz="1375"/>
          </a:p>
        </p:txBody>
      </p:sp>
      <p:sp>
        <p:nvSpPr>
          <p:cNvPr id="10" name="Shape 8"/>
          <p:cNvSpPr/>
          <p:nvPr/>
        </p:nvSpPr>
        <p:spPr>
          <a:xfrm>
            <a:off x="411480" y="128016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11" name="Text 9"/>
          <p:cNvSpPr/>
          <p:nvPr/>
        </p:nvSpPr>
        <p:spPr>
          <a:xfrm>
            <a:off x="539496" y="130759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Referral Development  ·  May-26  ·  ₹3.5 Cr opex/yr</a:t>
            </a:r>
            <a:endParaRPr lang="en-US" sz="1050"/>
          </a:p>
        </p:txBody>
      </p:sp>
      <p:sp>
        <p:nvSpPr>
          <p:cNvPr id="12" name="Text 10"/>
          <p:cNvSpPr/>
          <p:nvPr/>
        </p:nvSpPr>
        <p:spPr>
          <a:xfrm>
            <a:off x="3977640" y="1298448"/>
            <a:ext cx="1783080" cy="237744"/>
          </a:xfrm>
          <a:prstGeom prst="rect">
            <a:avLst/>
          </a:prstGeom>
          <a:noFill/>
          <a:ln/>
        </p:spPr>
        <p:txBody>
          <a:bodyPr wrap="square" lIns="0" tIns="0" rIns="0" bIns="0" rtlCol="0" anchor="ctr">
            <a:normAutofit/>
          </a:bodyPr>
          <a:lstStyle/>
          <a:p>
            <a:pPr marL="0" indent="0" algn="r">
              <a:buNone/>
            </a:pPr>
            <a:r>
              <a:rPr lang="en-US" sz="1250" b="1">
                <a:solidFill>
                  <a:srgbClr val="BE1558"/>
                </a:solidFill>
                <a:latin typeface="Calibri" pitchFamily="34" charset="0"/>
                <a:ea typeface="Calibri" pitchFamily="34" charset="-122"/>
                <a:cs typeface="Calibri" pitchFamily="34" charset="-120"/>
              </a:rPr>
              <a:t>₹25.0 Cr</a:t>
            </a:r>
            <a:endParaRPr lang="en-US" sz="1250"/>
          </a:p>
        </p:txBody>
      </p:sp>
      <p:sp>
        <p:nvSpPr>
          <p:cNvPr id="13" name="Text 11"/>
          <p:cNvSpPr/>
          <p:nvPr/>
        </p:nvSpPr>
        <p:spPr>
          <a:xfrm>
            <a:off x="539496" y="160934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BE1558"/>
                </a:solidFill>
                <a:latin typeface="Calibri" pitchFamily="34" charset="0"/>
                <a:ea typeface="Calibri" pitchFamily="34" charset="-122"/>
                <a:cs typeface="Calibri" pitchFamily="34" charset="-120"/>
              </a:rPr>
              <a:t>OBJECTIVE</a:t>
            </a:r>
            <a:endParaRPr lang="en-US" sz="925"/>
          </a:p>
        </p:txBody>
      </p:sp>
      <p:sp>
        <p:nvSpPr>
          <p:cNvPr id="14" name="Text 12"/>
          <p:cNvSpPr/>
          <p:nvPr/>
        </p:nvSpPr>
        <p:spPr>
          <a:xfrm>
            <a:off x="539496" y="176479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Build a 27-person BD function with three verticals — Referral Development (3 zones, A/B/C tiered 500+ doctor network), Institutional Partnerships (corporate, MVT, satellite, govt), and Communications &amp; Branding (monthly CME calendar, digital CME, case discussions). BD Head reporting to CEO.</a:t>
            </a:r>
            <a:endParaRPr lang="en-US" sz="1175"/>
          </a:p>
        </p:txBody>
      </p:sp>
      <p:sp>
        <p:nvSpPr>
          <p:cNvPr id="15" name="Text 13"/>
          <p:cNvSpPr/>
          <p:nvPr/>
        </p:nvSpPr>
        <p:spPr>
          <a:xfrm>
            <a:off x="539496" y="260604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BE1558"/>
                </a:solidFill>
                <a:latin typeface="Calibri" pitchFamily="34" charset="0"/>
                <a:ea typeface="Calibri" pitchFamily="34" charset="-122"/>
                <a:cs typeface="Calibri" pitchFamily="34" charset="-120"/>
              </a:rPr>
              <a:t>BASIS &amp; IMPACT</a:t>
            </a:r>
            <a:endParaRPr lang="en-US" sz="925"/>
          </a:p>
        </p:txBody>
      </p:sp>
      <p:sp>
        <p:nvSpPr>
          <p:cNvPr id="16" name="Text 14"/>
          <p:cNvSpPr/>
          <p:nvPr/>
        </p:nvSpPr>
        <p:spPr>
          <a:xfrm>
            <a:off x="539496" y="276148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BD org is the execution engine for R-04 through R-15. Target: 500 registered referring doctors by Mar-27; 15% of new IP from tracked referrals. ₹25 Cr revenue (₹18 Cr IP + ₹7 Cr OP). 7× ROI on ₹3.5 Cr investment.</a:t>
            </a:r>
            <a:endParaRPr lang="en-US" sz="1125"/>
          </a:p>
        </p:txBody>
      </p:sp>
      <p:sp>
        <p:nvSpPr>
          <p:cNvPr id="17" name="Text 15"/>
          <p:cNvSpPr/>
          <p:nvPr/>
        </p:nvSpPr>
        <p:spPr>
          <a:xfrm>
            <a:off x="539496" y="332841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Head BD / CEO  ·  Risk: 6 BD roles to fill by Jun-26 is the single largest execution dependency in the entire plan</a:t>
            </a:r>
            <a:endParaRPr lang="en-US" sz="1000"/>
          </a:p>
        </p:txBody>
      </p:sp>
      <p:sp>
        <p:nvSpPr>
          <p:cNvPr id="18" name="Shape 16"/>
          <p:cNvSpPr/>
          <p:nvPr/>
        </p:nvSpPr>
        <p:spPr>
          <a:xfrm>
            <a:off x="6126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9" name="Shape 17"/>
          <p:cNvSpPr/>
          <p:nvPr/>
        </p:nvSpPr>
        <p:spPr>
          <a:xfrm>
            <a:off x="6126480" y="841248"/>
            <a:ext cx="5486400" cy="438912"/>
          </a:xfrm>
          <a:prstGeom prst="rect">
            <a:avLst/>
          </a:prstGeom>
          <a:solidFill>
            <a:srgbClr val="BE1558"/>
          </a:solidFill>
          <a:ln w="12700">
            <a:solidFill>
              <a:srgbClr val="BE1558"/>
            </a:solidFill>
            <a:prstDash val="solid"/>
          </a:ln>
        </p:spPr>
        <p:txBody>
          <a:bodyPr>
            <a:normAutofit/>
          </a:bodyPr>
          <a:lstStyle/>
          <a:p>
            <a:endParaRPr lang="en-US"/>
          </a:p>
        </p:txBody>
      </p:sp>
      <p:sp>
        <p:nvSpPr>
          <p:cNvPr id="20" name="Text 18"/>
          <p:cNvSpPr/>
          <p:nvPr/>
        </p:nvSpPr>
        <p:spPr>
          <a:xfrm>
            <a:off x="6254496" y="89611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R-10  ·  OP-to-IP Conversion &amp; Follow-Up</a:t>
            </a:r>
            <a:endParaRPr lang="en-US" sz="1375"/>
          </a:p>
        </p:txBody>
      </p:sp>
      <p:sp>
        <p:nvSpPr>
          <p:cNvPr id="21" name="Shape 19"/>
          <p:cNvSpPr/>
          <p:nvPr/>
        </p:nvSpPr>
        <p:spPr>
          <a:xfrm>
            <a:off x="6126480" y="128016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22" name="Text 20"/>
          <p:cNvSpPr/>
          <p:nvPr/>
        </p:nvSpPr>
        <p:spPr>
          <a:xfrm>
            <a:off x="6254496" y="130759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Referral Development  ·  May-26  ·  ₹17L opex/yr</a:t>
            </a:r>
            <a:endParaRPr lang="en-US" sz="1050"/>
          </a:p>
        </p:txBody>
      </p:sp>
      <p:sp>
        <p:nvSpPr>
          <p:cNvPr id="23" name="Text 21"/>
          <p:cNvSpPr/>
          <p:nvPr/>
        </p:nvSpPr>
        <p:spPr>
          <a:xfrm>
            <a:off x="9692640" y="1298448"/>
            <a:ext cx="1783080" cy="237744"/>
          </a:xfrm>
          <a:prstGeom prst="rect">
            <a:avLst/>
          </a:prstGeom>
          <a:noFill/>
          <a:ln/>
        </p:spPr>
        <p:txBody>
          <a:bodyPr wrap="square" lIns="0" tIns="0" rIns="0" bIns="0" rtlCol="0" anchor="ctr">
            <a:normAutofit/>
          </a:bodyPr>
          <a:lstStyle/>
          <a:p>
            <a:pPr marL="0" indent="0" algn="r">
              <a:buNone/>
            </a:pPr>
            <a:r>
              <a:rPr lang="en-US" sz="1250" b="1">
                <a:solidFill>
                  <a:srgbClr val="BE1558"/>
                </a:solidFill>
                <a:latin typeface="Calibri" pitchFamily="34" charset="0"/>
                <a:ea typeface="Calibri" pitchFamily="34" charset="-122"/>
                <a:cs typeface="Calibri" pitchFamily="34" charset="-120"/>
              </a:rPr>
              <a:t>₹4.0 Cr</a:t>
            </a:r>
            <a:endParaRPr lang="en-US" sz="1250"/>
          </a:p>
        </p:txBody>
      </p:sp>
      <p:sp>
        <p:nvSpPr>
          <p:cNvPr id="24" name="Text 22"/>
          <p:cNvSpPr/>
          <p:nvPr/>
        </p:nvSpPr>
        <p:spPr>
          <a:xfrm>
            <a:off x="6254496" y="160934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BE1558"/>
                </a:solidFill>
                <a:latin typeface="Calibri" pitchFamily="34" charset="0"/>
                <a:ea typeface="Calibri" pitchFamily="34" charset="-122"/>
                <a:cs typeface="Calibri" pitchFamily="34" charset="-120"/>
              </a:rPr>
              <a:t>OBJECTIVE</a:t>
            </a:r>
            <a:endParaRPr lang="en-US" sz="925"/>
          </a:p>
        </p:txBody>
      </p:sp>
      <p:sp>
        <p:nvSpPr>
          <p:cNvPr id="25" name="Text 23"/>
          <p:cNvSpPr/>
          <p:nvPr/>
        </p:nvSpPr>
        <p:spPr>
          <a:xfrm>
            <a:off x="6254496" y="176479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Systematically track OP patients recommended for IP admission but not converting. Deploy a dedicated follow-up caller team. Post-discharge follow-up programme to improve elective re-admission rates. Integrated with CRM for attribution.</a:t>
            </a:r>
            <a:endParaRPr lang="en-US" sz="1175"/>
          </a:p>
        </p:txBody>
      </p:sp>
      <p:sp>
        <p:nvSpPr>
          <p:cNvPr id="26" name="Text 24"/>
          <p:cNvSpPr/>
          <p:nvPr/>
        </p:nvSpPr>
        <p:spPr>
          <a:xfrm>
            <a:off x="6254496" y="260604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BE1558"/>
                </a:solidFill>
                <a:latin typeface="Calibri" pitchFamily="34" charset="0"/>
                <a:ea typeface="Calibri" pitchFamily="34" charset="-122"/>
                <a:cs typeface="Calibri" pitchFamily="34" charset="-120"/>
              </a:rPr>
              <a:t>BASIS &amp; IMPACT</a:t>
            </a:r>
            <a:endParaRPr lang="en-US" sz="925"/>
          </a:p>
        </p:txBody>
      </p:sp>
      <p:sp>
        <p:nvSpPr>
          <p:cNvPr id="27" name="Text 25"/>
          <p:cNvSpPr/>
          <p:nvPr/>
        </p:nvSpPr>
        <p:spPr>
          <a:xfrm>
            <a:off x="6254496" y="276148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₹4 Cr from 2% OP-to-IP conversion improvement on 15,000 monthly OP visits — 300 additional IP cases/month at ₹1.33L average ticket.</a:t>
            </a:r>
            <a:endParaRPr lang="en-US" sz="1125"/>
          </a:p>
        </p:txBody>
      </p:sp>
      <p:sp>
        <p:nvSpPr>
          <p:cNvPr id="28" name="Text 26"/>
          <p:cNvSpPr/>
          <p:nvPr/>
        </p:nvSpPr>
        <p:spPr>
          <a:xfrm>
            <a:off x="6254496" y="332841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Medical Superintendent / BD  ·  Risk: TPA prior-authorisation delays frustrate conversion; patient affordability in some segments</a:t>
            </a:r>
            <a:endParaRPr lang="en-US" sz="1000"/>
          </a:p>
        </p:txBody>
      </p:sp>
      <p:sp>
        <p:nvSpPr>
          <p:cNvPr id="29" name="Shape 27"/>
          <p:cNvSpPr/>
          <p:nvPr/>
        </p:nvSpPr>
        <p:spPr>
          <a:xfrm>
            <a:off x="411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30" name="Shape 28"/>
          <p:cNvSpPr/>
          <p:nvPr/>
        </p:nvSpPr>
        <p:spPr>
          <a:xfrm>
            <a:off x="411480" y="376732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31" name="Text 29"/>
          <p:cNvSpPr/>
          <p:nvPr/>
        </p:nvSpPr>
        <p:spPr>
          <a:xfrm>
            <a:off x="539496" y="382219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R-11  ·  Departmental Organic Growth</a:t>
            </a:r>
            <a:endParaRPr lang="en-US" sz="1375"/>
          </a:p>
        </p:txBody>
      </p:sp>
      <p:sp>
        <p:nvSpPr>
          <p:cNvPr id="32" name="Shape 30"/>
          <p:cNvSpPr/>
          <p:nvPr/>
        </p:nvSpPr>
        <p:spPr>
          <a:xfrm>
            <a:off x="411480" y="420624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33" name="Text 31"/>
          <p:cNvSpPr/>
          <p:nvPr/>
        </p:nvSpPr>
        <p:spPr>
          <a:xfrm>
            <a:off x="539496" y="423367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High-Value Services  ·  May-26  ·  Nil cost</a:t>
            </a:r>
            <a:endParaRPr lang="en-US" sz="1050"/>
          </a:p>
        </p:txBody>
      </p:sp>
      <p:sp>
        <p:nvSpPr>
          <p:cNvPr id="34" name="Text 32"/>
          <p:cNvSpPr/>
          <p:nvPr/>
        </p:nvSpPr>
        <p:spPr>
          <a:xfrm>
            <a:off x="3977640" y="422452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₹8.0 Cr</a:t>
            </a:r>
            <a:endParaRPr lang="en-US" sz="1250"/>
          </a:p>
        </p:txBody>
      </p:sp>
      <p:sp>
        <p:nvSpPr>
          <p:cNvPr id="35" name="Text 33"/>
          <p:cNvSpPr/>
          <p:nvPr/>
        </p:nvSpPr>
        <p:spPr>
          <a:xfrm>
            <a:off x="539496" y="453542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36" name="Text 34"/>
          <p:cNvSpPr/>
          <p:nvPr/>
        </p:nvSpPr>
        <p:spPr>
          <a:xfrm>
            <a:off x="539496" y="469087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Department-level revenue stretch targets for the top 10 revenue departments. Each HOD presents a specific growth plan — procedure volume increases, new case types, OT utilisation improvement. Targets are collaboratively set and HOD-owned.</a:t>
            </a:r>
            <a:endParaRPr lang="en-US" sz="1175"/>
          </a:p>
        </p:txBody>
      </p:sp>
      <p:sp>
        <p:nvSpPr>
          <p:cNvPr id="37" name="Text 35"/>
          <p:cNvSpPr/>
          <p:nvPr/>
        </p:nvSpPr>
        <p:spPr>
          <a:xfrm>
            <a:off x="539496" y="553212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38" name="Text 36"/>
          <p:cNvSpPr/>
          <p:nvPr/>
        </p:nvSpPr>
        <p:spPr>
          <a:xfrm>
            <a:off x="539496" y="568756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₹8 Cr aggregated from 10 departments at ₹80L average growth per department. Targets are calibrated against FY26 actuals and peer benchmarks.</a:t>
            </a:r>
            <a:endParaRPr lang="en-US" sz="1125"/>
          </a:p>
        </p:txBody>
      </p:sp>
      <p:sp>
        <p:nvSpPr>
          <p:cNvPr id="39" name="Text 37"/>
          <p:cNvSpPr/>
          <p:nvPr/>
        </p:nvSpPr>
        <p:spPr>
          <a:xfrm>
            <a:off x="539496" y="625449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Medical Superintendent / HODs  ·  Risk: HOD accountability needs CEO backing; seasonal volume variation can mask underperformance</a:t>
            </a:r>
            <a:endParaRPr lang="en-US" sz="1000"/>
          </a:p>
        </p:txBody>
      </p:sp>
      <p:sp>
        <p:nvSpPr>
          <p:cNvPr id="40" name="Shape 38"/>
          <p:cNvSpPr/>
          <p:nvPr/>
        </p:nvSpPr>
        <p:spPr>
          <a:xfrm>
            <a:off x="6126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41" name="Shape 39"/>
          <p:cNvSpPr/>
          <p:nvPr/>
        </p:nvSpPr>
        <p:spPr>
          <a:xfrm>
            <a:off x="6126480" y="376732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42" name="Text 40"/>
          <p:cNvSpPr/>
          <p:nvPr/>
        </p:nvSpPr>
        <p:spPr>
          <a:xfrm>
            <a:off x="6254496" y="382219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R-12  ·  New Specialties &amp; Premium Packages</a:t>
            </a:r>
            <a:endParaRPr lang="en-US" sz="1375"/>
          </a:p>
        </p:txBody>
      </p:sp>
      <p:sp>
        <p:nvSpPr>
          <p:cNvPr id="43" name="Shape 41"/>
          <p:cNvSpPr/>
          <p:nvPr/>
        </p:nvSpPr>
        <p:spPr>
          <a:xfrm>
            <a:off x="6126480" y="420624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44" name="Text 42"/>
          <p:cNvSpPr/>
          <p:nvPr/>
        </p:nvSpPr>
        <p:spPr>
          <a:xfrm>
            <a:off x="6254496" y="423367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High-Value Services  ·  May-26  ·  ₹19L capex</a:t>
            </a:r>
            <a:endParaRPr lang="en-US" sz="1050"/>
          </a:p>
        </p:txBody>
      </p:sp>
      <p:sp>
        <p:nvSpPr>
          <p:cNvPr id="45" name="Text 43"/>
          <p:cNvSpPr/>
          <p:nvPr/>
        </p:nvSpPr>
        <p:spPr>
          <a:xfrm>
            <a:off x="9692640" y="422452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₹8.9 Cr</a:t>
            </a:r>
            <a:endParaRPr lang="en-US" sz="1250"/>
          </a:p>
        </p:txBody>
      </p:sp>
      <p:sp>
        <p:nvSpPr>
          <p:cNvPr id="46" name="Text 44"/>
          <p:cNvSpPr/>
          <p:nvPr/>
        </p:nvSpPr>
        <p:spPr>
          <a:xfrm>
            <a:off x="6254496" y="453542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47" name="Text 45"/>
          <p:cNvSpPr/>
          <p:nvPr/>
        </p:nvSpPr>
        <p:spPr>
          <a:xfrm>
            <a:off x="6254496" y="469087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Launch 3–4 new specialty lines and 8 premium clinical packages targeting NRI, HNI and international patients in the ₹15–35L range — multi-organ evaluation, bone marrow assessment, comprehensive oncology workup, cardiac surgery packages.</a:t>
            </a:r>
            <a:endParaRPr lang="en-US" sz="1175"/>
          </a:p>
        </p:txBody>
      </p:sp>
      <p:sp>
        <p:nvSpPr>
          <p:cNvPr id="48" name="Text 46"/>
          <p:cNvSpPr/>
          <p:nvPr/>
        </p:nvSpPr>
        <p:spPr>
          <a:xfrm>
            <a:off x="6254496" y="553212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49" name="Text 47"/>
          <p:cNvSpPr/>
          <p:nvPr/>
        </p:nvSpPr>
        <p:spPr>
          <a:xfrm>
            <a:off x="6254496" y="568756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₹8.9 Cr from new specialty ramp plus 8 packages × 200 annual bookings × ₹4.5L average value. Packages position Lakeshore as destination care for complex diagnostics.</a:t>
            </a:r>
            <a:endParaRPr lang="en-US" sz="1125"/>
          </a:p>
        </p:txBody>
      </p:sp>
      <p:sp>
        <p:nvSpPr>
          <p:cNvPr id="50" name="Text 48"/>
          <p:cNvSpPr/>
          <p:nvPr/>
        </p:nvSpPr>
        <p:spPr>
          <a:xfrm>
            <a:off x="6254496" y="625449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Medical Superintendent / Marketing  ·  Risk: Bundled billing requires NABH compliance; specialist availability for new packages</a:t>
            </a:r>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US"/>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1750" b="1" kern="0" spc="150">
                <a:solidFill>
                  <a:srgbClr val="1C2B3A"/>
                </a:solidFill>
                <a:latin typeface="Calibri" pitchFamily="34" charset="0"/>
                <a:ea typeface="Calibri" pitchFamily="34" charset="-122"/>
                <a:cs typeface="Calibri" pitchFamily="34" charset="-120"/>
              </a:rPr>
              <a:t>REVENUE PLAN — HIGH-VALUE SERVICES &amp; MARKETING</a:t>
            </a:r>
            <a:endParaRPr lang="en-US" sz="175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125" i="1">
                <a:solidFill>
                  <a:srgbClr val="5A7A96"/>
                </a:solidFill>
                <a:latin typeface="Calibri" pitchFamily="34" charset="0"/>
                <a:ea typeface="Calibri" pitchFamily="34" charset="-122"/>
                <a:cs typeface="Calibri" pitchFamily="34" charset="-120"/>
              </a:rPr>
              <a:t>Drill-Down  ·  Objective  ·  Basis &amp; Impact  ·  Owner  ·  Risks</a:t>
            </a:r>
            <a:endParaRPr lang="en-US" sz="1125"/>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000" b="1">
                <a:solidFill>
                  <a:srgbClr val="2E7AB6"/>
                </a:solidFill>
                <a:latin typeface="Calibri" pitchFamily="34" charset="0"/>
                <a:ea typeface="Calibri" pitchFamily="34" charset="-122"/>
                <a:cs typeface="Calibri" pitchFamily="34" charset="-120"/>
              </a:rPr>
              <a:t>VPS LAKESHORE  ·  AOP FY 2026–27</a:t>
            </a:r>
            <a:endParaRPr lang="en-US" sz="10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US"/>
          </a:p>
        </p:txBody>
      </p:sp>
      <p:sp>
        <p:nvSpPr>
          <p:cNvPr id="7" name="Shape 5"/>
          <p:cNvSpPr/>
          <p:nvPr/>
        </p:nvSpPr>
        <p:spPr>
          <a:xfrm>
            <a:off x="411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8" name="Shape 6"/>
          <p:cNvSpPr/>
          <p:nvPr/>
        </p:nvSpPr>
        <p:spPr>
          <a:xfrm>
            <a:off x="411480" y="84124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9" name="Text 7"/>
          <p:cNvSpPr/>
          <p:nvPr/>
        </p:nvSpPr>
        <p:spPr>
          <a:xfrm>
            <a:off x="539496" y="89611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R-13  ·  Senior Clinician Recruitment</a:t>
            </a:r>
            <a:endParaRPr lang="en-US" sz="1375"/>
          </a:p>
        </p:txBody>
      </p:sp>
      <p:sp>
        <p:nvSpPr>
          <p:cNvPr id="10" name="Shape 8"/>
          <p:cNvSpPr/>
          <p:nvPr/>
        </p:nvSpPr>
        <p:spPr>
          <a:xfrm>
            <a:off x="411480" y="128016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11" name="Text 9"/>
          <p:cNvSpPr/>
          <p:nvPr/>
        </p:nvSpPr>
        <p:spPr>
          <a:xfrm>
            <a:off x="539496" y="130759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High-Value Services  ·  May-26  ·  ₹4 Cr opex + ₹90L capex</a:t>
            </a:r>
            <a:endParaRPr lang="en-US" sz="1050"/>
          </a:p>
        </p:txBody>
      </p:sp>
      <p:sp>
        <p:nvSpPr>
          <p:cNvPr id="12" name="Text 10"/>
          <p:cNvSpPr/>
          <p:nvPr/>
        </p:nvSpPr>
        <p:spPr>
          <a:xfrm>
            <a:off x="3977640" y="129844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₹17.9 Cr</a:t>
            </a:r>
            <a:endParaRPr lang="en-US" sz="1250"/>
          </a:p>
        </p:txBody>
      </p:sp>
      <p:sp>
        <p:nvSpPr>
          <p:cNvPr id="13" name="Text 11"/>
          <p:cNvSpPr/>
          <p:nvPr/>
        </p:nvSpPr>
        <p:spPr>
          <a:xfrm>
            <a:off x="539496" y="160934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14" name="Text 12"/>
          <p:cNvSpPr/>
          <p:nvPr/>
        </p:nvSpPr>
        <p:spPr>
          <a:xfrm>
            <a:off x="539496" y="176479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Recruit 4–6 senior consultants in revenue-critical specialties — oncology, transplant, cardiology, neurosurgery, orthopaedics. Each brings an established patient base, referral network and IP procedure volume.</a:t>
            </a:r>
            <a:endParaRPr lang="en-US" sz="1175"/>
          </a:p>
        </p:txBody>
      </p:sp>
      <p:sp>
        <p:nvSpPr>
          <p:cNvPr id="15" name="Text 13"/>
          <p:cNvSpPr/>
          <p:nvPr/>
        </p:nvSpPr>
        <p:spPr>
          <a:xfrm>
            <a:off x="539496" y="260604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16" name="Text 14"/>
          <p:cNvSpPr/>
          <p:nvPr/>
        </p:nvSpPr>
        <p:spPr>
          <a:xfrm>
            <a:off x="539496" y="276148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₹17.9 Cr at ₹3–4 Cr per clinician at full ramp. Investment: ₹400L total annual compensation + ₹90L equipment capex. Net contribution positive from month 7 on average.</a:t>
            </a:r>
            <a:endParaRPr lang="en-US" sz="1125"/>
          </a:p>
        </p:txBody>
      </p:sp>
      <p:sp>
        <p:nvSpPr>
          <p:cNvPr id="17" name="Text 15"/>
          <p:cNvSpPr/>
          <p:nvPr/>
        </p:nvSpPr>
        <p:spPr>
          <a:xfrm>
            <a:off x="539496" y="332841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CEO / Medical Superintendent / HR  ·  Risk: Intense talent competition from Aster, KIMS, Apollo; 6–9 month recruitment cycle for senior profiles</a:t>
            </a:r>
            <a:endParaRPr lang="en-US" sz="1000"/>
          </a:p>
        </p:txBody>
      </p:sp>
      <p:sp>
        <p:nvSpPr>
          <p:cNvPr id="18" name="Shape 16"/>
          <p:cNvSpPr/>
          <p:nvPr/>
        </p:nvSpPr>
        <p:spPr>
          <a:xfrm>
            <a:off x="6126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19" name="Shape 17"/>
          <p:cNvSpPr/>
          <p:nvPr/>
        </p:nvSpPr>
        <p:spPr>
          <a:xfrm>
            <a:off x="6126480" y="84124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20" name="Text 18"/>
          <p:cNvSpPr/>
          <p:nvPr/>
        </p:nvSpPr>
        <p:spPr>
          <a:xfrm>
            <a:off x="6254496" y="89611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R-14  ·  Quarterly Flagship Health Events</a:t>
            </a:r>
            <a:endParaRPr lang="en-US" sz="1375"/>
          </a:p>
        </p:txBody>
      </p:sp>
      <p:sp>
        <p:nvSpPr>
          <p:cNvPr id="21" name="Shape 19"/>
          <p:cNvSpPr/>
          <p:nvPr/>
        </p:nvSpPr>
        <p:spPr>
          <a:xfrm>
            <a:off x="6126480" y="128016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22" name="Text 20"/>
          <p:cNvSpPr/>
          <p:nvPr/>
        </p:nvSpPr>
        <p:spPr>
          <a:xfrm>
            <a:off x="6254496" y="130759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Marketing  ·  Sep-26  ·  ₹1.1 Cr opex/yr</a:t>
            </a:r>
            <a:endParaRPr lang="en-US" sz="1050"/>
          </a:p>
        </p:txBody>
      </p:sp>
      <p:sp>
        <p:nvSpPr>
          <p:cNvPr id="23" name="Text 21"/>
          <p:cNvSpPr/>
          <p:nvPr/>
        </p:nvSpPr>
        <p:spPr>
          <a:xfrm>
            <a:off x="9692640" y="129844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₹1.5 Cr</a:t>
            </a:r>
            <a:endParaRPr lang="en-US" sz="1250"/>
          </a:p>
        </p:txBody>
      </p:sp>
      <p:sp>
        <p:nvSpPr>
          <p:cNvPr id="24" name="Text 22"/>
          <p:cNvSpPr/>
          <p:nvPr/>
        </p:nvSpPr>
        <p:spPr>
          <a:xfrm>
            <a:off x="6254496" y="160934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25" name="Text 23"/>
          <p:cNvSpPr/>
          <p:nvPr/>
        </p:nvSpPr>
        <p:spPr>
          <a:xfrm>
            <a:off x="6254496" y="176479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Four flagship events per year — cardiac, cancer, orthopaedic, metabolic — each targeting 500+ attendees with live screening, specialist consultation and media coverage to drive direct OPD conversions.</a:t>
            </a:r>
            <a:endParaRPr lang="en-US" sz="1175"/>
          </a:p>
        </p:txBody>
      </p:sp>
      <p:sp>
        <p:nvSpPr>
          <p:cNvPr id="26" name="Text 24"/>
          <p:cNvSpPr/>
          <p:nvPr/>
        </p:nvSpPr>
        <p:spPr>
          <a:xfrm>
            <a:off x="6254496" y="260604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27" name="Text 25"/>
          <p:cNvSpPr/>
          <p:nvPr/>
        </p:nvSpPr>
        <p:spPr>
          <a:xfrm>
            <a:off x="6254496" y="276148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₹1.5 Cr from 4 events × 500 attendees × ₹7,500 average conversion to diagnostics and OP visits. Each event budgeted at ₹27L.</a:t>
            </a:r>
            <a:endParaRPr lang="en-US" sz="1125"/>
          </a:p>
        </p:txBody>
      </p:sp>
      <p:sp>
        <p:nvSpPr>
          <p:cNvPr id="28" name="Text 26"/>
          <p:cNvSpPr/>
          <p:nvPr/>
        </p:nvSpPr>
        <p:spPr>
          <a:xfrm>
            <a:off x="6254496" y="332841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Communications Vertical / BD  ·  Risk: Attendance is weather-sensitive; conversion attribution requires CRM integration</a:t>
            </a:r>
            <a:endParaRPr lang="en-US" sz="1000"/>
          </a:p>
        </p:txBody>
      </p:sp>
      <p:sp>
        <p:nvSpPr>
          <p:cNvPr id="29" name="Shape 27"/>
          <p:cNvSpPr/>
          <p:nvPr/>
        </p:nvSpPr>
        <p:spPr>
          <a:xfrm>
            <a:off x="411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30" name="Shape 28"/>
          <p:cNvSpPr/>
          <p:nvPr/>
        </p:nvSpPr>
        <p:spPr>
          <a:xfrm>
            <a:off x="411480" y="376732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31" name="Text 29"/>
          <p:cNvSpPr/>
          <p:nvPr/>
        </p:nvSpPr>
        <p:spPr>
          <a:xfrm>
            <a:off x="539496" y="382219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R-15  ·  Digital Patient Acquisition</a:t>
            </a:r>
            <a:endParaRPr lang="en-US" sz="1375"/>
          </a:p>
        </p:txBody>
      </p:sp>
      <p:sp>
        <p:nvSpPr>
          <p:cNvPr id="32" name="Shape 30"/>
          <p:cNvSpPr/>
          <p:nvPr/>
        </p:nvSpPr>
        <p:spPr>
          <a:xfrm>
            <a:off x="411480" y="420624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33" name="Text 31"/>
          <p:cNvSpPr/>
          <p:nvPr/>
        </p:nvSpPr>
        <p:spPr>
          <a:xfrm>
            <a:off x="539496" y="423367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Marketing  ·  Apr-26  ·  ₹62L opex/yr</a:t>
            </a:r>
            <a:endParaRPr lang="en-US" sz="1050"/>
          </a:p>
        </p:txBody>
      </p:sp>
      <p:sp>
        <p:nvSpPr>
          <p:cNvPr id="34" name="Text 32"/>
          <p:cNvSpPr/>
          <p:nvPr/>
        </p:nvSpPr>
        <p:spPr>
          <a:xfrm>
            <a:off x="3977640" y="422452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₹5.0 Cr</a:t>
            </a:r>
            <a:endParaRPr lang="en-US" sz="1250"/>
          </a:p>
        </p:txBody>
      </p:sp>
      <p:sp>
        <p:nvSpPr>
          <p:cNvPr id="35" name="Text 33"/>
          <p:cNvSpPr/>
          <p:nvPr/>
        </p:nvSpPr>
        <p:spPr>
          <a:xfrm>
            <a:off x="539496" y="453542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36" name="Text 34"/>
          <p:cNvSpPr/>
          <p:nvPr/>
        </p:nvSpPr>
        <p:spPr>
          <a:xfrm>
            <a:off x="539496" y="469087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Scale digital patient acquisition through SEO, paid search and social media. Build online reputation management. Increase online appointment bookings through a streamlined digital booking journey.</a:t>
            </a:r>
            <a:endParaRPr lang="en-US" sz="1175"/>
          </a:p>
        </p:txBody>
      </p:sp>
      <p:sp>
        <p:nvSpPr>
          <p:cNvPr id="37" name="Text 35"/>
          <p:cNvSpPr/>
          <p:nvPr/>
        </p:nvSpPr>
        <p:spPr>
          <a:xfrm>
            <a:off x="539496" y="553212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38" name="Text 36"/>
          <p:cNvSpPr/>
          <p:nvPr/>
        </p:nvSpPr>
        <p:spPr>
          <a:xfrm>
            <a:off x="539496" y="568756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₹5 Cr from 10,000 digitally-attributed appointments/year × 15% IP conversion × ₹3.3L average IP ticket. Digital channel underdeveloped vs Aster and Apollo in Kerala.</a:t>
            </a:r>
            <a:endParaRPr lang="en-US" sz="1125"/>
          </a:p>
        </p:txBody>
      </p:sp>
      <p:sp>
        <p:nvSpPr>
          <p:cNvPr id="39" name="Text 37"/>
          <p:cNvSpPr/>
          <p:nvPr/>
        </p:nvSpPr>
        <p:spPr>
          <a:xfrm>
            <a:off x="539496" y="6254496"/>
            <a:ext cx="5230368" cy="256032"/>
          </a:xfrm>
          <a:prstGeom prst="rect">
            <a:avLst/>
          </a:prstGeom>
          <a:noFill/>
          <a:ln/>
        </p:spPr>
        <p:txBody>
          <a:bodyPr wrap="square" lIns="0" tIns="0" rIns="0" bIns="0" rtlCol="0" anchor="ctr">
            <a:normAutofit fontScale="92500" lnSpcReduction="10000"/>
          </a:bodyPr>
          <a:lstStyle/>
          <a:p>
            <a:pPr marL="0" indent="0">
              <a:buNone/>
            </a:pPr>
            <a:r>
              <a:rPr lang="en-US" sz="1000" i="1">
                <a:solidFill>
                  <a:srgbClr val="5A7A96"/>
                </a:solidFill>
                <a:latin typeface="Calibri" pitchFamily="34" charset="0"/>
                <a:ea typeface="Calibri" pitchFamily="34" charset="-122"/>
                <a:cs typeface="Calibri" pitchFamily="34" charset="-120"/>
              </a:rPr>
              <a:t>Owner: Marketing Head / Digital Agency  ·  Risk: Paid media costs inflate 15–20% annually; attribution needs CRM-to-HIS integration</a:t>
            </a:r>
            <a:endParaRPr lang="en-US" sz="1000"/>
          </a:p>
        </p:txBody>
      </p:sp>
      <p:sp>
        <p:nvSpPr>
          <p:cNvPr id="40" name="Shape 38"/>
          <p:cNvSpPr/>
          <p:nvPr/>
        </p:nvSpPr>
        <p:spPr>
          <a:xfrm>
            <a:off x="6126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US"/>
          </a:p>
        </p:txBody>
      </p:sp>
      <p:sp>
        <p:nvSpPr>
          <p:cNvPr id="41" name="Shape 39"/>
          <p:cNvSpPr/>
          <p:nvPr/>
        </p:nvSpPr>
        <p:spPr>
          <a:xfrm>
            <a:off x="6126480" y="3767328"/>
            <a:ext cx="5486400" cy="438912"/>
          </a:xfrm>
          <a:prstGeom prst="rect">
            <a:avLst/>
          </a:prstGeom>
          <a:solidFill>
            <a:srgbClr val="2E7AB6"/>
          </a:solidFill>
          <a:ln w="12700">
            <a:solidFill>
              <a:srgbClr val="2E7AB6"/>
            </a:solidFill>
            <a:prstDash val="solid"/>
          </a:ln>
        </p:spPr>
        <p:txBody>
          <a:bodyPr>
            <a:normAutofit/>
          </a:bodyPr>
          <a:lstStyle/>
          <a:p>
            <a:endParaRPr lang="en-US"/>
          </a:p>
        </p:txBody>
      </p:sp>
      <p:sp>
        <p:nvSpPr>
          <p:cNvPr id="42" name="Text 40"/>
          <p:cNvSpPr/>
          <p:nvPr/>
        </p:nvSpPr>
        <p:spPr>
          <a:xfrm>
            <a:off x="6254496" y="3822192"/>
            <a:ext cx="5029200" cy="329184"/>
          </a:xfrm>
          <a:prstGeom prst="rect">
            <a:avLst/>
          </a:prstGeom>
          <a:noFill/>
          <a:ln/>
        </p:spPr>
        <p:txBody>
          <a:bodyPr wrap="square" lIns="0" tIns="0" rIns="0" bIns="0" rtlCol="0" anchor="ctr">
            <a:normAutofit/>
          </a:bodyPr>
          <a:lstStyle/>
          <a:p>
            <a:pPr marL="0" indent="0">
              <a:buNone/>
            </a:pPr>
            <a:r>
              <a:rPr lang="en-US" sz="1375" b="1">
                <a:solidFill>
                  <a:srgbClr val="FFFFFF"/>
                </a:solidFill>
                <a:latin typeface="Calibri" pitchFamily="34" charset="0"/>
                <a:ea typeface="Calibri" pitchFamily="34" charset="-122"/>
                <a:cs typeface="Calibri" pitchFamily="34" charset="-120"/>
              </a:rPr>
              <a:t>R-16  ·  Treasury &amp; Cash Optimisation</a:t>
            </a:r>
            <a:endParaRPr lang="en-US" sz="1375"/>
          </a:p>
        </p:txBody>
      </p:sp>
      <p:sp>
        <p:nvSpPr>
          <p:cNvPr id="43" name="Shape 41"/>
          <p:cNvSpPr/>
          <p:nvPr/>
        </p:nvSpPr>
        <p:spPr>
          <a:xfrm>
            <a:off x="6126480" y="4206240"/>
            <a:ext cx="5486400" cy="274320"/>
          </a:xfrm>
          <a:prstGeom prst="rect">
            <a:avLst/>
          </a:prstGeom>
          <a:solidFill>
            <a:srgbClr val="EBF3FA"/>
          </a:solidFill>
          <a:ln w="3810">
            <a:solidFill>
              <a:srgbClr val="C8D9EE"/>
            </a:solidFill>
            <a:prstDash val="solid"/>
          </a:ln>
        </p:spPr>
        <p:txBody>
          <a:bodyPr>
            <a:normAutofit fontScale="77500" lnSpcReduction="20000"/>
          </a:bodyPr>
          <a:lstStyle/>
          <a:p>
            <a:endParaRPr lang="en-US"/>
          </a:p>
        </p:txBody>
      </p:sp>
      <p:sp>
        <p:nvSpPr>
          <p:cNvPr id="44" name="Text 42"/>
          <p:cNvSpPr/>
          <p:nvPr/>
        </p:nvSpPr>
        <p:spPr>
          <a:xfrm>
            <a:off x="6254496" y="4233672"/>
            <a:ext cx="3474720" cy="219456"/>
          </a:xfrm>
          <a:prstGeom prst="rect">
            <a:avLst/>
          </a:prstGeom>
          <a:noFill/>
          <a:ln/>
        </p:spPr>
        <p:txBody>
          <a:bodyPr wrap="square" lIns="0" tIns="0" rIns="0" bIns="0" rtlCol="0" anchor="ctr">
            <a:normAutofit/>
          </a:bodyPr>
          <a:lstStyle/>
          <a:p>
            <a:pPr marL="0" indent="0">
              <a:buNone/>
            </a:pPr>
            <a:r>
              <a:rPr lang="en-US" sz="1050">
                <a:solidFill>
                  <a:srgbClr val="5A7A96"/>
                </a:solidFill>
                <a:latin typeface="Calibri" pitchFamily="34" charset="0"/>
                <a:ea typeface="Calibri" pitchFamily="34" charset="-122"/>
                <a:cs typeface="Calibri" pitchFamily="34" charset="-120"/>
              </a:rPr>
              <a:t>Financial Income  ·  May-26  ·  Nil cost</a:t>
            </a:r>
            <a:endParaRPr lang="en-US" sz="1050"/>
          </a:p>
        </p:txBody>
      </p:sp>
      <p:sp>
        <p:nvSpPr>
          <p:cNvPr id="45" name="Text 43"/>
          <p:cNvSpPr/>
          <p:nvPr/>
        </p:nvSpPr>
        <p:spPr>
          <a:xfrm>
            <a:off x="9692640" y="4224528"/>
            <a:ext cx="1783080" cy="237744"/>
          </a:xfrm>
          <a:prstGeom prst="rect">
            <a:avLst/>
          </a:prstGeom>
          <a:noFill/>
          <a:ln/>
        </p:spPr>
        <p:txBody>
          <a:bodyPr wrap="square" lIns="0" tIns="0" rIns="0" bIns="0" rtlCol="0" anchor="ctr">
            <a:normAutofit/>
          </a:bodyPr>
          <a:lstStyle/>
          <a:p>
            <a:pPr marL="0" indent="0" algn="r">
              <a:buNone/>
            </a:pPr>
            <a:r>
              <a:rPr lang="en-US" sz="1250" b="1">
                <a:solidFill>
                  <a:srgbClr val="2E7AB6"/>
                </a:solidFill>
                <a:latin typeface="Calibri" pitchFamily="34" charset="0"/>
                <a:ea typeface="Calibri" pitchFamily="34" charset="-122"/>
                <a:cs typeface="Calibri" pitchFamily="34" charset="-120"/>
              </a:rPr>
              <a:t>₹2.0 Cr</a:t>
            </a:r>
            <a:endParaRPr lang="en-US" sz="1250"/>
          </a:p>
        </p:txBody>
      </p:sp>
      <p:sp>
        <p:nvSpPr>
          <p:cNvPr id="46" name="Text 44"/>
          <p:cNvSpPr/>
          <p:nvPr/>
        </p:nvSpPr>
        <p:spPr>
          <a:xfrm>
            <a:off x="6254496" y="4535424"/>
            <a:ext cx="137160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OBJECTIVE</a:t>
            </a:r>
            <a:endParaRPr lang="en-US" sz="925"/>
          </a:p>
        </p:txBody>
      </p:sp>
      <p:sp>
        <p:nvSpPr>
          <p:cNvPr id="47" name="Text 45"/>
          <p:cNvSpPr/>
          <p:nvPr/>
        </p:nvSpPr>
        <p:spPr>
          <a:xfrm>
            <a:off x="6254496" y="4690872"/>
            <a:ext cx="5230368" cy="804672"/>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Deploy idle cash and daily float into high-yield liquid instruments — T-Bills, liquid mutual funds, bank FDs at competitive rates. Formal treasury policy with daily sweep and board-approved instrument list.</a:t>
            </a:r>
            <a:endParaRPr lang="en-US" sz="1175"/>
          </a:p>
        </p:txBody>
      </p:sp>
      <p:sp>
        <p:nvSpPr>
          <p:cNvPr id="48" name="Text 46"/>
          <p:cNvSpPr/>
          <p:nvPr/>
        </p:nvSpPr>
        <p:spPr>
          <a:xfrm>
            <a:off x="6254496" y="5532120"/>
            <a:ext cx="1645920" cy="182880"/>
          </a:xfrm>
          <a:prstGeom prst="rect">
            <a:avLst/>
          </a:prstGeom>
          <a:noFill/>
          <a:ln/>
        </p:spPr>
        <p:txBody>
          <a:bodyPr wrap="square" lIns="0" tIns="0" rIns="0" bIns="0" rtlCol="0" anchor="ctr">
            <a:normAutofit/>
          </a:bodyPr>
          <a:lstStyle/>
          <a:p>
            <a:pPr marL="0" indent="0">
              <a:buNone/>
            </a:pPr>
            <a:r>
              <a:rPr lang="en-US" sz="925" b="1" kern="0" spc="100">
                <a:solidFill>
                  <a:srgbClr val="2E7AB6"/>
                </a:solidFill>
                <a:latin typeface="Calibri" pitchFamily="34" charset="0"/>
                <a:ea typeface="Calibri" pitchFamily="34" charset="-122"/>
                <a:cs typeface="Calibri" pitchFamily="34" charset="-120"/>
              </a:rPr>
              <a:t>BASIS &amp; IMPACT</a:t>
            </a:r>
            <a:endParaRPr lang="en-US" sz="925"/>
          </a:p>
        </p:txBody>
      </p:sp>
      <p:sp>
        <p:nvSpPr>
          <p:cNvPr id="49" name="Text 47"/>
          <p:cNvSpPr/>
          <p:nvPr/>
        </p:nvSpPr>
        <p:spPr>
          <a:xfrm>
            <a:off x="6254496" y="5687568"/>
            <a:ext cx="5230368" cy="530352"/>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Average daily float of ₹15–20 Cr. At 7–8% annualised yield vs ~4% current bank rate, incremental income on ₹15 Cr deployed is ₹2 Cr per year.</a:t>
            </a:r>
            <a:endParaRPr lang="en-US" sz="1125"/>
          </a:p>
        </p:txBody>
      </p:sp>
      <p:sp>
        <p:nvSpPr>
          <p:cNvPr id="50" name="Text 48"/>
          <p:cNvSpPr/>
          <p:nvPr/>
        </p:nvSpPr>
        <p:spPr>
          <a:xfrm>
            <a:off x="6254496" y="6254496"/>
            <a:ext cx="5230368" cy="256032"/>
          </a:xfrm>
          <a:prstGeom prst="rect">
            <a:avLst/>
          </a:prstGeom>
          <a:noFill/>
          <a:ln/>
        </p:spPr>
        <p:txBody>
          <a:bodyPr wrap="square" lIns="0" tIns="0" rIns="0" bIns="0" rtlCol="0" anchor="ctr">
            <a:normAutofit fontScale="92500"/>
          </a:bodyPr>
          <a:lstStyle/>
          <a:p>
            <a:pPr marL="0" indent="0">
              <a:buNone/>
            </a:pPr>
            <a:r>
              <a:rPr lang="en-US" sz="1000" i="1">
                <a:solidFill>
                  <a:srgbClr val="5A7A96"/>
                </a:solidFill>
                <a:latin typeface="Calibri" pitchFamily="34" charset="0"/>
                <a:ea typeface="Calibri" pitchFamily="34" charset="-122"/>
                <a:cs typeface="Calibri" pitchFamily="34" charset="-120"/>
              </a:rPr>
              <a:t>Owner: CFO  ·  Risk: Liquidity management discipline; investment approvals under hospital entity regulations</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BE1558"/>
          </a:solidFill>
          <a:ln w="12700">
            <a:solidFill>
              <a:srgbClr val="BE1558"/>
            </a:solidFill>
            <a:prstDash val="solid"/>
          </a:ln>
        </p:spPr>
        <p:txBody>
          <a:bodyPr>
            <a:normAutofit/>
          </a:bodyPr>
          <a:lstStyle/>
          <a:p>
            <a:endParaRPr lang="en-US"/>
          </a:p>
        </p:txBody>
      </p:sp>
      <p:sp>
        <p:nvSpPr>
          <p:cNvPr id="3" name="Shape 1"/>
          <p:cNvSpPr/>
          <p:nvPr/>
        </p:nvSpPr>
        <p:spPr>
          <a:xfrm>
            <a:off x="8961120" y="0"/>
            <a:ext cx="3200400" cy="6858000"/>
          </a:xfrm>
          <a:prstGeom prst="rect">
            <a:avLst/>
          </a:prstGeom>
          <a:solidFill>
            <a:srgbClr val="162433"/>
          </a:solidFill>
          <a:ln w="12700">
            <a:solidFill>
              <a:srgbClr val="162433"/>
            </a:solidFill>
            <a:prstDash val="solid"/>
          </a:ln>
        </p:spPr>
        <p:txBody>
          <a:bodyPr>
            <a:normAutofit/>
          </a:bodyPr>
          <a:lstStyle/>
          <a:p>
            <a:endParaRPr lang="en-US"/>
          </a:p>
        </p:txBody>
      </p:sp>
      <p:sp>
        <p:nvSpPr>
          <p:cNvPr id="4" name="Shape 2"/>
          <p:cNvSpPr/>
          <p:nvPr/>
        </p:nvSpPr>
        <p:spPr>
          <a:xfrm>
            <a:off x="8961120" y="859536"/>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5" name="Shape 3"/>
          <p:cNvSpPr/>
          <p:nvPr/>
        </p:nvSpPr>
        <p:spPr>
          <a:xfrm>
            <a:off x="8961120" y="1719072"/>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6" name="Shape 4"/>
          <p:cNvSpPr/>
          <p:nvPr/>
        </p:nvSpPr>
        <p:spPr>
          <a:xfrm>
            <a:off x="8961120" y="2578608"/>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7" name="Shape 5"/>
          <p:cNvSpPr/>
          <p:nvPr/>
        </p:nvSpPr>
        <p:spPr>
          <a:xfrm>
            <a:off x="8961120" y="3438144"/>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8" name="Shape 6"/>
          <p:cNvSpPr/>
          <p:nvPr/>
        </p:nvSpPr>
        <p:spPr>
          <a:xfrm>
            <a:off x="8961120" y="4297680"/>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9" name="Shape 7"/>
          <p:cNvSpPr/>
          <p:nvPr/>
        </p:nvSpPr>
        <p:spPr>
          <a:xfrm>
            <a:off x="8961120" y="5157216"/>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0" name="Shape 8"/>
          <p:cNvSpPr/>
          <p:nvPr/>
        </p:nvSpPr>
        <p:spPr>
          <a:xfrm>
            <a:off x="8961120" y="6016752"/>
            <a:ext cx="3200400" cy="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1" name="Shape 9"/>
          <p:cNvSpPr/>
          <p:nvPr/>
        </p:nvSpPr>
        <p:spPr>
          <a:xfrm>
            <a:off x="8961120"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2" name="Shape 10"/>
          <p:cNvSpPr/>
          <p:nvPr/>
        </p:nvSpPr>
        <p:spPr>
          <a:xfrm>
            <a:off x="9756648"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3" name="Shape 11"/>
          <p:cNvSpPr/>
          <p:nvPr/>
        </p:nvSpPr>
        <p:spPr>
          <a:xfrm>
            <a:off x="10552176"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4" name="Shape 12"/>
          <p:cNvSpPr/>
          <p:nvPr/>
        </p:nvSpPr>
        <p:spPr>
          <a:xfrm>
            <a:off x="11347704"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5" name="Shape 13"/>
          <p:cNvSpPr/>
          <p:nvPr/>
        </p:nvSpPr>
        <p:spPr>
          <a:xfrm>
            <a:off x="12143232"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US"/>
          </a:p>
        </p:txBody>
      </p:sp>
      <p:sp>
        <p:nvSpPr>
          <p:cNvPr id="16" name="Text 14"/>
          <p:cNvSpPr/>
          <p:nvPr/>
        </p:nvSpPr>
        <p:spPr>
          <a:xfrm>
            <a:off x="9052560" y="3017520"/>
            <a:ext cx="2926080" cy="822960"/>
          </a:xfrm>
          <a:prstGeom prst="rect">
            <a:avLst/>
          </a:prstGeom>
          <a:noFill/>
          <a:ln/>
        </p:spPr>
        <p:txBody>
          <a:bodyPr wrap="square" lIns="0" tIns="0" rIns="0" bIns="0" rtlCol="0" anchor="ctr">
            <a:normAutofit/>
          </a:bodyPr>
          <a:lstStyle/>
          <a:p>
            <a:pPr marL="0" indent="0" algn="ctr">
              <a:lnSpc>
                <a:spcPct val="130000"/>
              </a:lnSpc>
              <a:buNone/>
            </a:pPr>
            <a:r>
              <a:rPr lang="en-US" sz="1500" b="1">
                <a:solidFill>
                  <a:srgbClr val="A0BBCC"/>
                </a:solidFill>
                <a:latin typeface="Calibri" pitchFamily="34" charset="0"/>
                <a:ea typeface="Calibri" pitchFamily="34" charset="-122"/>
                <a:cs typeface="Calibri" pitchFamily="34" charset="-120"/>
              </a:rPr>
              <a:t>VPS LAKESHORE</a:t>
            </a:r>
            <a:endParaRPr lang="en-US" sz="1500"/>
          </a:p>
          <a:p>
            <a:pPr marL="0" indent="0" algn="ctr">
              <a:lnSpc>
                <a:spcPct val="130000"/>
              </a:lnSpc>
              <a:buNone/>
            </a:pPr>
            <a:r>
              <a:rPr lang="en-US" sz="1500" b="1">
                <a:solidFill>
                  <a:srgbClr val="A0BBCC"/>
                </a:solidFill>
                <a:latin typeface="Calibri" pitchFamily="34" charset="0"/>
                <a:ea typeface="Calibri" pitchFamily="34" charset="-122"/>
                <a:cs typeface="Calibri" pitchFamily="34" charset="-120"/>
              </a:rPr>
              <a:t>HOSPITAL · KOCHI</a:t>
            </a:r>
            <a:endParaRPr lang="en-US" sz="1500"/>
          </a:p>
        </p:txBody>
      </p:sp>
      <p:sp>
        <p:nvSpPr>
          <p:cNvPr id="17" name="Text 15"/>
          <p:cNvSpPr/>
          <p:nvPr/>
        </p:nvSpPr>
        <p:spPr>
          <a:xfrm>
            <a:off x="777240" y="1874520"/>
            <a:ext cx="6400800" cy="320040"/>
          </a:xfrm>
          <a:prstGeom prst="rect">
            <a:avLst/>
          </a:prstGeom>
          <a:noFill/>
          <a:ln/>
        </p:spPr>
        <p:txBody>
          <a:bodyPr wrap="square" lIns="0" tIns="0" rIns="0" bIns="0" rtlCol="0" anchor="ctr">
            <a:normAutofit/>
          </a:bodyPr>
          <a:lstStyle/>
          <a:p>
            <a:pPr marL="0" indent="0">
              <a:buNone/>
            </a:pPr>
            <a:r>
              <a:rPr lang="en-US" sz="1350" b="1" kern="0" spc="500">
                <a:solidFill>
                  <a:srgbClr val="BE1558"/>
                </a:solidFill>
                <a:latin typeface="Calibri" pitchFamily="34" charset="0"/>
                <a:ea typeface="Calibri" pitchFamily="34" charset="-122"/>
                <a:cs typeface="Calibri" pitchFamily="34" charset="-120"/>
              </a:rPr>
              <a:t>SECTION</a:t>
            </a:r>
            <a:endParaRPr lang="en-US" sz="1350"/>
          </a:p>
        </p:txBody>
      </p:sp>
      <p:sp>
        <p:nvSpPr>
          <p:cNvPr id="18" name="Text 16"/>
          <p:cNvSpPr/>
          <p:nvPr/>
        </p:nvSpPr>
        <p:spPr>
          <a:xfrm>
            <a:off x="777240" y="2212848"/>
            <a:ext cx="7955280" cy="1463040"/>
          </a:xfrm>
          <a:prstGeom prst="rect">
            <a:avLst/>
          </a:prstGeom>
          <a:noFill/>
          <a:ln/>
        </p:spPr>
        <p:txBody>
          <a:bodyPr wrap="square" lIns="0" tIns="0" rIns="0" bIns="0" rtlCol="0" anchor="ctr">
            <a:normAutofit/>
          </a:bodyPr>
          <a:lstStyle/>
          <a:p>
            <a:pPr marL="0" indent="0">
              <a:lnSpc>
                <a:spcPct val="100000"/>
              </a:lnSpc>
              <a:buNone/>
            </a:pPr>
            <a:r>
              <a:rPr lang="en-US" sz="4400" b="1" dirty="0">
                <a:solidFill>
                  <a:srgbClr val="FFFFFF"/>
                </a:solidFill>
                <a:latin typeface="Calibri" pitchFamily="34" charset="0"/>
                <a:ea typeface="Calibri" pitchFamily="34" charset="-122"/>
                <a:cs typeface="Calibri" pitchFamily="34" charset="-120"/>
              </a:rPr>
              <a:t>Cost</a:t>
            </a:r>
            <a:endParaRPr lang="en-US" sz="4400" dirty="0"/>
          </a:p>
          <a:p>
            <a:pPr marL="0" indent="0">
              <a:lnSpc>
                <a:spcPct val="100000"/>
              </a:lnSpc>
              <a:buNone/>
            </a:pPr>
            <a:r>
              <a:rPr lang="en-US" sz="4400" b="1" dirty="0">
                <a:solidFill>
                  <a:srgbClr val="FFFFFF"/>
                </a:solidFill>
                <a:latin typeface="Calibri" pitchFamily="34" charset="0"/>
                <a:ea typeface="Calibri" pitchFamily="34" charset="-122"/>
                <a:cs typeface="Calibri" pitchFamily="34" charset="-120"/>
              </a:rPr>
              <a:t>Plan</a:t>
            </a:r>
            <a:endParaRPr lang="en-US" sz="4400" dirty="0"/>
          </a:p>
        </p:txBody>
      </p:sp>
      <p:sp>
        <p:nvSpPr>
          <p:cNvPr id="19" name="Shape 17"/>
          <p:cNvSpPr/>
          <p:nvPr/>
        </p:nvSpPr>
        <p:spPr>
          <a:xfrm>
            <a:off x="777240" y="3730752"/>
            <a:ext cx="4389120" cy="0"/>
          </a:xfrm>
          <a:prstGeom prst="line">
            <a:avLst/>
          </a:prstGeom>
          <a:noFill/>
          <a:ln w="19050">
            <a:solidFill>
              <a:srgbClr val="BE1558"/>
            </a:solidFill>
            <a:prstDash val="solid"/>
          </a:ln>
        </p:spPr>
        <p:txBody>
          <a:bodyPr>
            <a:normAutofit fontScale="25000" lnSpcReduction="20000"/>
          </a:bodyPr>
          <a:lstStyle/>
          <a:p>
            <a:endParaRPr lang="en-US"/>
          </a:p>
        </p:txBody>
      </p:sp>
      <p:sp>
        <p:nvSpPr>
          <p:cNvPr id="20" name="Text 18"/>
          <p:cNvSpPr/>
          <p:nvPr/>
        </p:nvSpPr>
        <p:spPr>
          <a:xfrm>
            <a:off x="777240" y="3913632"/>
            <a:ext cx="7955280" cy="365760"/>
          </a:xfrm>
          <a:prstGeom prst="rect">
            <a:avLst/>
          </a:prstGeom>
          <a:noFill/>
          <a:ln/>
        </p:spPr>
        <p:txBody>
          <a:bodyPr wrap="square" lIns="0" tIns="0" rIns="0" bIns="0" rtlCol="0" anchor="ctr">
            <a:normAutofit/>
          </a:bodyPr>
          <a:lstStyle/>
          <a:p>
            <a:pPr marL="0" indent="0">
              <a:buNone/>
            </a:pPr>
            <a:r>
              <a:rPr lang="en-US" sz="1650">
                <a:solidFill>
                  <a:srgbClr val="A0BBCC"/>
                </a:solidFill>
                <a:latin typeface="Calibri" pitchFamily="34" charset="0"/>
                <a:ea typeface="Calibri" pitchFamily="34" charset="-122"/>
                <a:cs typeface="Calibri" pitchFamily="34" charset="-120"/>
              </a:rPr>
              <a:t>Cost Structure · ₹10.3 Cr Savings Programme · 12 Initiative Drill-Downs</a:t>
            </a:r>
            <a:endParaRPr lang="en-US" sz="16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IN"/>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COST PLAN — EXECUTIVE SUMMARY</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FY27  ·  ₹42,339L Total Cost  ·  ₹10.3 Cr Savings Programme</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IN"/>
          </a:p>
        </p:txBody>
      </p:sp>
      <p:sp>
        <p:nvSpPr>
          <p:cNvPr id="7" name="Shape 5"/>
          <p:cNvSpPr/>
          <p:nvPr/>
        </p:nvSpPr>
        <p:spPr>
          <a:xfrm>
            <a:off x="411480" y="850392"/>
            <a:ext cx="2743200" cy="10058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8" name="Shape 6"/>
          <p:cNvSpPr/>
          <p:nvPr/>
        </p:nvSpPr>
        <p:spPr>
          <a:xfrm>
            <a:off x="411480" y="850392"/>
            <a:ext cx="54864" cy="1005840"/>
          </a:xfrm>
          <a:prstGeom prst="rect">
            <a:avLst/>
          </a:prstGeom>
          <a:solidFill>
            <a:srgbClr val="BE1558"/>
          </a:solidFill>
          <a:ln w="12700">
            <a:solidFill>
              <a:srgbClr val="BE1558"/>
            </a:solidFill>
            <a:prstDash val="solid"/>
          </a:ln>
        </p:spPr>
        <p:txBody>
          <a:bodyPr>
            <a:normAutofit/>
          </a:bodyPr>
          <a:lstStyle/>
          <a:p>
            <a:endParaRPr lang="en-IN"/>
          </a:p>
        </p:txBody>
      </p:sp>
      <p:sp>
        <p:nvSpPr>
          <p:cNvPr id="9" name="Text 7"/>
          <p:cNvSpPr/>
          <p:nvPr/>
        </p:nvSpPr>
        <p:spPr>
          <a:xfrm>
            <a:off x="539496" y="941832"/>
            <a:ext cx="25786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Total Cost Base</a:t>
            </a:r>
            <a:endParaRPr lang="en-US" sz="1350"/>
          </a:p>
        </p:txBody>
      </p:sp>
      <p:sp>
        <p:nvSpPr>
          <p:cNvPr id="10" name="Text 8"/>
          <p:cNvSpPr/>
          <p:nvPr/>
        </p:nvSpPr>
        <p:spPr>
          <a:xfrm>
            <a:off x="539496" y="1143000"/>
            <a:ext cx="25786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₹42,339L</a:t>
            </a:r>
            <a:endParaRPr lang="en-US" sz="2200" dirty="0"/>
          </a:p>
        </p:txBody>
      </p:sp>
      <p:sp>
        <p:nvSpPr>
          <p:cNvPr id="11" name="Text 9"/>
          <p:cNvSpPr/>
          <p:nvPr/>
        </p:nvSpPr>
        <p:spPr>
          <a:xfrm>
            <a:off x="539496" y="1581912"/>
            <a:ext cx="2578608" cy="182880"/>
          </a:xfrm>
          <a:prstGeom prst="rect">
            <a:avLst/>
          </a:prstGeom>
          <a:noFill/>
          <a:ln/>
        </p:spPr>
        <p:txBody>
          <a:bodyPr wrap="square" lIns="0" tIns="0" rIns="0" bIns="0" rtlCol="0" anchor="ctr">
            <a:normAutofit fontScale="77500" lnSpcReduction="20000"/>
          </a:bodyPr>
          <a:lstStyle/>
          <a:p>
            <a:pPr marL="0" indent="0">
              <a:buNone/>
            </a:pPr>
            <a:r>
              <a:rPr lang="en-US" sz="1275">
                <a:solidFill>
                  <a:srgbClr val="BE1558"/>
                </a:solidFill>
                <a:latin typeface="Calibri" pitchFamily="34" charset="0"/>
                <a:ea typeface="Calibri" pitchFamily="34" charset="-122"/>
                <a:cs typeface="Calibri" pitchFamily="34" charset="-120"/>
              </a:rPr>
              <a:t>74% of FY27 revenue — margin-accretive growth</a:t>
            </a:r>
            <a:endParaRPr lang="en-US" sz="1275"/>
          </a:p>
        </p:txBody>
      </p:sp>
      <p:sp>
        <p:nvSpPr>
          <p:cNvPr id="12" name="Shape 10"/>
          <p:cNvSpPr/>
          <p:nvPr/>
        </p:nvSpPr>
        <p:spPr>
          <a:xfrm>
            <a:off x="3291840" y="850392"/>
            <a:ext cx="2743200" cy="10058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13" name="Shape 11"/>
          <p:cNvSpPr/>
          <p:nvPr/>
        </p:nvSpPr>
        <p:spPr>
          <a:xfrm>
            <a:off x="3291840" y="850392"/>
            <a:ext cx="54864" cy="1005840"/>
          </a:xfrm>
          <a:prstGeom prst="rect">
            <a:avLst/>
          </a:prstGeom>
          <a:solidFill>
            <a:srgbClr val="1A8C5B"/>
          </a:solidFill>
          <a:ln w="12700">
            <a:solidFill>
              <a:srgbClr val="1A8C5B"/>
            </a:solidFill>
            <a:prstDash val="solid"/>
          </a:ln>
        </p:spPr>
        <p:txBody>
          <a:bodyPr>
            <a:normAutofit/>
          </a:bodyPr>
          <a:lstStyle/>
          <a:p>
            <a:endParaRPr lang="en-IN"/>
          </a:p>
        </p:txBody>
      </p:sp>
      <p:sp>
        <p:nvSpPr>
          <p:cNvPr id="14" name="Text 12"/>
          <p:cNvSpPr/>
          <p:nvPr/>
        </p:nvSpPr>
        <p:spPr>
          <a:xfrm>
            <a:off x="3419856" y="941832"/>
            <a:ext cx="25786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Cost Savings Target</a:t>
            </a:r>
            <a:endParaRPr lang="en-US" sz="1350"/>
          </a:p>
        </p:txBody>
      </p:sp>
      <p:sp>
        <p:nvSpPr>
          <p:cNvPr id="15" name="Text 13"/>
          <p:cNvSpPr/>
          <p:nvPr/>
        </p:nvSpPr>
        <p:spPr>
          <a:xfrm>
            <a:off x="3419856" y="1143000"/>
            <a:ext cx="25786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₹10.3 Cr</a:t>
            </a:r>
            <a:endParaRPr lang="en-US" sz="2200" dirty="0"/>
          </a:p>
        </p:txBody>
      </p:sp>
      <p:sp>
        <p:nvSpPr>
          <p:cNvPr id="16" name="Text 14"/>
          <p:cNvSpPr/>
          <p:nvPr/>
        </p:nvSpPr>
        <p:spPr>
          <a:xfrm>
            <a:off x="3419856" y="1581912"/>
            <a:ext cx="2578608" cy="182880"/>
          </a:xfrm>
          <a:prstGeom prst="rect">
            <a:avLst/>
          </a:prstGeom>
          <a:noFill/>
          <a:ln/>
        </p:spPr>
        <p:txBody>
          <a:bodyPr wrap="square" lIns="0" tIns="0" rIns="0" bIns="0" rtlCol="0" anchor="ctr">
            <a:normAutofit lnSpcReduction="10000"/>
          </a:bodyPr>
          <a:lstStyle/>
          <a:p>
            <a:pPr marL="0" indent="0">
              <a:buNone/>
            </a:pPr>
            <a:r>
              <a:rPr lang="en-US" sz="1275">
                <a:solidFill>
                  <a:srgbClr val="1A8C5B"/>
                </a:solidFill>
                <a:latin typeface="Calibri" pitchFamily="34" charset="0"/>
                <a:ea typeface="Calibri" pitchFamily="34" charset="-122"/>
                <a:cs typeface="Calibri" pitchFamily="34" charset="-120"/>
              </a:rPr>
              <a:t>12 initiatives across 4 cost categories</a:t>
            </a:r>
            <a:endParaRPr lang="en-US" sz="1275"/>
          </a:p>
        </p:txBody>
      </p:sp>
      <p:sp>
        <p:nvSpPr>
          <p:cNvPr id="17" name="Shape 15"/>
          <p:cNvSpPr/>
          <p:nvPr/>
        </p:nvSpPr>
        <p:spPr>
          <a:xfrm>
            <a:off x="6172200" y="850392"/>
            <a:ext cx="2743200" cy="10058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18" name="Shape 16"/>
          <p:cNvSpPr/>
          <p:nvPr/>
        </p:nvSpPr>
        <p:spPr>
          <a:xfrm>
            <a:off x="6172200" y="850392"/>
            <a:ext cx="54864" cy="1005840"/>
          </a:xfrm>
          <a:prstGeom prst="rect">
            <a:avLst/>
          </a:prstGeom>
          <a:solidFill>
            <a:srgbClr val="BE1558"/>
          </a:solidFill>
          <a:ln w="12700">
            <a:solidFill>
              <a:srgbClr val="BE1558"/>
            </a:solidFill>
            <a:prstDash val="solid"/>
          </a:ln>
        </p:spPr>
        <p:txBody>
          <a:bodyPr>
            <a:normAutofit/>
          </a:bodyPr>
          <a:lstStyle/>
          <a:p>
            <a:endParaRPr lang="en-IN"/>
          </a:p>
        </p:txBody>
      </p:sp>
      <p:sp>
        <p:nvSpPr>
          <p:cNvPr id="19" name="Text 17"/>
          <p:cNvSpPr/>
          <p:nvPr/>
        </p:nvSpPr>
        <p:spPr>
          <a:xfrm>
            <a:off x="6300216" y="941832"/>
            <a:ext cx="25786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Materials Cost</a:t>
            </a:r>
            <a:endParaRPr lang="en-US" sz="1350"/>
          </a:p>
        </p:txBody>
      </p:sp>
      <p:sp>
        <p:nvSpPr>
          <p:cNvPr id="20" name="Text 18"/>
          <p:cNvSpPr/>
          <p:nvPr/>
        </p:nvSpPr>
        <p:spPr>
          <a:xfrm>
            <a:off x="6300216" y="1143000"/>
            <a:ext cx="25786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₹15,525L</a:t>
            </a:r>
            <a:endParaRPr lang="en-US" sz="2200" dirty="0"/>
          </a:p>
        </p:txBody>
      </p:sp>
      <p:sp>
        <p:nvSpPr>
          <p:cNvPr id="21" name="Text 19"/>
          <p:cNvSpPr/>
          <p:nvPr/>
        </p:nvSpPr>
        <p:spPr>
          <a:xfrm>
            <a:off x="6300216" y="1581912"/>
            <a:ext cx="2578608" cy="182880"/>
          </a:xfrm>
          <a:prstGeom prst="rect">
            <a:avLst/>
          </a:prstGeom>
          <a:noFill/>
          <a:ln/>
        </p:spPr>
        <p:txBody>
          <a:bodyPr wrap="square" lIns="0" tIns="0" rIns="0" bIns="0" rtlCol="0" anchor="ctr">
            <a:normAutofit fontScale="85000" lnSpcReduction="10000"/>
          </a:bodyPr>
          <a:lstStyle/>
          <a:p>
            <a:pPr marL="0" indent="0">
              <a:buNone/>
            </a:pPr>
            <a:r>
              <a:rPr lang="en-US" sz="1275">
                <a:solidFill>
                  <a:srgbClr val="BE1558"/>
                </a:solidFill>
                <a:latin typeface="Calibri" pitchFamily="34" charset="0"/>
                <a:ea typeface="Calibri" pitchFamily="34" charset="-122"/>
                <a:cs typeface="Calibri" pitchFamily="34" charset="-120"/>
              </a:rPr>
              <a:t>27.1% of revenue  ·  ₹6.4 Cr savings target</a:t>
            </a:r>
            <a:endParaRPr lang="en-US" sz="1275"/>
          </a:p>
        </p:txBody>
      </p:sp>
      <p:sp>
        <p:nvSpPr>
          <p:cNvPr id="22" name="Shape 20"/>
          <p:cNvSpPr/>
          <p:nvPr/>
        </p:nvSpPr>
        <p:spPr>
          <a:xfrm>
            <a:off x="9052560" y="850392"/>
            <a:ext cx="2743200" cy="10058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23" name="Shape 21"/>
          <p:cNvSpPr/>
          <p:nvPr/>
        </p:nvSpPr>
        <p:spPr>
          <a:xfrm>
            <a:off x="9052560" y="850392"/>
            <a:ext cx="54864" cy="1005840"/>
          </a:xfrm>
          <a:prstGeom prst="rect">
            <a:avLst/>
          </a:prstGeom>
          <a:solidFill>
            <a:srgbClr val="BE1558"/>
          </a:solidFill>
          <a:ln w="12700">
            <a:solidFill>
              <a:srgbClr val="BE1558"/>
            </a:solidFill>
            <a:prstDash val="solid"/>
          </a:ln>
        </p:spPr>
        <p:txBody>
          <a:bodyPr>
            <a:normAutofit/>
          </a:bodyPr>
          <a:lstStyle/>
          <a:p>
            <a:endParaRPr lang="en-IN"/>
          </a:p>
        </p:txBody>
      </p:sp>
      <p:sp>
        <p:nvSpPr>
          <p:cNvPr id="24" name="Text 22"/>
          <p:cNvSpPr/>
          <p:nvPr/>
        </p:nvSpPr>
        <p:spPr>
          <a:xfrm>
            <a:off x="9180576" y="941832"/>
            <a:ext cx="257860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Payroll Cost</a:t>
            </a:r>
            <a:endParaRPr lang="en-US" sz="1350"/>
          </a:p>
        </p:txBody>
      </p:sp>
      <p:sp>
        <p:nvSpPr>
          <p:cNvPr id="25" name="Text 23"/>
          <p:cNvSpPr/>
          <p:nvPr/>
        </p:nvSpPr>
        <p:spPr>
          <a:xfrm>
            <a:off x="9180576" y="1143000"/>
            <a:ext cx="257860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₹9,400L</a:t>
            </a:r>
            <a:endParaRPr lang="en-US" sz="2200" dirty="0"/>
          </a:p>
        </p:txBody>
      </p:sp>
      <p:sp>
        <p:nvSpPr>
          <p:cNvPr id="26" name="Text 24"/>
          <p:cNvSpPr/>
          <p:nvPr/>
        </p:nvSpPr>
        <p:spPr>
          <a:xfrm>
            <a:off x="9180576" y="1581912"/>
            <a:ext cx="2578608" cy="182880"/>
          </a:xfrm>
          <a:prstGeom prst="rect">
            <a:avLst/>
          </a:prstGeom>
          <a:noFill/>
          <a:ln/>
        </p:spPr>
        <p:txBody>
          <a:bodyPr wrap="square" lIns="0" tIns="0" rIns="0" bIns="0" rtlCol="0" anchor="ctr">
            <a:normAutofit fontScale="85000" lnSpcReduction="10000"/>
          </a:bodyPr>
          <a:lstStyle/>
          <a:p>
            <a:pPr marL="0" indent="0">
              <a:buNone/>
            </a:pPr>
            <a:r>
              <a:rPr lang="en-US" sz="1275">
                <a:solidFill>
                  <a:srgbClr val="BE1558"/>
                </a:solidFill>
                <a:latin typeface="Calibri" pitchFamily="34" charset="0"/>
                <a:ea typeface="Calibri" pitchFamily="34" charset="-122"/>
                <a:cs typeface="Calibri" pitchFamily="34" charset="-120"/>
              </a:rPr>
              <a:t>16.4% of revenue  ·  ₹3.4 Cr savings target</a:t>
            </a:r>
            <a:endParaRPr lang="en-US" sz="1275"/>
          </a:p>
        </p:txBody>
      </p:sp>
      <p:sp>
        <p:nvSpPr>
          <p:cNvPr id="27" name="Shape 25"/>
          <p:cNvSpPr/>
          <p:nvPr/>
        </p:nvSpPr>
        <p:spPr>
          <a:xfrm>
            <a:off x="411480" y="1993392"/>
            <a:ext cx="11338560" cy="14630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28" name="Shape 26"/>
          <p:cNvSpPr/>
          <p:nvPr/>
        </p:nvSpPr>
        <p:spPr>
          <a:xfrm>
            <a:off x="411480" y="1993392"/>
            <a:ext cx="54864" cy="1463040"/>
          </a:xfrm>
          <a:prstGeom prst="rect">
            <a:avLst/>
          </a:prstGeom>
          <a:solidFill>
            <a:srgbClr val="BE1558"/>
          </a:solidFill>
          <a:ln w="12700">
            <a:solidFill>
              <a:srgbClr val="BE1558"/>
            </a:solidFill>
            <a:prstDash val="solid"/>
          </a:ln>
        </p:spPr>
        <p:txBody>
          <a:bodyPr>
            <a:normAutofit/>
          </a:bodyPr>
          <a:lstStyle/>
          <a:p>
            <a:endParaRPr lang="en-IN"/>
          </a:p>
        </p:txBody>
      </p:sp>
      <p:sp>
        <p:nvSpPr>
          <p:cNvPr id="29" name="Text 27"/>
          <p:cNvSpPr/>
          <p:nvPr/>
        </p:nvSpPr>
        <p:spPr>
          <a:xfrm>
            <a:off x="566928" y="2075688"/>
            <a:ext cx="3474720" cy="347472"/>
          </a:xfrm>
          <a:prstGeom prst="rect">
            <a:avLst/>
          </a:prstGeom>
          <a:noFill/>
          <a:ln/>
        </p:spPr>
        <p:txBody>
          <a:bodyPr wrap="square" lIns="0" tIns="0" rIns="0" bIns="0" rtlCol="0" anchor="ctr">
            <a:normAutofit/>
          </a:bodyPr>
          <a:lstStyle/>
          <a:p>
            <a:pPr marL="0" indent="0">
              <a:buNone/>
            </a:pPr>
            <a:r>
              <a:rPr lang="en-US" sz="1800" b="1">
                <a:solidFill>
                  <a:srgbClr val="BE1558"/>
                </a:solidFill>
                <a:latin typeface="Calibri" pitchFamily="34" charset="0"/>
                <a:ea typeface="Calibri" pitchFamily="34" charset="-122"/>
                <a:cs typeface="Calibri" pitchFamily="34" charset="-120"/>
              </a:rPr>
              <a:t>Cost Strategy in Brief</a:t>
            </a:r>
            <a:endParaRPr lang="en-US" sz="1800"/>
          </a:p>
        </p:txBody>
      </p:sp>
      <p:sp>
        <p:nvSpPr>
          <p:cNvPr id="30" name="Text 28"/>
          <p:cNvSpPr/>
          <p:nvPr/>
        </p:nvSpPr>
        <p:spPr>
          <a:xfrm>
            <a:off x="566928" y="2423160"/>
            <a:ext cx="11018520" cy="932688"/>
          </a:xfrm>
          <a:prstGeom prst="rect">
            <a:avLst/>
          </a:prstGeom>
          <a:noFill/>
          <a:ln/>
        </p:spPr>
        <p:txBody>
          <a:bodyPr wrap="square" lIns="0" tIns="0" rIns="0" bIns="0" rtlCol="0" anchor="ctr">
            <a:normAutofit fontScale="92500"/>
          </a:bodyPr>
          <a:lstStyle/>
          <a:p>
            <a:pPr marL="0" indent="0">
              <a:buNone/>
            </a:pPr>
            <a:r>
              <a:rPr lang="en-US" sz="1425">
                <a:solidFill>
                  <a:srgbClr val="1C2B3A"/>
                </a:solidFill>
                <a:latin typeface="Calibri" pitchFamily="34" charset="0"/>
                <a:ea typeface="Calibri" pitchFamily="34" charset="-122"/>
                <a:cs typeface="Calibri" pitchFamily="34" charset="-120"/>
              </a:rPr>
              <a:t>The FY27 cost plan has two distinct layers. The first is the investment layer — employee cost grows 22% and professional fees nearly double, reflecting the BD organisation build, senior clinician hires and digital marketing spend. These are deliberate investments in revenue-generating capacity, and their ROI is captured in the revenue plan. The second is the savings layer — 12 cost initiatives targeting ₹10.3 Cr of structural reduction in materials, payroll and miscellaneous spend. The savings programme funds a substantial portion of the investment increases, making the fixed cost expansion self-funding within the plan.</a:t>
            </a:r>
            <a:endParaRPr lang="en-US" sz="1425"/>
          </a:p>
        </p:txBody>
      </p:sp>
      <p:sp>
        <p:nvSpPr>
          <p:cNvPr id="31" name="Shape 29"/>
          <p:cNvSpPr/>
          <p:nvPr/>
        </p:nvSpPr>
        <p:spPr>
          <a:xfrm>
            <a:off x="411480" y="3566160"/>
            <a:ext cx="11338560" cy="14630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32" name="Shape 30"/>
          <p:cNvSpPr/>
          <p:nvPr/>
        </p:nvSpPr>
        <p:spPr>
          <a:xfrm>
            <a:off x="411480" y="3566160"/>
            <a:ext cx="54864" cy="1463040"/>
          </a:xfrm>
          <a:prstGeom prst="rect">
            <a:avLst/>
          </a:prstGeom>
          <a:solidFill>
            <a:srgbClr val="2E7AB6"/>
          </a:solidFill>
          <a:ln w="12700">
            <a:solidFill>
              <a:srgbClr val="2E7AB6"/>
            </a:solidFill>
            <a:prstDash val="solid"/>
          </a:ln>
        </p:spPr>
        <p:txBody>
          <a:bodyPr>
            <a:normAutofit/>
          </a:bodyPr>
          <a:lstStyle/>
          <a:p>
            <a:endParaRPr lang="en-IN"/>
          </a:p>
        </p:txBody>
      </p:sp>
      <p:sp>
        <p:nvSpPr>
          <p:cNvPr id="33" name="Text 31"/>
          <p:cNvSpPr/>
          <p:nvPr/>
        </p:nvSpPr>
        <p:spPr>
          <a:xfrm>
            <a:off x="566928" y="3648456"/>
            <a:ext cx="3474720" cy="347472"/>
          </a:xfrm>
          <a:prstGeom prst="rect">
            <a:avLst/>
          </a:prstGeom>
          <a:noFill/>
          <a:ln/>
        </p:spPr>
        <p:txBody>
          <a:bodyPr wrap="square" lIns="0" tIns="0" rIns="0" bIns="0" rtlCol="0" anchor="ctr">
            <a:normAutofit/>
          </a:bodyPr>
          <a:lstStyle/>
          <a:p>
            <a:pPr marL="0" indent="0">
              <a:buNone/>
            </a:pPr>
            <a:r>
              <a:rPr lang="en-US" sz="1800" b="1">
                <a:solidFill>
                  <a:srgbClr val="2E7AB6"/>
                </a:solidFill>
                <a:latin typeface="Calibri" pitchFamily="34" charset="0"/>
                <a:ea typeface="Calibri" pitchFamily="34" charset="-122"/>
                <a:cs typeface="Calibri" pitchFamily="34" charset="-120"/>
              </a:rPr>
              <a:t>Materials: The Largest Opportunity</a:t>
            </a:r>
            <a:endParaRPr lang="en-US" sz="1800"/>
          </a:p>
        </p:txBody>
      </p:sp>
      <p:sp>
        <p:nvSpPr>
          <p:cNvPr id="34" name="Text 32"/>
          <p:cNvSpPr/>
          <p:nvPr/>
        </p:nvSpPr>
        <p:spPr>
          <a:xfrm>
            <a:off x="566928" y="3995928"/>
            <a:ext cx="11018520" cy="932688"/>
          </a:xfrm>
          <a:prstGeom prst="rect">
            <a:avLst/>
          </a:prstGeom>
          <a:noFill/>
          <a:ln/>
        </p:spPr>
        <p:txBody>
          <a:bodyPr wrap="square" lIns="0" tIns="0" rIns="0" bIns="0" rtlCol="0" anchor="ctr">
            <a:normAutofit fontScale="92500"/>
          </a:bodyPr>
          <a:lstStyle/>
          <a:p>
            <a:pPr marL="0" indent="0">
              <a:buNone/>
            </a:pPr>
            <a:r>
              <a:rPr lang="en-US" sz="1425">
                <a:solidFill>
                  <a:srgbClr val="1C2B3A"/>
                </a:solidFill>
                <a:latin typeface="Calibri" pitchFamily="34" charset="0"/>
                <a:ea typeface="Calibri" pitchFamily="34" charset="-122"/>
                <a:cs typeface="Calibri" pitchFamily="34" charset="-120"/>
              </a:rPr>
              <a:t>Drug and consumables at ₹155 Cr is the single largest cost line and the most addressable. Five initiatives — brand substitution (C-01), manufacturer rate contracts (C-02), distributor consolidation (C-03), surgical BOQ standardisation (C-04) and inventory control (C-05) — together target ₹6.4 Cr of savings. The key insight: none of these require clinical compromise. C-01 substitutes brands with equivalent molecules at the same MRP; the hospital retains the margin spread. C-04 standardises consumable kits without restricting clinical choice. These are procurement and formulary management disciplines, not clinical rationing.</a:t>
            </a:r>
            <a:endParaRPr lang="en-US" sz="1425"/>
          </a:p>
        </p:txBody>
      </p:sp>
      <p:sp>
        <p:nvSpPr>
          <p:cNvPr id="35" name="Shape 33"/>
          <p:cNvSpPr/>
          <p:nvPr/>
        </p:nvSpPr>
        <p:spPr>
          <a:xfrm>
            <a:off x="411480" y="5138928"/>
            <a:ext cx="11338560" cy="14630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36" name="Shape 34"/>
          <p:cNvSpPr/>
          <p:nvPr/>
        </p:nvSpPr>
        <p:spPr>
          <a:xfrm>
            <a:off x="411480" y="5138928"/>
            <a:ext cx="54864" cy="1463040"/>
          </a:xfrm>
          <a:prstGeom prst="rect">
            <a:avLst/>
          </a:prstGeom>
          <a:solidFill>
            <a:srgbClr val="1A8C5B"/>
          </a:solidFill>
          <a:ln w="12700">
            <a:solidFill>
              <a:srgbClr val="1A8C5B"/>
            </a:solidFill>
            <a:prstDash val="solid"/>
          </a:ln>
        </p:spPr>
        <p:txBody>
          <a:bodyPr>
            <a:normAutofit/>
          </a:bodyPr>
          <a:lstStyle/>
          <a:p>
            <a:endParaRPr lang="en-IN"/>
          </a:p>
        </p:txBody>
      </p:sp>
      <p:sp>
        <p:nvSpPr>
          <p:cNvPr id="37" name="Text 35"/>
          <p:cNvSpPr/>
          <p:nvPr/>
        </p:nvSpPr>
        <p:spPr>
          <a:xfrm>
            <a:off x="566928" y="5221224"/>
            <a:ext cx="3474720" cy="347472"/>
          </a:xfrm>
          <a:prstGeom prst="rect">
            <a:avLst/>
          </a:prstGeom>
          <a:noFill/>
          <a:ln/>
        </p:spPr>
        <p:txBody>
          <a:bodyPr wrap="square" lIns="0" tIns="0" rIns="0" bIns="0" rtlCol="0" anchor="ctr">
            <a:normAutofit fontScale="77500" lnSpcReduction="20000"/>
          </a:bodyPr>
          <a:lstStyle/>
          <a:p>
            <a:pPr marL="0" indent="0">
              <a:buNone/>
            </a:pPr>
            <a:r>
              <a:rPr lang="en-US" sz="1800" b="1">
                <a:solidFill>
                  <a:srgbClr val="1A8C5B"/>
                </a:solidFill>
                <a:latin typeface="Calibri" pitchFamily="34" charset="0"/>
                <a:ea typeface="Calibri" pitchFamily="34" charset="-122"/>
                <a:cs typeface="Calibri" pitchFamily="34" charset="-120"/>
              </a:rPr>
              <a:t>Payroll: Managed Through Attrition, Not Reduction</a:t>
            </a:r>
            <a:endParaRPr lang="en-US" sz="1800"/>
          </a:p>
        </p:txBody>
      </p:sp>
      <p:sp>
        <p:nvSpPr>
          <p:cNvPr id="38" name="Text 36"/>
          <p:cNvSpPr/>
          <p:nvPr/>
        </p:nvSpPr>
        <p:spPr>
          <a:xfrm>
            <a:off x="566928" y="5568696"/>
            <a:ext cx="11018520" cy="932688"/>
          </a:xfrm>
          <a:prstGeom prst="rect">
            <a:avLst/>
          </a:prstGeom>
          <a:noFill/>
          <a:ln/>
        </p:spPr>
        <p:txBody>
          <a:bodyPr wrap="square" lIns="0" tIns="0" rIns="0" bIns="0" rtlCol="0" anchor="ctr">
            <a:normAutofit fontScale="92500"/>
          </a:bodyPr>
          <a:lstStyle/>
          <a:p>
            <a:pPr marL="0" indent="0">
              <a:buNone/>
            </a:pPr>
            <a:r>
              <a:rPr lang="en-US" sz="1425">
                <a:solidFill>
                  <a:srgbClr val="1C2B3A"/>
                </a:solidFill>
                <a:latin typeface="Calibri" pitchFamily="34" charset="0"/>
                <a:ea typeface="Calibri" pitchFamily="34" charset="-122"/>
                <a:cs typeface="Calibri" pitchFamily="34" charset="-120"/>
              </a:rPr>
              <a:t>Payroll savings of ₹3.4 Cr come from four initiatives — nursing norm rationalisation (C-08), pharmacy automation (C-09), PCS reduction via EMR (C-10) and contract staff rebid (C-11). Critically, all four are attrition-managed: no forced reductions. C-08 identifies 30–40 nursing positions above evidence-based ward norms and manages to target through a 12-month vacancy management programme. C-09 deploys automated dispensing units that reduce manual pharmacist headcount by 15 FTEs with a 12-month capital payback. The approach protects staff relations while delivering material savings.</a:t>
            </a:r>
            <a:endParaRPr lang="en-US" sz="142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IN"/>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COST STRUCTURE &amp; SAVINGS PROGRAMME</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FY27  ·  ₹ Lakhs</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IN"/>
          </a:p>
        </p:txBody>
      </p:sp>
      <p:sp>
        <p:nvSpPr>
          <p:cNvPr id="7" name="Shape 5"/>
          <p:cNvSpPr/>
          <p:nvPr/>
        </p:nvSpPr>
        <p:spPr>
          <a:xfrm>
            <a:off x="411480" y="850392"/>
            <a:ext cx="2148840" cy="105156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8" name="Shape 6"/>
          <p:cNvSpPr/>
          <p:nvPr/>
        </p:nvSpPr>
        <p:spPr>
          <a:xfrm>
            <a:off x="411480" y="850392"/>
            <a:ext cx="54864" cy="1051560"/>
          </a:xfrm>
          <a:prstGeom prst="rect">
            <a:avLst/>
          </a:prstGeom>
          <a:solidFill>
            <a:srgbClr val="2E7AB6"/>
          </a:solidFill>
          <a:ln w="12700">
            <a:solidFill>
              <a:srgbClr val="2E7AB6"/>
            </a:solidFill>
            <a:prstDash val="solid"/>
          </a:ln>
        </p:spPr>
        <p:txBody>
          <a:bodyPr>
            <a:normAutofit/>
          </a:bodyPr>
          <a:lstStyle/>
          <a:p>
            <a:endParaRPr lang="en-IN"/>
          </a:p>
        </p:txBody>
      </p:sp>
      <p:sp>
        <p:nvSpPr>
          <p:cNvPr id="9" name="Text 7"/>
          <p:cNvSpPr/>
          <p:nvPr/>
        </p:nvSpPr>
        <p:spPr>
          <a:xfrm>
            <a:off x="539496" y="941832"/>
            <a:ext cx="198424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Drug &amp; Consumables</a:t>
            </a:r>
            <a:endParaRPr lang="en-US" sz="1350"/>
          </a:p>
        </p:txBody>
      </p:sp>
      <p:sp>
        <p:nvSpPr>
          <p:cNvPr id="10" name="Text 8"/>
          <p:cNvSpPr/>
          <p:nvPr/>
        </p:nvSpPr>
        <p:spPr>
          <a:xfrm>
            <a:off x="539496" y="1143000"/>
            <a:ext cx="198424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₹15,525L</a:t>
            </a:r>
            <a:endParaRPr lang="en-US" sz="2200" dirty="0"/>
          </a:p>
        </p:txBody>
      </p:sp>
      <p:sp>
        <p:nvSpPr>
          <p:cNvPr id="11" name="Text 9"/>
          <p:cNvSpPr/>
          <p:nvPr/>
        </p:nvSpPr>
        <p:spPr>
          <a:xfrm>
            <a:off x="539496" y="1581912"/>
            <a:ext cx="1984248" cy="182880"/>
          </a:xfrm>
          <a:prstGeom prst="rect">
            <a:avLst/>
          </a:prstGeom>
          <a:noFill/>
          <a:ln/>
        </p:spPr>
        <p:txBody>
          <a:bodyPr wrap="square" lIns="0" tIns="0" rIns="0" bIns="0" rtlCol="0" anchor="ctr">
            <a:normAutofit fontScale="92500"/>
          </a:bodyPr>
          <a:lstStyle/>
          <a:p>
            <a:pPr marL="0" indent="0">
              <a:buNone/>
            </a:pPr>
            <a:r>
              <a:rPr lang="en-US" sz="1275">
                <a:solidFill>
                  <a:srgbClr val="2E7AB6"/>
                </a:solidFill>
                <a:latin typeface="Calibri" pitchFamily="34" charset="0"/>
                <a:ea typeface="Calibri" pitchFamily="34" charset="-122"/>
                <a:cs typeface="Calibri" pitchFamily="34" charset="-120"/>
              </a:rPr>
              <a:t>27.1% of revenue  ·  +16.5% YoY</a:t>
            </a:r>
            <a:endParaRPr lang="en-US" sz="1275"/>
          </a:p>
        </p:txBody>
      </p:sp>
      <p:sp>
        <p:nvSpPr>
          <p:cNvPr id="12" name="Shape 10"/>
          <p:cNvSpPr/>
          <p:nvPr/>
        </p:nvSpPr>
        <p:spPr>
          <a:xfrm>
            <a:off x="2679192" y="850392"/>
            <a:ext cx="2148840" cy="105156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13" name="Shape 11"/>
          <p:cNvSpPr/>
          <p:nvPr/>
        </p:nvSpPr>
        <p:spPr>
          <a:xfrm>
            <a:off x="2679192" y="850392"/>
            <a:ext cx="54864" cy="1051560"/>
          </a:xfrm>
          <a:prstGeom prst="rect">
            <a:avLst/>
          </a:prstGeom>
          <a:solidFill>
            <a:srgbClr val="2E7AB6"/>
          </a:solidFill>
          <a:ln w="12700">
            <a:solidFill>
              <a:srgbClr val="2E7AB6"/>
            </a:solidFill>
            <a:prstDash val="solid"/>
          </a:ln>
        </p:spPr>
        <p:txBody>
          <a:bodyPr>
            <a:normAutofit/>
          </a:bodyPr>
          <a:lstStyle/>
          <a:p>
            <a:endParaRPr lang="en-IN"/>
          </a:p>
        </p:txBody>
      </p:sp>
      <p:sp>
        <p:nvSpPr>
          <p:cNvPr id="14" name="Text 12"/>
          <p:cNvSpPr/>
          <p:nvPr/>
        </p:nvSpPr>
        <p:spPr>
          <a:xfrm>
            <a:off x="2807208" y="941832"/>
            <a:ext cx="198424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Doctor Cost</a:t>
            </a:r>
            <a:endParaRPr lang="en-US" sz="1350"/>
          </a:p>
        </p:txBody>
      </p:sp>
      <p:sp>
        <p:nvSpPr>
          <p:cNvPr id="15" name="Text 13"/>
          <p:cNvSpPr/>
          <p:nvPr/>
        </p:nvSpPr>
        <p:spPr>
          <a:xfrm>
            <a:off x="2807208" y="1143000"/>
            <a:ext cx="198424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₹9,000L</a:t>
            </a:r>
            <a:endParaRPr lang="en-US" sz="2200" dirty="0"/>
          </a:p>
        </p:txBody>
      </p:sp>
      <p:sp>
        <p:nvSpPr>
          <p:cNvPr id="16" name="Text 14"/>
          <p:cNvSpPr/>
          <p:nvPr/>
        </p:nvSpPr>
        <p:spPr>
          <a:xfrm>
            <a:off x="2807208" y="1581912"/>
            <a:ext cx="1984248" cy="182880"/>
          </a:xfrm>
          <a:prstGeom prst="rect">
            <a:avLst/>
          </a:prstGeom>
          <a:noFill/>
          <a:ln/>
        </p:spPr>
        <p:txBody>
          <a:bodyPr wrap="square" lIns="0" tIns="0" rIns="0" bIns="0" rtlCol="0" anchor="ctr">
            <a:normAutofit fontScale="92500"/>
          </a:bodyPr>
          <a:lstStyle/>
          <a:p>
            <a:pPr marL="0" indent="0">
              <a:buNone/>
            </a:pPr>
            <a:r>
              <a:rPr lang="en-US" sz="1275">
                <a:solidFill>
                  <a:srgbClr val="2E7AB6"/>
                </a:solidFill>
                <a:latin typeface="Calibri" pitchFamily="34" charset="0"/>
                <a:ea typeface="Calibri" pitchFamily="34" charset="-122"/>
                <a:cs typeface="Calibri" pitchFamily="34" charset="-120"/>
              </a:rPr>
              <a:t>15.7% of revenue  ·  +12.4% YoY</a:t>
            </a:r>
            <a:endParaRPr lang="en-US" sz="1275"/>
          </a:p>
        </p:txBody>
      </p:sp>
      <p:sp>
        <p:nvSpPr>
          <p:cNvPr id="17" name="Shape 15"/>
          <p:cNvSpPr/>
          <p:nvPr/>
        </p:nvSpPr>
        <p:spPr>
          <a:xfrm>
            <a:off x="4946904" y="850392"/>
            <a:ext cx="2148840" cy="105156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18" name="Shape 16"/>
          <p:cNvSpPr/>
          <p:nvPr/>
        </p:nvSpPr>
        <p:spPr>
          <a:xfrm>
            <a:off x="4946904" y="850392"/>
            <a:ext cx="54864" cy="1051560"/>
          </a:xfrm>
          <a:prstGeom prst="rect">
            <a:avLst/>
          </a:prstGeom>
          <a:solidFill>
            <a:srgbClr val="BE1558"/>
          </a:solidFill>
          <a:ln w="12700">
            <a:solidFill>
              <a:srgbClr val="BE1558"/>
            </a:solidFill>
            <a:prstDash val="solid"/>
          </a:ln>
        </p:spPr>
        <p:txBody>
          <a:bodyPr>
            <a:normAutofit/>
          </a:bodyPr>
          <a:lstStyle/>
          <a:p>
            <a:endParaRPr lang="en-IN"/>
          </a:p>
        </p:txBody>
      </p:sp>
      <p:sp>
        <p:nvSpPr>
          <p:cNvPr id="19" name="Text 17"/>
          <p:cNvSpPr/>
          <p:nvPr/>
        </p:nvSpPr>
        <p:spPr>
          <a:xfrm>
            <a:off x="5074920" y="941832"/>
            <a:ext cx="198424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Employee Cost</a:t>
            </a:r>
            <a:endParaRPr lang="en-US" sz="1350"/>
          </a:p>
        </p:txBody>
      </p:sp>
      <p:sp>
        <p:nvSpPr>
          <p:cNvPr id="20" name="Text 18"/>
          <p:cNvSpPr/>
          <p:nvPr/>
        </p:nvSpPr>
        <p:spPr>
          <a:xfrm>
            <a:off x="5074920" y="1143000"/>
            <a:ext cx="198424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₹9,400L</a:t>
            </a:r>
            <a:endParaRPr lang="en-US" sz="2200" dirty="0"/>
          </a:p>
        </p:txBody>
      </p:sp>
      <p:sp>
        <p:nvSpPr>
          <p:cNvPr id="21" name="Text 19"/>
          <p:cNvSpPr/>
          <p:nvPr/>
        </p:nvSpPr>
        <p:spPr>
          <a:xfrm>
            <a:off x="5074920" y="1581912"/>
            <a:ext cx="1984248" cy="182880"/>
          </a:xfrm>
          <a:prstGeom prst="rect">
            <a:avLst/>
          </a:prstGeom>
          <a:noFill/>
          <a:ln/>
        </p:spPr>
        <p:txBody>
          <a:bodyPr wrap="square" lIns="0" tIns="0" rIns="0" bIns="0" rtlCol="0" anchor="ctr">
            <a:normAutofit fontScale="92500"/>
          </a:bodyPr>
          <a:lstStyle/>
          <a:p>
            <a:pPr marL="0" indent="0">
              <a:buNone/>
            </a:pPr>
            <a:r>
              <a:rPr lang="en-US" sz="1275">
                <a:solidFill>
                  <a:srgbClr val="BE1558"/>
                </a:solidFill>
                <a:latin typeface="Calibri" pitchFamily="34" charset="0"/>
                <a:ea typeface="Calibri" pitchFamily="34" charset="-122"/>
                <a:cs typeface="Calibri" pitchFamily="34" charset="-120"/>
              </a:rPr>
              <a:t>16.4% of revenue  ·  +21.8% YoY</a:t>
            </a:r>
            <a:endParaRPr lang="en-US" sz="1275"/>
          </a:p>
        </p:txBody>
      </p:sp>
      <p:sp>
        <p:nvSpPr>
          <p:cNvPr id="22" name="Shape 20"/>
          <p:cNvSpPr/>
          <p:nvPr/>
        </p:nvSpPr>
        <p:spPr>
          <a:xfrm>
            <a:off x="7214616" y="850392"/>
            <a:ext cx="2148840" cy="105156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23" name="Shape 21"/>
          <p:cNvSpPr/>
          <p:nvPr/>
        </p:nvSpPr>
        <p:spPr>
          <a:xfrm>
            <a:off x="7214616" y="850392"/>
            <a:ext cx="54864" cy="1051560"/>
          </a:xfrm>
          <a:prstGeom prst="rect">
            <a:avLst/>
          </a:prstGeom>
          <a:solidFill>
            <a:srgbClr val="BE1558"/>
          </a:solidFill>
          <a:ln w="12700">
            <a:solidFill>
              <a:srgbClr val="BE1558"/>
            </a:solidFill>
            <a:prstDash val="solid"/>
          </a:ln>
        </p:spPr>
        <p:txBody>
          <a:bodyPr>
            <a:normAutofit/>
          </a:bodyPr>
          <a:lstStyle/>
          <a:p>
            <a:endParaRPr lang="en-IN"/>
          </a:p>
        </p:txBody>
      </p:sp>
      <p:sp>
        <p:nvSpPr>
          <p:cNvPr id="24" name="Text 22"/>
          <p:cNvSpPr/>
          <p:nvPr/>
        </p:nvSpPr>
        <p:spPr>
          <a:xfrm>
            <a:off x="7342632" y="941832"/>
            <a:ext cx="198424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All Other Fixed</a:t>
            </a:r>
            <a:endParaRPr lang="en-US" sz="1350"/>
          </a:p>
        </p:txBody>
      </p:sp>
      <p:sp>
        <p:nvSpPr>
          <p:cNvPr id="25" name="Text 23"/>
          <p:cNvSpPr/>
          <p:nvPr/>
        </p:nvSpPr>
        <p:spPr>
          <a:xfrm>
            <a:off x="7342632" y="1143000"/>
            <a:ext cx="198424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₹8,811L</a:t>
            </a:r>
            <a:endParaRPr lang="en-US" sz="2200" dirty="0"/>
          </a:p>
        </p:txBody>
      </p:sp>
      <p:sp>
        <p:nvSpPr>
          <p:cNvPr id="26" name="Text 24"/>
          <p:cNvSpPr/>
          <p:nvPr/>
        </p:nvSpPr>
        <p:spPr>
          <a:xfrm>
            <a:off x="7342632" y="1581912"/>
            <a:ext cx="1984248" cy="182880"/>
          </a:xfrm>
          <a:prstGeom prst="rect">
            <a:avLst/>
          </a:prstGeom>
          <a:noFill/>
          <a:ln/>
        </p:spPr>
        <p:txBody>
          <a:bodyPr wrap="square" lIns="0" tIns="0" rIns="0" bIns="0" rtlCol="0" anchor="ctr">
            <a:normAutofit lnSpcReduction="10000"/>
          </a:bodyPr>
          <a:lstStyle/>
          <a:p>
            <a:pPr marL="0" indent="0">
              <a:buNone/>
            </a:pPr>
            <a:r>
              <a:rPr lang="en-US" sz="1275">
                <a:solidFill>
                  <a:srgbClr val="BE1558"/>
                </a:solidFill>
                <a:latin typeface="Calibri" pitchFamily="34" charset="0"/>
                <a:ea typeface="Calibri" pitchFamily="34" charset="-122"/>
                <a:cs typeface="Calibri" pitchFamily="34" charset="-120"/>
              </a:rPr>
              <a:t>15.4% of revenue</a:t>
            </a:r>
            <a:endParaRPr lang="en-US" sz="1275"/>
          </a:p>
        </p:txBody>
      </p:sp>
      <p:sp>
        <p:nvSpPr>
          <p:cNvPr id="27" name="Shape 25"/>
          <p:cNvSpPr/>
          <p:nvPr/>
        </p:nvSpPr>
        <p:spPr>
          <a:xfrm>
            <a:off x="9482328" y="850392"/>
            <a:ext cx="2148840" cy="105156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28" name="Shape 26"/>
          <p:cNvSpPr/>
          <p:nvPr/>
        </p:nvSpPr>
        <p:spPr>
          <a:xfrm>
            <a:off x="9482328" y="850392"/>
            <a:ext cx="54864" cy="1051560"/>
          </a:xfrm>
          <a:prstGeom prst="rect">
            <a:avLst/>
          </a:prstGeom>
          <a:solidFill>
            <a:srgbClr val="1A8C5B"/>
          </a:solidFill>
          <a:ln w="12700">
            <a:solidFill>
              <a:srgbClr val="1A8C5B"/>
            </a:solidFill>
            <a:prstDash val="solid"/>
          </a:ln>
        </p:spPr>
        <p:txBody>
          <a:bodyPr>
            <a:normAutofit/>
          </a:bodyPr>
          <a:lstStyle/>
          <a:p>
            <a:endParaRPr lang="en-IN"/>
          </a:p>
        </p:txBody>
      </p:sp>
      <p:sp>
        <p:nvSpPr>
          <p:cNvPr id="29" name="Text 27"/>
          <p:cNvSpPr/>
          <p:nvPr/>
        </p:nvSpPr>
        <p:spPr>
          <a:xfrm>
            <a:off x="9610344" y="941832"/>
            <a:ext cx="1984248" cy="237744"/>
          </a:xfrm>
          <a:prstGeom prst="rect">
            <a:avLst/>
          </a:prstGeom>
          <a:noFill/>
          <a:ln/>
        </p:spPr>
        <p:txBody>
          <a:bodyPr wrap="square" lIns="0" tIns="0" rIns="0" bIns="0" rtlCol="0" anchor="ctr">
            <a:normAutofit/>
          </a:bodyPr>
          <a:lstStyle/>
          <a:p>
            <a:pPr marL="0" indent="0">
              <a:buNone/>
            </a:pPr>
            <a:r>
              <a:rPr lang="en-US" sz="1350">
                <a:solidFill>
                  <a:srgbClr val="5A7A96"/>
                </a:solidFill>
                <a:latin typeface="Calibri" pitchFamily="34" charset="0"/>
                <a:ea typeface="Calibri" pitchFamily="34" charset="-122"/>
                <a:cs typeface="Calibri" pitchFamily="34" charset="-120"/>
              </a:rPr>
              <a:t>Total Savings Target</a:t>
            </a:r>
            <a:endParaRPr lang="en-US" sz="1350"/>
          </a:p>
        </p:txBody>
      </p:sp>
      <p:sp>
        <p:nvSpPr>
          <p:cNvPr id="30" name="Text 28"/>
          <p:cNvSpPr/>
          <p:nvPr/>
        </p:nvSpPr>
        <p:spPr>
          <a:xfrm>
            <a:off x="9610344" y="1143000"/>
            <a:ext cx="1984248" cy="475488"/>
          </a:xfrm>
          <a:prstGeom prst="rect">
            <a:avLst/>
          </a:prstGeom>
          <a:noFill/>
          <a:ln/>
        </p:spPr>
        <p:txBody>
          <a:bodyPr wrap="square" lIns="0" tIns="0" rIns="0" bIns="0" rtlCol="0" anchor="ctr">
            <a:normAutofit/>
          </a:bodyPr>
          <a:lstStyle/>
          <a:p>
            <a:pPr marL="0" indent="0">
              <a:buNone/>
            </a:pPr>
            <a:r>
              <a:rPr lang="en-US" sz="2200" b="1" dirty="0">
                <a:solidFill>
                  <a:srgbClr val="1C2B3A"/>
                </a:solidFill>
                <a:latin typeface="Calibri" pitchFamily="34" charset="0"/>
                <a:ea typeface="Calibri" pitchFamily="34" charset="-122"/>
                <a:cs typeface="Calibri" pitchFamily="34" charset="-120"/>
              </a:rPr>
              <a:t>₹10.3 Cr</a:t>
            </a:r>
            <a:endParaRPr lang="en-US" sz="2200" dirty="0"/>
          </a:p>
        </p:txBody>
      </p:sp>
      <p:sp>
        <p:nvSpPr>
          <p:cNvPr id="31" name="Text 29"/>
          <p:cNvSpPr/>
          <p:nvPr/>
        </p:nvSpPr>
        <p:spPr>
          <a:xfrm>
            <a:off x="9610344" y="1581912"/>
            <a:ext cx="1984248" cy="182880"/>
          </a:xfrm>
          <a:prstGeom prst="rect">
            <a:avLst/>
          </a:prstGeom>
          <a:noFill/>
          <a:ln/>
        </p:spPr>
        <p:txBody>
          <a:bodyPr wrap="square" lIns="0" tIns="0" rIns="0" bIns="0" rtlCol="0" anchor="ctr">
            <a:normAutofit lnSpcReduction="10000"/>
          </a:bodyPr>
          <a:lstStyle/>
          <a:p>
            <a:pPr marL="0" indent="0">
              <a:buNone/>
            </a:pPr>
            <a:r>
              <a:rPr lang="en-US" sz="1275">
                <a:solidFill>
                  <a:srgbClr val="1A8C5B"/>
                </a:solidFill>
                <a:latin typeface="Calibri" pitchFamily="34" charset="0"/>
                <a:ea typeface="Calibri" pitchFamily="34" charset="-122"/>
                <a:cs typeface="Calibri" pitchFamily="34" charset="-120"/>
              </a:rPr>
              <a:t>12 initiatives</a:t>
            </a:r>
            <a:endParaRPr lang="en-US" sz="1275"/>
          </a:p>
        </p:txBody>
      </p:sp>
      <p:graphicFrame>
        <p:nvGraphicFramePr>
          <p:cNvPr id="32" name="Chart 0"/>
          <p:cNvGraphicFramePr/>
          <p:nvPr/>
        </p:nvGraphicFramePr>
        <p:xfrm>
          <a:off x="411480" y="2029968"/>
          <a:ext cx="502920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3" name="Table 0"/>
          <p:cNvGraphicFramePr>
            <a:graphicFrameLocks noGrp="1"/>
          </p:cNvGraphicFramePr>
          <p:nvPr>
            <p:extLst>
              <p:ext uri="{D42A27DB-BD31-4B8C-83A1-F6EECF244321}">
                <p14:modId xmlns:p14="http://schemas.microsoft.com/office/powerpoint/2010/main" val="2524199395"/>
              </p:ext>
            </p:extLst>
          </p:nvPr>
        </p:nvGraphicFramePr>
        <p:xfrm>
          <a:off x="5990265" y="2020824"/>
          <a:ext cx="5664019" cy="4562852"/>
        </p:xfrm>
        <a:graphic>
          <a:graphicData uri="http://schemas.openxmlformats.org/drawingml/2006/table">
            <a:tbl>
              <a:tblPr/>
              <a:tblGrid>
                <a:gridCol w="607486">
                  <a:extLst>
                    <a:ext uri="{9D8B030D-6E8A-4147-A177-3AD203B41FA5}">
                      <a16:colId xmlns:a16="http://schemas.microsoft.com/office/drawing/2014/main" val="20000"/>
                    </a:ext>
                  </a:extLst>
                </a:gridCol>
                <a:gridCol w="2591941">
                  <a:extLst>
                    <a:ext uri="{9D8B030D-6E8A-4147-A177-3AD203B41FA5}">
                      <a16:colId xmlns:a16="http://schemas.microsoft.com/office/drawing/2014/main" val="20001"/>
                    </a:ext>
                  </a:extLst>
                </a:gridCol>
                <a:gridCol w="1376969">
                  <a:extLst>
                    <a:ext uri="{9D8B030D-6E8A-4147-A177-3AD203B41FA5}">
                      <a16:colId xmlns:a16="http://schemas.microsoft.com/office/drawing/2014/main" val="20002"/>
                    </a:ext>
                  </a:extLst>
                </a:gridCol>
                <a:gridCol w="1087623">
                  <a:extLst>
                    <a:ext uri="{9D8B030D-6E8A-4147-A177-3AD203B41FA5}">
                      <a16:colId xmlns:a16="http://schemas.microsoft.com/office/drawing/2014/main" val="20004"/>
                    </a:ext>
                  </a:extLst>
                </a:gridCol>
              </a:tblGrid>
              <a:tr h="325918">
                <a:tc>
                  <a:txBody>
                    <a:bodyPr/>
                    <a:lstStyle/>
                    <a:p>
                      <a:pPr marL="0" indent="0" algn="l">
                        <a:buNone/>
                      </a:pPr>
                      <a:r>
                        <a:rPr lang="en-US" sz="1075" b="1">
                          <a:solidFill>
                            <a:srgbClr val="FFFFFF"/>
                          </a:solidFill>
                          <a:latin typeface="Calibri" pitchFamily="34" charset="0"/>
                          <a:ea typeface="Calibri" pitchFamily="34" charset="-122"/>
                          <a:cs typeface="Calibri" pitchFamily="34" charset="-120"/>
                        </a:rPr>
                        <a:t>ID</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l">
                        <a:buNone/>
                      </a:pPr>
                      <a:r>
                        <a:rPr lang="en-US" sz="1075" b="1">
                          <a:solidFill>
                            <a:srgbClr val="FFFFFF"/>
                          </a:solidFill>
                          <a:latin typeface="Calibri" pitchFamily="34" charset="0"/>
                          <a:ea typeface="Calibri" pitchFamily="34" charset="-122"/>
                          <a:cs typeface="Calibri" pitchFamily="34" charset="-120"/>
                        </a:rPr>
                        <a:t>INITIATIVE</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l">
                        <a:buNone/>
                      </a:pPr>
                      <a:r>
                        <a:rPr lang="en-US" sz="1075" b="1">
                          <a:solidFill>
                            <a:srgbClr val="FFFFFF"/>
                          </a:solidFill>
                          <a:latin typeface="Calibri" pitchFamily="34" charset="0"/>
                          <a:ea typeface="Calibri" pitchFamily="34" charset="-122"/>
                          <a:cs typeface="Calibri" pitchFamily="34" charset="-120"/>
                        </a:rPr>
                        <a:t>CATEGORY</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tc>
                  <a:txBody>
                    <a:bodyPr/>
                    <a:lstStyle/>
                    <a:p>
                      <a:pPr marL="0" indent="0" algn="r">
                        <a:buNone/>
                      </a:pPr>
                      <a:r>
                        <a:rPr lang="en-US" sz="1075" b="1">
                          <a:solidFill>
                            <a:srgbClr val="FFFFFF"/>
                          </a:solidFill>
                          <a:latin typeface="Calibri" pitchFamily="34" charset="0"/>
                          <a:ea typeface="Calibri" pitchFamily="34" charset="-122"/>
                          <a:cs typeface="Calibri" pitchFamily="34" charset="-120"/>
                        </a:rPr>
                        <a:t>SAVING</a:t>
                      </a:r>
                      <a:endParaRPr lang="en-US" sz="107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1C2B3A"/>
                    </a:solidFill>
                  </a:tcPr>
                </a:tc>
                <a:extLst>
                  <a:ext uri="{0D108BD9-81ED-4DB2-BD59-A6C34878D82A}">
                    <a16:rowId xmlns:a16="http://schemas.microsoft.com/office/drawing/2014/main" val="10000"/>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C-01</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Drug Brand Substitution</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Materials / COGS</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₹3.00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C-02</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Manufacturer Rate Contracts</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Materials / COGS</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₹1.30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2"/>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C-03</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Distributor Consolidation</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Materials / COGS</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₹0.80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C-04</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Surgical BOQ Standardisation</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Materials / COGS</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₹0.58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4"/>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C-05</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Inventory &amp; Wastage Control</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Materials / COGS</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₹0.70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C-06</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Laundry Cost Reduction</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Miscellaneous</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₹0.14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6"/>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C-07</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AMC Renegotiation</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Miscellaneous</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₹0.28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C-08</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Nursing Headcount Rationalisation</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Payroll</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₹1.50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08"/>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C-09</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Pharmacy Automation &amp; Headcount</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Payroll</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₹1.00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C-10</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PCS Reduction via EMR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Payroll</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₹0.50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10"/>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C-11</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Contract Staff Rebid</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Payroll</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₹0.38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25918">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C-13</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Expense Analysis &amp; Discipline</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l">
                        <a:buNone/>
                      </a:pPr>
                      <a:r>
                        <a:rPr lang="en-US" sz="1250">
                          <a:solidFill>
                            <a:srgbClr val="1C2B3A"/>
                          </a:solidFill>
                          <a:latin typeface="Calibri" pitchFamily="34" charset="0"/>
                          <a:ea typeface="Calibri" pitchFamily="34" charset="-122"/>
                          <a:cs typeface="Calibri" pitchFamily="34" charset="-120"/>
                        </a:rPr>
                        <a:t>Miscellaneous</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tc>
                  <a:txBody>
                    <a:bodyPr/>
                    <a:lstStyle/>
                    <a:p>
                      <a:pPr marL="0" indent="0" algn="r">
                        <a:buNone/>
                      </a:pPr>
                      <a:r>
                        <a:rPr lang="en-US" sz="1250">
                          <a:solidFill>
                            <a:srgbClr val="1A8C5B"/>
                          </a:solidFill>
                          <a:latin typeface="Calibri" pitchFamily="34" charset="0"/>
                          <a:ea typeface="Calibri" pitchFamily="34" charset="-122"/>
                          <a:cs typeface="Calibri" pitchFamily="34" charset="-120"/>
                        </a:rPr>
                        <a:t>₹0.15 Cr</a:t>
                      </a:r>
                      <a:endParaRPr lang="en-US" sz="1250">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F0F6FC"/>
                    </a:solidFill>
                  </a:tcPr>
                </a:tc>
                <a:extLst>
                  <a:ext uri="{0D108BD9-81ED-4DB2-BD59-A6C34878D82A}">
                    <a16:rowId xmlns:a16="http://schemas.microsoft.com/office/drawing/2014/main" val="10012"/>
                  </a:ext>
                </a:extLst>
              </a:tr>
              <a:tr h="325918">
                <a:tc>
                  <a:txBody>
                    <a:bodyPr/>
                    <a:lstStyle/>
                    <a:p>
                      <a:pPr marL="0" indent="0" algn="l">
                        <a:buNone/>
                      </a:pP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8F5EE"/>
                    </a:solidFill>
                  </a:tcPr>
                </a:tc>
                <a:tc>
                  <a:txBody>
                    <a:bodyPr/>
                    <a:lstStyle/>
                    <a:p>
                      <a:pPr marL="0" indent="0" algn="l">
                        <a:buNone/>
                      </a:pPr>
                      <a:r>
                        <a:rPr lang="en-US" sz="1325" b="1">
                          <a:solidFill>
                            <a:srgbClr val="1C2B3A"/>
                          </a:solidFill>
                          <a:latin typeface="Calibri" pitchFamily="34" charset="0"/>
                          <a:ea typeface="Calibri" pitchFamily="34" charset="-122"/>
                          <a:cs typeface="Calibri" pitchFamily="34" charset="-120"/>
                        </a:rPr>
                        <a:t>TOTAL COST SAVINGS</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8F5EE"/>
                    </a:solidFill>
                  </a:tcPr>
                </a:tc>
                <a:tc>
                  <a:txBody>
                    <a:bodyPr/>
                    <a:lstStyle/>
                    <a:p>
                      <a:pPr marL="0" indent="0" algn="l">
                        <a:buNone/>
                      </a:pP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8F5EE"/>
                    </a:solidFill>
                  </a:tcPr>
                </a:tc>
                <a:tc>
                  <a:txBody>
                    <a:bodyPr/>
                    <a:lstStyle/>
                    <a:p>
                      <a:pPr marL="0" indent="0" algn="r">
                        <a:buNone/>
                      </a:pPr>
                      <a:r>
                        <a:rPr lang="en-US" sz="1325" b="1">
                          <a:solidFill>
                            <a:srgbClr val="1A8C5B"/>
                          </a:solidFill>
                          <a:latin typeface="Calibri" pitchFamily="34" charset="0"/>
                          <a:ea typeface="Calibri" pitchFamily="34" charset="-122"/>
                          <a:cs typeface="Calibri" pitchFamily="34" charset="-120"/>
                        </a:rPr>
                        <a:t>₹10.33 Cr</a:t>
                      </a:r>
                      <a:endParaRPr lang="en-US" sz="1325">
                        <a:latin typeface="Calibri" charset="0"/>
                        <a:ea typeface="Calibri" charset="0"/>
                        <a:cs typeface="Calibri" charset="0"/>
                      </a:endParaRPr>
                    </a:p>
                  </a:txBody>
                  <a:tcPr>
                    <a:lnL w="6350" cap="flat" cmpd="sng" algn="ctr">
                      <a:solidFill>
                        <a:srgbClr val="C8D9EE"/>
                      </a:solidFill>
                      <a:prstDash val="solid"/>
                      <a:round/>
                      <a:headEnd type="none" w="med" len="med"/>
                      <a:tailEnd type="none" w="med" len="med"/>
                    </a:lnL>
                    <a:lnR w="6350" cap="flat" cmpd="sng" algn="ctr">
                      <a:solidFill>
                        <a:srgbClr val="C8D9EE"/>
                      </a:solidFill>
                      <a:prstDash val="solid"/>
                      <a:round/>
                      <a:headEnd type="none" w="med" len="med"/>
                      <a:tailEnd type="none" w="med" len="med"/>
                    </a:lnR>
                    <a:lnT w="6350" cap="flat" cmpd="sng" algn="ctr">
                      <a:solidFill>
                        <a:srgbClr val="C8D9EE"/>
                      </a:solidFill>
                      <a:prstDash val="solid"/>
                      <a:round/>
                      <a:headEnd type="none" w="med" len="med"/>
                      <a:tailEnd type="none" w="med" len="med"/>
                    </a:lnT>
                    <a:lnB w="6350" cap="flat" cmpd="sng" algn="ctr">
                      <a:solidFill>
                        <a:srgbClr val="C8D9EE"/>
                      </a:solidFill>
                      <a:prstDash val="solid"/>
                      <a:round/>
                      <a:headEnd type="none" w="med" len="med"/>
                      <a:tailEnd type="none" w="med" len="med"/>
                    </a:lnB>
                    <a:solidFill>
                      <a:srgbClr val="E8F5EE"/>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IN"/>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COST PLAN — MATERIALS &amp; PROCUREMENT</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Drill-Down  ·  Objective  ·  Basis &amp; Saving  ·  Owner  ·  Risks</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IN"/>
          </a:p>
        </p:txBody>
      </p:sp>
      <p:sp>
        <p:nvSpPr>
          <p:cNvPr id="7" name="Shape 5"/>
          <p:cNvSpPr/>
          <p:nvPr/>
        </p:nvSpPr>
        <p:spPr>
          <a:xfrm>
            <a:off x="411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8" name="Shape 6"/>
          <p:cNvSpPr/>
          <p:nvPr/>
        </p:nvSpPr>
        <p:spPr>
          <a:xfrm>
            <a:off x="411480" y="84124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9" name="Text 7"/>
          <p:cNvSpPr/>
          <p:nvPr/>
        </p:nvSpPr>
        <p:spPr>
          <a:xfrm>
            <a:off x="539496" y="89611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C-01  ·  Drug Brand Substitution</a:t>
            </a:r>
            <a:endParaRPr lang="en-US" sz="1650"/>
          </a:p>
        </p:txBody>
      </p:sp>
      <p:sp>
        <p:nvSpPr>
          <p:cNvPr id="10" name="Shape 8"/>
          <p:cNvSpPr/>
          <p:nvPr/>
        </p:nvSpPr>
        <p:spPr>
          <a:xfrm>
            <a:off x="411480" y="128016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11" name="Text 9"/>
          <p:cNvSpPr/>
          <p:nvPr/>
        </p:nvSpPr>
        <p:spPr>
          <a:xfrm>
            <a:off x="539496" y="130759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Materials / COGS  ·  Apr-26  ·  Nil cost</a:t>
            </a:r>
            <a:endParaRPr lang="en-US" sz="1275"/>
          </a:p>
        </p:txBody>
      </p:sp>
      <p:sp>
        <p:nvSpPr>
          <p:cNvPr id="12" name="Text 10"/>
          <p:cNvSpPr/>
          <p:nvPr/>
        </p:nvSpPr>
        <p:spPr>
          <a:xfrm>
            <a:off x="3977640" y="129844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₹3.00 Cr</a:t>
            </a:r>
            <a:endParaRPr lang="en-US" sz="1500"/>
          </a:p>
        </p:txBody>
      </p:sp>
      <p:sp>
        <p:nvSpPr>
          <p:cNvPr id="13" name="Text 11"/>
          <p:cNvSpPr/>
          <p:nvPr/>
        </p:nvSpPr>
        <p:spPr>
          <a:xfrm>
            <a:off x="539496" y="160934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14" name="Text 12"/>
          <p:cNvSpPr/>
          <p:nvPr/>
        </p:nvSpPr>
        <p:spPr>
          <a:xfrm>
            <a:off x="539496" y="1764792"/>
            <a:ext cx="5230368" cy="804672"/>
          </a:xfrm>
          <a:prstGeom prst="rect">
            <a:avLst/>
          </a:prstGeom>
          <a:noFill/>
          <a:ln/>
        </p:spPr>
        <p:txBody>
          <a:bodyPr wrap="square" lIns="0" tIns="0" rIns="0" bIns="0" rtlCol="0" anchor="ctr">
            <a:normAutofit lnSpcReduction="10000"/>
          </a:bodyPr>
          <a:lstStyle/>
          <a:p>
            <a:pPr marL="0" indent="0">
              <a:buNone/>
            </a:pPr>
            <a:r>
              <a:rPr lang="en-US" sz="1425">
                <a:solidFill>
                  <a:srgbClr val="1C2B3A"/>
                </a:solidFill>
                <a:latin typeface="Calibri" pitchFamily="34" charset="0"/>
                <a:ea typeface="Calibri" pitchFamily="34" charset="-122"/>
                <a:cs typeface="Calibri" pitchFamily="34" charset="-120"/>
              </a:rPr>
              <a:t>Replace 16 high-spend branded drugs with clinically equivalent alternatives. Top 5: Paracetamol IV, Meropenem 1GM, IV Infusion Sets, Ceftazidime-Avibactam, Meropenem-Sulbactam. Formulary committee with binding authority enforced via HMIS hard-stop at dispensing.</a:t>
            </a:r>
            <a:endParaRPr lang="en-US" sz="1425"/>
          </a:p>
        </p:txBody>
      </p:sp>
      <p:sp>
        <p:nvSpPr>
          <p:cNvPr id="15" name="Text 13"/>
          <p:cNvSpPr/>
          <p:nvPr/>
        </p:nvSpPr>
        <p:spPr>
          <a:xfrm>
            <a:off x="539496" y="260604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16" name="Text 14"/>
          <p:cNvSpPr/>
          <p:nvPr/>
        </p:nvSpPr>
        <p:spPr>
          <a:xfrm>
            <a:off x="539496" y="2761488"/>
            <a:ext cx="5230368" cy="530352"/>
          </a:xfrm>
          <a:prstGeom prst="rect">
            <a:avLst/>
          </a:prstGeom>
          <a:noFill/>
          <a:ln/>
        </p:spPr>
        <p:txBody>
          <a:bodyPr wrap="square" lIns="0" tIns="0" rIns="0" bIns="0" rtlCol="0" anchor="ctr">
            <a:normAutofit fontScale="92500" lnSpcReduction="10000"/>
          </a:bodyPr>
          <a:lstStyle/>
          <a:p>
            <a:pPr marL="0" indent="0">
              <a:buNone/>
            </a:pPr>
            <a:r>
              <a:rPr lang="en-US" sz="1350">
                <a:solidFill>
                  <a:srgbClr val="1C2B3A"/>
                </a:solidFill>
                <a:latin typeface="Calibri" pitchFamily="34" charset="0"/>
                <a:ea typeface="Calibri" pitchFamily="34" charset="-122"/>
                <a:cs typeface="Calibri" pitchFamily="34" charset="-120"/>
              </a:rPr>
              <a:t>₹38.8L/month incremental margin at full compliance. Top 5 molecules = ₹30L/month. Target ₹3 Cr assumes 80% compliance. Patient billing unchanged — hospital retains the MRP spread on cheaper procurement.</a:t>
            </a:r>
            <a:endParaRPr lang="en-US" sz="1350"/>
          </a:p>
        </p:txBody>
      </p:sp>
      <p:sp>
        <p:nvSpPr>
          <p:cNvPr id="17" name="Text 15"/>
          <p:cNvSpPr/>
          <p:nvPr/>
        </p:nvSpPr>
        <p:spPr>
          <a:xfrm>
            <a:off x="539496" y="3328416"/>
            <a:ext cx="5230368" cy="256032"/>
          </a:xfrm>
          <a:prstGeom prst="rect">
            <a:avLst/>
          </a:prstGeom>
          <a:noFill/>
          <a:ln/>
        </p:spPr>
        <p:txBody>
          <a:bodyPr wrap="square" lIns="0" tIns="0" rIns="0" bIns="0" rtlCol="0" anchor="ctr">
            <a:normAutofit fontScale="85000" lnSpcReduction="20000"/>
          </a:bodyPr>
          <a:lstStyle/>
          <a:p>
            <a:pPr marL="0" indent="0">
              <a:buNone/>
            </a:pPr>
            <a:r>
              <a:rPr lang="en-US" sz="1200" i="1">
                <a:solidFill>
                  <a:srgbClr val="5A7A96"/>
                </a:solidFill>
                <a:latin typeface="Calibri" pitchFamily="34" charset="0"/>
                <a:ea typeface="Calibri" pitchFamily="34" charset="-122"/>
                <a:cs typeface="Calibri" pitchFamily="34" charset="-120"/>
              </a:rPr>
              <a:t>Owner: Chief Pharmacist / CMO  ·  Risk: Clinician brand loyalty; HMIS hard-stop overrides drift to 40–60% without active enforcement</a:t>
            </a:r>
            <a:endParaRPr lang="en-US" sz="1200"/>
          </a:p>
        </p:txBody>
      </p:sp>
      <p:sp>
        <p:nvSpPr>
          <p:cNvPr id="18" name="Shape 16"/>
          <p:cNvSpPr/>
          <p:nvPr/>
        </p:nvSpPr>
        <p:spPr>
          <a:xfrm>
            <a:off x="6126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19" name="Shape 17"/>
          <p:cNvSpPr/>
          <p:nvPr/>
        </p:nvSpPr>
        <p:spPr>
          <a:xfrm>
            <a:off x="6126480" y="84124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20" name="Text 18"/>
          <p:cNvSpPr/>
          <p:nvPr/>
        </p:nvSpPr>
        <p:spPr>
          <a:xfrm>
            <a:off x="6254496" y="89611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C-02  ·  Manufacturer Rate Contracts</a:t>
            </a:r>
            <a:endParaRPr lang="en-US" sz="1650"/>
          </a:p>
        </p:txBody>
      </p:sp>
      <p:sp>
        <p:nvSpPr>
          <p:cNvPr id="21" name="Shape 19"/>
          <p:cNvSpPr/>
          <p:nvPr/>
        </p:nvSpPr>
        <p:spPr>
          <a:xfrm>
            <a:off x="6126480" y="128016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22" name="Text 20"/>
          <p:cNvSpPr/>
          <p:nvPr/>
        </p:nvSpPr>
        <p:spPr>
          <a:xfrm>
            <a:off x="6254496" y="130759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Materials / COGS  ·  Apr-26  ·  Nil cost</a:t>
            </a:r>
            <a:endParaRPr lang="en-US" sz="1275"/>
          </a:p>
        </p:txBody>
      </p:sp>
      <p:sp>
        <p:nvSpPr>
          <p:cNvPr id="23" name="Text 21"/>
          <p:cNvSpPr/>
          <p:nvPr/>
        </p:nvSpPr>
        <p:spPr>
          <a:xfrm>
            <a:off x="9692640" y="129844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₹1.30 Cr</a:t>
            </a:r>
            <a:endParaRPr lang="en-US" sz="1500"/>
          </a:p>
        </p:txBody>
      </p:sp>
      <p:sp>
        <p:nvSpPr>
          <p:cNvPr id="24" name="Text 22"/>
          <p:cNvSpPr/>
          <p:nvPr/>
        </p:nvSpPr>
        <p:spPr>
          <a:xfrm>
            <a:off x="6254496" y="160934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25" name="Text 23"/>
          <p:cNvSpPr/>
          <p:nvPr/>
        </p:nvSpPr>
        <p:spPr>
          <a:xfrm>
            <a:off x="6254496" y="1764792"/>
            <a:ext cx="5230368" cy="804672"/>
          </a:xfrm>
          <a:prstGeom prst="rect">
            <a:avLst/>
          </a:prstGeom>
          <a:noFill/>
          <a:ln/>
        </p:spPr>
        <p:txBody>
          <a:bodyPr wrap="square" lIns="0" tIns="0" rIns="0" bIns="0" rtlCol="0" anchor="ctr">
            <a:normAutofit lnSpcReduction="10000"/>
          </a:bodyPr>
          <a:lstStyle/>
          <a:p>
            <a:pPr marL="0" indent="0">
              <a:buNone/>
            </a:pPr>
            <a:r>
              <a:rPr lang="en-US" sz="1425">
                <a:solidFill>
                  <a:srgbClr val="1C2B3A"/>
                </a:solidFill>
                <a:latin typeface="Calibri" pitchFamily="34" charset="0"/>
                <a:ea typeface="Calibri" pitchFamily="34" charset="-122"/>
                <a:cs typeface="Calibri" pitchFamily="34" charset="-120"/>
              </a:rPr>
              <a:t>Negotiate direct rate contracts with top manufacturers for high-volume consumable SKUs, bypassing distributor margins. Consolidate to 3-year agreements with volume commitments from Lupin, Micro Labs, Cipla and Reliance.</a:t>
            </a:r>
            <a:endParaRPr lang="en-US" sz="1425"/>
          </a:p>
        </p:txBody>
      </p:sp>
      <p:sp>
        <p:nvSpPr>
          <p:cNvPr id="26" name="Text 24"/>
          <p:cNvSpPr/>
          <p:nvPr/>
        </p:nvSpPr>
        <p:spPr>
          <a:xfrm>
            <a:off x="6254496" y="260604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27" name="Text 25"/>
          <p:cNvSpPr/>
          <p:nvPr/>
        </p:nvSpPr>
        <p:spPr>
          <a:xfrm>
            <a:off x="6254496" y="2761488"/>
            <a:ext cx="5230368" cy="530352"/>
          </a:xfrm>
          <a:prstGeom prst="rect">
            <a:avLst/>
          </a:prstGeom>
          <a:noFill/>
          <a:ln/>
        </p:spPr>
        <p:txBody>
          <a:bodyPr wrap="square" lIns="0" tIns="0" rIns="0" bIns="0" rtlCol="0" anchor="ctr">
            <a:normAutofit/>
          </a:bodyPr>
          <a:lstStyle/>
          <a:p>
            <a:pPr marL="0" indent="0">
              <a:buNone/>
            </a:pPr>
            <a:r>
              <a:rPr lang="en-US" sz="1350">
                <a:solidFill>
                  <a:srgbClr val="1C2B3A"/>
                </a:solidFill>
                <a:latin typeface="Calibri" pitchFamily="34" charset="0"/>
                <a:ea typeface="Calibri" pitchFamily="34" charset="-122"/>
                <a:cs typeface="Calibri" pitchFamily="34" charset="-120"/>
              </a:rPr>
              <a:t>₹1.3 Cr from 5–8% cost reduction on ₹25 Cr of consumables routed through direct manufacturer contracts. Synergistic with C-01 and C-03.</a:t>
            </a:r>
            <a:endParaRPr lang="en-US" sz="1350"/>
          </a:p>
        </p:txBody>
      </p:sp>
      <p:sp>
        <p:nvSpPr>
          <p:cNvPr id="28" name="Text 26"/>
          <p:cNvSpPr/>
          <p:nvPr/>
        </p:nvSpPr>
        <p:spPr>
          <a:xfrm>
            <a:off x="6254496" y="3328416"/>
            <a:ext cx="5230368" cy="256032"/>
          </a:xfrm>
          <a:prstGeom prst="rect">
            <a:avLst/>
          </a:prstGeom>
          <a:noFill/>
          <a:ln/>
        </p:spPr>
        <p:txBody>
          <a:bodyPr wrap="square" lIns="0" tIns="0" rIns="0" bIns="0" rtlCol="0" anchor="ctr">
            <a:normAutofit fontScale="85000" lnSpcReduction="20000"/>
          </a:bodyPr>
          <a:lstStyle/>
          <a:p>
            <a:pPr marL="0" indent="0">
              <a:buNone/>
            </a:pPr>
            <a:r>
              <a:rPr lang="en-US" sz="1200" i="1">
                <a:solidFill>
                  <a:srgbClr val="5A7A96"/>
                </a:solidFill>
                <a:latin typeface="Calibri" pitchFamily="34" charset="0"/>
                <a:ea typeface="Calibri" pitchFamily="34" charset="-122"/>
                <a:cs typeface="Calibri" pitchFamily="34" charset="-120"/>
              </a:rPr>
              <a:t>Owner: CFO / Chief Pharmacist  ·  Risk: Volume commitment terms may constrain flexibility; manufacturer minimum order sizes</a:t>
            </a:r>
            <a:endParaRPr lang="en-US" sz="1200"/>
          </a:p>
        </p:txBody>
      </p:sp>
      <p:sp>
        <p:nvSpPr>
          <p:cNvPr id="29" name="Shape 27"/>
          <p:cNvSpPr/>
          <p:nvPr/>
        </p:nvSpPr>
        <p:spPr>
          <a:xfrm>
            <a:off x="411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30" name="Shape 28"/>
          <p:cNvSpPr/>
          <p:nvPr/>
        </p:nvSpPr>
        <p:spPr>
          <a:xfrm>
            <a:off x="411480" y="376732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31" name="Text 29"/>
          <p:cNvSpPr/>
          <p:nvPr/>
        </p:nvSpPr>
        <p:spPr>
          <a:xfrm>
            <a:off x="539496" y="382219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C-03  ·  Distributor Consolidation</a:t>
            </a:r>
            <a:endParaRPr lang="en-US" sz="1650"/>
          </a:p>
        </p:txBody>
      </p:sp>
      <p:sp>
        <p:nvSpPr>
          <p:cNvPr id="32" name="Shape 30"/>
          <p:cNvSpPr/>
          <p:nvPr/>
        </p:nvSpPr>
        <p:spPr>
          <a:xfrm>
            <a:off x="411480" y="420624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33" name="Text 31"/>
          <p:cNvSpPr/>
          <p:nvPr/>
        </p:nvSpPr>
        <p:spPr>
          <a:xfrm>
            <a:off x="539496" y="423367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Materials / COGS  ·  Apr-26  ·  Nil cost</a:t>
            </a:r>
            <a:endParaRPr lang="en-US" sz="1275"/>
          </a:p>
        </p:txBody>
      </p:sp>
      <p:sp>
        <p:nvSpPr>
          <p:cNvPr id="34" name="Text 32"/>
          <p:cNvSpPr/>
          <p:nvPr/>
        </p:nvSpPr>
        <p:spPr>
          <a:xfrm>
            <a:off x="3977640" y="422452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₹0.80 Cr</a:t>
            </a:r>
            <a:endParaRPr lang="en-US" sz="1500"/>
          </a:p>
        </p:txBody>
      </p:sp>
      <p:sp>
        <p:nvSpPr>
          <p:cNvPr id="35" name="Text 33"/>
          <p:cNvSpPr/>
          <p:nvPr/>
        </p:nvSpPr>
        <p:spPr>
          <a:xfrm>
            <a:off x="539496" y="453542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36" name="Text 34"/>
          <p:cNvSpPr/>
          <p:nvPr/>
        </p:nvSpPr>
        <p:spPr>
          <a:xfrm>
            <a:off x="539496" y="4690872"/>
            <a:ext cx="5230368" cy="804672"/>
          </a:xfrm>
          <a:prstGeom prst="rect">
            <a:avLst/>
          </a:prstGeom>
          <a:noFill/>
          <a:ln/>
        </p:spPr>
        <p:txBody>
          <a:bodyPr wrap="square" lIns="0" tIns="0" rIns="0" bIns="0" rtlCol="0" anchor="ctr">
            <a:normAutofit/>
          </a:bodyPr>
          <a:lstStyle/>
          <a:p>
            <a:pPr marL="0" indent="0">
              <a:buNone/>
            </a:pPr>
            <a:r>
              <a:rPr lang="en-US" sz="1425">
                <a:solidFill>
                  <a:srgbClr val="1C2B3A"/>
                </a:solidFill>
                <a:latin typeface="Calibri" pitchFamily="34" charset="0"/>
                <a:ea typeface="Calibri" pitchFamily="34" charset="-122"/>
                <a:cs typeface="Calibri" pitchFamily="34" charset="-120"/>
              </a:rPr>
              <a:t>Reduce from 18–22 active distributors to 5–7 preferred partners. Leverage consolidated volume for improved margins and standardise 30-day payment terms.</a:t>
            </a:r>
            <a:endParaRPr lang="en-US" sz="1425"/>
          </a:p>
        </p:txBody>
      </p:sp>
      <p:sp>
        <p:nvSpPr>
          <p:cNvPr id="37" name="Text 35"/>
          <p:cNvSpPr/>
          <p:nvPr/>
        </p:nvSpPr>
        <p:spPr>
          <a:xfrm>
            <a:off x="539496" y="553212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38" name="Text 36"/>
          <p:cNvSpPr/>
          <p:nvPr/>
        </p:nvSpPr>
        <p:spPr>
          <a:xfrm>
            <a:off x="539496" y="5687568"/>
            <a:ext cx="5230368" cy="530352"/>
          </a:xfrm>
          <a:prstGeom prst="rect">
            <a:avLst/>
          </a:prstGeom>
          <a:noFill/>
          <a:ln/>
        </p:spPr>
        <p:txBody>
          <a:bodyPr wrap="square" lIns="0" tIns="0" rIns="0" bIns="0" rtlCol="0" anchor="ctr">
            <a:normAutofit fontScale="92500"/>
          </a:bodyPr>
          <a:lstStyle/>
          <a:p>
            <a:pPr marL="0" indent="0">
              <a:buNone/>
            </a:pPr>
            <a:r>
              <a:rPr lang="en-US" sz="1350">
                <a:solidFill>
                  <a:srgbClr val="1C2B3A"/>
                </a:solidFill>
                <a:latin typeface="Calibri" pitchFamily="34" charset="0"/>
                <a:ea typeface="Calibri" pitchFamily="34" charset="-122"/>
                <a:cs typeface="Calibri" pitchFamily="34" charset="-120"/>
              </a:rPr>
              <a:t>₹80L from 3–4% margin improvement on ₹20 Cr routed through the consolidated panel. Simpler procurement also reduces billing errors and stock-out incidents.</a:t>
            </a:r>
            <a:endParaRPr lang="en-US" sz="1350"/>
          </a:p>
        </p:txBody>
      </p:sp>
      <p:sp>
        <p:nvSpPr>
          <p:cNvPr id="39" name="Text 37"/>
          <p:cNvSpPr/>
          <p:nvPr/>
        </p:nvSpPr>
        <p:spPr>
          <a:xfrm>
            <a:off x="539496" y="6254496"/>
            <a:ext cx="5230368" cy="256032"/>
          </a:xfrm>
          <a:prstGeom prst="rect">
            <a:avLst/>
          </a:prstGeom>
          <a:noFill/>
          <a:ln/>
        </p:spPr>
        <p:txBody>
          <a:bodyPr wrap="square" lIns="0" tIns="0" rIns="0" bIns="0" rtlCol="0" anchor="ctr">
            <a:normAutofit fontScale="85000" lnSpcReduction="20000"/>
          </a:bodyPr>
          <a:lstStyle/>
          <a:p>
            <a:pPr marL="0" indent="0">
              <a:buNone/>
            </a:pPr>
            <a:r>
              <a:rPr lang="en-US" sz="1200" i="1">
                <a:solidFill>
                  <a:srgbClr val="5A7A96"/>
                </a:solidFill>
                <a:latin typeface="Calibri" pitchFamily="34" charset="0"/>
                <a:ea typeface="Calibri" pitchFamily="34" charset="-122"/>
                <a:cs typeface="Calibri" pitchFamily="34" charset="-120"/>
              </a:rPr>
              <a:t>Owner: CFO / Chief Pharmacist  ·  Risk: 2–3 month transition disruption; discontinued SKUs need alternative sourcing</a:t>
            </a:r>
            <a:endParaRPr lang="en-US" sz="1200"/>
          </a:p>
        </p:txBody>
      </p:sp>
      <p:sp>
        <p:nvSpPr>
          <p:cNvPr id="40" name="Shape 38"/>
          <p:cNvSpPr/>
          <p:nvPr/>
        </p:nvSpPr>
        <p:spPr>
          <a:xfrm>
            <a:off x="6126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41" name="Shape 39"/>
          <p:cNvSpPr/>
          <p:nvPr/>
        </p:nvSpPr>
        <p:spPr>
          <a:xfrm>
            <a:off x="6126480" y="376732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42" name="Text 40"/>
          <p:cNvSpPr/>
          <p:nvPr/>
        </p:nvSpPr>
        <p:spPr>
          <a:xfrm>
            <a:off x="6254496" y="382219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C-04  ·  Surgical BOQ Standardisation</a:t>
            </a:r>
            <a:endParaRPr lang="en-US" sz="1650"/>
          </a:p>
        </p:txBody>
      </p:sp>
      <p:sp>
        <p:nvSpPr>
          <p:cNvPr id="43" name="Shape 41"/>
          <p:cNvSpPr/>
          <p:nvPr/>
        </p:nvSpPr>
        <p:spPr>
          <a:xfrm>
            <a:off x="6126480" y="420624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44" name="Text 42"/>
          <p:cNvSpPr/>
          <p:nvPr/>
        </p:nvSpPr>
        <p:spPr>
          <a:xfrm>
            <a:off x="6254496" y="423367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Materials / COGS  ·  Jun-26  ·  Nil cost</a:t>
            </a:r>
            <a:endParaRPr lang="en-US" sz="1275"/>
          </a:p>
        </p:txBody>
      </p:sp>
      <p:sp>
        <p:nvSpPr>
          <p:cNvPr id="45" name="Text 43"/>
          <p:cNvSpPr/>
          <p:nvPr/>
        </p:nvSpPr>
        <p:spPr>
          <a:xfrm>
            <a:off x="9692640" y="422452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₹0.58 Cr</a:t>
            </a:r>
            <a:endParaRPr lang="en-US" sz="1500"/>
          </a:p>
        </p:txBody>
      </p:sp>
      <p:sp>
        <p:nvSpPr>
          <p:cNvPr id="46" name="Text 44"/>
          <p:cNvSpPr/>
          <p:nvPr/>
        </p:nvSpPr>
        <p:spPr>
          <a:xfrm>
            <a:off x="6254496" y="453542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47" name="Text 45"/>
          <p:cNvSpPr/>
          <p:nvPr/>
        </p:nvSpPr>
        <p:spPr>
          <a:xfrm>
            <a:off x="6254496" y="4690872"/>
            <a:ext cx="5230368" cy="804672"/>
          </a:xfrm>
          <a:prstGeom prst="rect">
            <a:avLst/>
          </a:prstGeom>
          <a:noFill/>
          <a:ln/>
        </p:spPr>
        <p:txBody>
          <a:bodyPr wrap="square" lIns="0" tIns="0" rIns="0" bIns="0" rtlCol="0" anchor="ctr">
            <a:normAutofit lnSpcReduction="10000"/>
          </a:bodyPr>
          <a:lstStyle/>
          <a:p>
            <a:pPr marL="0" indent="0">
              <a:buNone/>
            </a:pPr>
            <a:r>
              <a:rPr lang="en-US" sz="1425">
                <a:solidFill>
                  <a:srgbClr val="1C2B3A"/>
                </a:solidFill>
                <a:latin typeface="Calibri" pitchFamily="34" charset="0"/>
                <a:ea typeface="Calibri" pitchFamily="34" charset="-122"/>
                <a:cs typeface="Calibri" pitchFamily="34" charset="-120"/>
              </a:rPr>
              <a:t>Define standard Bill of Quantities for the top 30 surgical procedures by consumable cost. Replace ad-hoc surgeon preference ordering with standardised kits approved by the surgical committee. Variance from BOQ requires clinical justification.</a:t>
            </a:r>
            <a:endParaRPr lang="en-US" sz="1425"/>
          </a:p>
        </p:txBody>
      </p:sp>
      <p:sp>
        <p:nvSpPr>
          <p:cNvPr id="48" name="Text 46"/>
          <p:cNvSpPr/>
          <p:nvPr/>
        </p:nvSpPr>
        <p:spPr>
          <a:xfrm>
            <a:off x="6254496" y="553212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49" name="Text 47"/>
          <p:cNvSpPr/>
          <p:nvPr/>
        </p:nvSpPr>
        <p:spPr>
          <a:xfrm>
            <a:off x="6254496" y="5687568"/>
            <a:ext cx="5230368" cy="530352"/>
          </a:xfrm>
          <a:prstGeom prst="rect">
            <a:avLst/>
          </a:prstGeom>
          <a:noFill/>
          <a:ln/>
        </p:spPr>
        <p:txBody>
          <a:bodyPr wrap="square" lIns="0" tIns="0" rIns="0" bIns="0" rtlCol="0" anchor="ctr">
            <a:normAutofit fontScale="92500"/>
          </a:bodyPr>
          <a:lstStyle/>
          <a:p>
            <a:pPr marL="0" indent="0">
              <a:buNone/>
            </a:pPr>
            <a:r>
              <a:rPr lang="en-US" sz="1350">
                <a:solidFill>
                  <a:srgbClr val="1C2B3A"/>
                </a:solidFill>
                <a:latin typeface="Calibri" pitchFamily="34" charset="0"/>
                <a:ea typeface="Calibri" pitchFamily="34" charset="-122"/>
                <a:cs typeface="Calibri" pitchFamily="34" charset="-120"/>
              </a:rPr>
              <a:t>₹58L from 8–10% reduction in per-case consumable cost. Surgeon preference variation accounts for ₹70–80L annual excess spend across top procedures.</a:t>
            </a:r>
            <a:endParaRPr lang="en-US" sz="1350"/>
          </a:p>
        </p:txBody>
      </p:sp>
      <p:sp>
        <p:nvSpPr>
          <p:cNvPr id="50" name="Text 48"/>
          <p:cNvSpPr/>
          <p:nvPr/>
        </p:nvSpPr>
        <p:spPr>
          <a:xfrm>
            <a:off x="6254496" y="6254496"/>
            <a:ext cx="5230368" cy="256032"/>
          </a:xfrm>
          <a:prstGeom prst="rect">
            <a:avLst/>
          </a:prstGeom>
          <a:noFill/>
          <a:ln/>
        </p:spPr>
        <p:txBody>
          <a:bodyPr wrap="square" lIns="0" tIns="0" rIns="0" bIns="0" rtlCol="0" anchor="ctr">
            <a:normAutofit fontScale="85000" lnSpcReduction="20000"/>
          </a:bodyPr>
          <a:lstStyle/>
          <a:p>
            <a:pPr marL="0" indent="0">
              <a:buNone/>
            </a:pPr>
            <a:r>
              <a:rPr lang="en-US" sz="1200" i="1">
                <a:solidFill>
                  <a:srgbClr val="5A7A96"/>
                </a:solidFill>
                <a:latin typeface="Calibri" pitchFamily="34" charset="0"/>
                <a:ea typeface="Calibri" pitchFamily="34" charset="-122"/>
                <a:cs typeface="Calibri" pitchFamily="34" charset="-120"/>
              </a:rPr>
              <a:t>Owner: CMO / Chief of Surgery / Stores  ·  Risk: Surgeon resistance; BOQ must be ratified by the surgical committee to achieve buy-in</a:t>
            </a:r>
            <a:endParaRPr lang="en-US"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IN"/>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COST PLAN — MATERIALS &amp; MISCELLANEOUS</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Drill-Down  ·  Objective  ·  Basis &amp; Saving  ·  Owner  ·  Risks</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IN"/>
          </a:p>
        </p:txBody>
      </p:sp>
      <p:sp>
        <p:nvSpPr>
          <p:cNvPr id="7" name="Shape 5"/>
          <p:cNvSpPr/>
          <p:nvPr/>
        </p:nvSpPr>
        <p:spPr>
          <a:xfrm>
            <a:off x="411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8" name="Shape 6"/>
          <p:cNvSpPr/>
          <p:nvPr/>
        </p:nvSpPr>
        <p:spPr>
          <a:xfrm>
            <a:off x="411480" y="84124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9" name="Text 7"/>
          <p:cNvSpPr/>
          <p:nvPr/>
        </p:nvSpPr>
        <p:spPr>
          <a:xfrm>
            <a:off x="539496" y="89611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C-05  ·  Inventory &amp; Wastage Control</a:t>
            </a:r>
            <a:endParaRPr lang="en-US" sz="1650"/>
          </a:p>
        </p:txBody>
      </p:sp>
      <p:sp>
        <p:nvSpPr>
          <p:cNvPr id="10" name="Shape 8"/>
          <p:cNvSpPr/>
          <p:nvPr/>
        </p:nvSpPr>
        <p:spPr>
          <a:xfrm>
            <a:off x="411480" y="128016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11" name="Text 9"/>
          <p:cNvSpPr/>
          <p:nvPr/>
        </p:nvSpPr>
        <p:spPr>
          <a:xfrm>
            <a:off x="539496" y="130759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Materials / COGS  ·  Apr-26  ·  Nil cost</a:t>
            </a:r>
            <a:endParaRPr lang="en-US" sz="1275"/>
          </a:p>
        </p:txBody>
      </p:sp>
      <p:sp>
        <p:nvSpPr>
          <p:cNvPr id="12" name="Text 10"/>
          <p:cNvSpPr/>
          <p:nvPr/>
        </p:nvSpPr>
        <p:spPr>
          <a:xfrm>
            <a:off x="3977640" y="129844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₹0.70 Cr</a:t>
            </a:r>
            <a:endParaRPr lang="en-US" sz="1500"/>
          </a:p>
        </p:txBody>
      </p:sp>
      <p:sp>
        <p:nvSpPr>
          <p:cNvPr id="13" name="Text 11"/>
          <p:cNvSpPr/>
          <p:nvPr/>
        </p:nvSpPr>
        <p:spPr>
          <a:xfrm>
            <a:off x="539496" y="160934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14" name="Text 12"/>
          <p:cNvSpPr/>
          <p:nvPr/>
        </p:nvSpPr>
        <p:spPr>
          <a:xfrm>
            <a:off x="539496" y="1764792"/>
            <a:ext cx="5230368" cy="804672"/>
          </a:xfrm>
          <a:prstGeom prst="rect">
            <a:avLst/>
          </a:prstGeom>
          <a:noFill/>
          <a:ln/>
        </p:spPr>
        <p:txBody>
          <a:bodyPr wrap="square" lIns="0" tIns="0" rIns="0" bIns="0" rtlCol="0" anchor="ctr">
            <a:normAutofit/>
          </a:bodyPr>
          <a:lstStyle/>
          <a:p>
            <a:pPr marL="0" indent="0">
              <a:buNone/>
            </a:pPr>
            <a:r>
              <a:rPr lang="en-US" sz="1425">
                <a:solidFill>
                  <a:srgbClr val="1C2B3A"/>
                </a:solidFill>
                <a:latin typeface="Calibri" pitchFamily="34" charset="0"/>
                <a:ea typeface="Calibri" pitchFamily="34" charset="-122"/>
                <a:cs typeface="Calibri" pitchFamily="34" charset="-120"/>
              </a:rPr>
              <a:t>Implement FIFO discipline and near-expiry tracking across pharmacy and stores. Reorder-level automation through HIS. Reduce dead stock, expiry write-offs and emergency procurement premium.</a:t>
            </a:r>
            <a:endParaRPr lang="en-US" sz="1425"/>
          </a:p>
        </p:txBody>
      </p:sp>
      <p:sp>
        <p:nvSpPr>
          <p:cNvPr id="15" name="Text 13"/>
          <p:cNvSpPr/>
          <p:nvPr/>
        </p:nvSpPr>
        <p:spPr>
          <a:xfrm>
            <a:off x="539496" y="260604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16" name="Text 14"/>
          <p:cNvSpPr/>
          <p:nvPr/>
        </p:nvSpPr>
        <p:spPr>
          <a:xfrm>
            <a:off x="539496" y="2761488"/>
            <a:ext cx="5230368" cy="530352"/>
          </a:xfrm>
          <a:prstGeom prst="rect">
            <a:avLst/>
          </a:prstGeom>
          <a:noFill/>
          <a:ln/>
        </p:spPr>
        <p:txBody>
          <a:bodyPr wrap="square" lIns="0" tIns="0" rIns="0" bIns="0" rtlCol="0" anchor="ctr">
            <a:normAutofit fontScale="92500"/>
          </a:bodyPr>
          <a:lstStyle/>
          <a:p>
            <a:pPr marL="0" indent="0">
              <a:buNone/>
            </a:pPr>
            <a:r>
              <a:rPr lang="en-US" sz="1350">
                <a:solidFill>
                  <a:srgbClr val="1C2B3A"/>
                </a:solidFill>
                <a:latin typeface="Calibri" pitchFamily="34" charset="0"/>
                <a:ea typeface="Calibri" pitchFamily="34" charset="-122"/>
                <a:cs typeface="Calibri" pitchFamily="34" charset="-120"/>
              </a:rPr>
              <a:t>₹70L from eliminating ~1.5% wastage on ₹46 Cr annual consumption. Current expiry and over-ordering write-offs estimated at ₹80–100L per year.</a:t>
            </a:r>
            <a:endParaRPr lang="en-US" sz="1350"/>
          </a:p>
        </p:txBody>
      </p:sp>
      <p:sp>
        <p:nvSpPr>
          <p:cNvPr id="17" name="Text 15"/>
          <p:cNvSpPr/>
          <p:nvPr/>
        </p:nvSpPr>
        <p:spPr>
          <a:xfrm>
            <a:off x="539496" y="3328416"/>
            <a:ext cx="5230368" cy="256032"/>
          </a:xfrm>
          <a:prstGeom prst="rect">
            <a:avLst/>
          </a:prstGeom>
          <a:noFill/>
          <a:ln/>
        </p:spPr>
        <p:txBody>
          <a:bodyPr wrap="square" lIns="0" tIns="0" rIns="0" bIns="0" rtlCol="0" anchor="ctr">
            <a:normAutofit fontScale="85000" lnSpcReduction="20000"/>
          </a:bodyPr>
          <a:lstStyle/>
          <a:p>
            <a:pPr marL="0" indent="0">
              <a:buNone/>
            </a:pPr>
            <a:r>
              <a:rPr lang="en-US" sz="1200" i="1">
                <a:solidFill>
                  <a:srgbClr val="5A7A96"/>
                </a:solidFill>
                <a:latin typeface="Calibri" pitchFamily="34" charset="0"/>
                <a:ea typeface="Calibri" pitchFamily="34" charset="-122"/>
                <a:cs typeface="Calibri" pitchFamily="34" charset="-120"/>
              </a:rPr>
              <a:t>Owner: Chief Pharmacist / Stores Manager  ·  Risk: HIS reorder automation configuration; department FIFO compliance</a:t>
            </a:r>
            <a:endParaRPr lang="en-US" sz="1200"/>
          </a:p>
        </p:txBody>
      </p:sp>
      <p:sp>
        <p:nvSpPr>
          <p:cNvPr id="18" name="Shape 16"/>
          <p:cNvSpPr/>
          <p:nvPr/>
        </p:nvSpPr>
        <p:spPr>
          <a:xfrm>
            <a:off x="6126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19" name="Shape 17"/>
          <p:cNvSpPr/>
          <p:nvPr/>
        </p:nvSpPr>
        <p:spPr>
          <a:xfrm>
            <a:off x="6126480" y="84124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20" name="Text 18"/>
          <p:cNvSpPr/>
          <p:nvPr/>
        </p:nvSpPr>
        <p:spPr>
          <a:xfrm>
            <a:off x="6254496" y="89611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C-06  ·  Laundry Cost Reduction</a:t>
            </a:r>
            <a:endParaRPr lang="en-US" sz="1650"/>
          </a:p>
        </p:txBody>
      </p:sp>
      <p:sp>
        <p:nvSpPr>
          <p:cNvPr id="21" name="Shape 19"/>
          <p:cNvSpPr/>
          <p:nvPr/>
        </p:nvSpPr>
        <p:spPr>
          <a:xfrm>
            <a:off x="6126480" y="128016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22" name="Text 20"/>
          <p:cNvSpPr/>
          <p:nvPr/>
        </p:nvSpPr>
        <p:spPr>
          <a:xfrm>
            <a:off x="6254496" y="130759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Miscellaneous  ·  Apr-26  ·  Nil cost</a:t>
            </a:r>
            <a:endParaRPr lang="en-US" sz="1275"/>
          </a:p>
        </p:txBody>
      </p:sp>
      <p:sp>
        <p:nvSpPr>
          <p:cNvPr id="23" name="Text 21"/>
          <p:cNvSpPr/>
          <p:nvPr/>
        </p:nvSpPr>
        <p:spPr>
          <a:xfrm>
            <a:off x="9692640" y="129844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₹0.14 Cr</a:t>
            </a:r>
            <a:endParaRPr lang="en-US" sz="1500"/>
          </a:p>
        </p:txBody>
      </p:sp>
      <p:sp>
        <p:nvSpPr>
          <p:cNvPr id="24" name="Text 22"/>
          <p:cNvSpPr/>
          <p:nvPr/>
        </p:nvSpPr>
        <p:spPr>
          <a:xfrm>
            <a:off x="6254496" y="160934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25" name="Text 23"/>
          <p:cNvSpPr/>
          <p:nvPr/>
        </p:nvSpPr>
        <p:spPr>
          <a:xfrm>
            <a:off x="6254496" y="1764792"/>
            <a:ext cx="5230368" cy="804672"/>
          </a:xfrm>
          <a:prstGeom prst="rect">
            <a:avLst/>
          </a:prstGeom>
          <a:noFill/>
          <a:ln/>
        </p:spPr>
        <p:txBody>
          <a:bodyPr wrap="square" lIns="0" tIns="0" rIns="0" bIns="0" rtlCol="0" anchor="ctr">
            <a:normAutofit/>
          </a:bodyPr>
          <a:lstStyle/>
          <a:p>
            <a:pPr marL="0" indent="0">
              <a:buNone/>
            </a:pPr>
            <a:r>
              <a:rPr lang="en-US" sz="1425">
                <a:solidFill>
                  <a:srgbClr val="1C2B3A"/>
                </a:solidFill>
                <a:latin typeface="Calibri" pitchFamily="34" charset="0"/>
                <a:ea typeface="Calibri" pitchFamily="34" charset="-122"/>
                <a:cs typeface="Calibri" pitchFamily="34" charset="-120"/>
              </a:rPr>
              <a:t>Renegotiate laundry service contract using competitive benchmarking. Introduce linen par level controls per ward to reduce unnecessary turnaround cycles.</a:t>
            </a:r>
            <a:endParaRPr lang="en-US" sz="1425"/>
          </a:p>
        </p:txBody>
      </p:sp>
      <p:sp>
        <p:nvSpPr>
          <p:cNvPr id="26" name="Text 24"/>
          <p:cNvSpPr/>
          <p:nvPr/>
        </p:nvSpPr>
        <p:spPr>
          <a:xfrm>
            <a:off x="6254496" y="260604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27" name="Text 25"/>
          <p:cNvSpPr/>
          <p:nvPr/>
        </p:nvSpPr>
        <p:spPr>
          <a:xfrm>
            <a:off x="6254496" y="2761488"/>
            <a:ext cx="5230368" cy="530352"/>
          </a:xfrm>
          <a:prstGeom prst="rect">
            <a:avLst/>
          </a:prstGeom>
          <a:noFill/>
          <a:ln/>
        </p:spPr>
        <p:txBody>
          <a:bodyPr wrap="square" lIns="0" tIns="0" rIns="0" bIns="0" rtlCol="0" anchor="ctr">
            <a:normAutofit/>
          </a:bodyPr>
          <a:lstStyle/>
          <a:p>
            <a:pPr marL="0" indent="0">
              <a:buNone/>
            </a:pPr>
            <a:r>
              <a:rPr lang="en-US" sz="1350">
                <a:solidFill>
                  <a:srgbClr val="1C2B3A"/>
                </a:solidFill>
                <a:latin typeface="Calibri" pitchFamily="34" charset="0"/>
                <a:ea typeface="Calibri" pitchFamily="34" charset="-122"/>
                <a:cs typeface="Calibri" pitchFamily="34" charset="-120"/>
              </a:rPr>
              <a:t>₹14L from 10–15% reduction on ₹90–95L annual laundry spend through contract renegotiation and par level discipline.</a:t>
            </a:r>
            <a:endParaRPr lang="en-US" sz="1350"/>
          </a:p>
        </p:txBody>
      </p:sp>
      <p:sp>
        <p:nvSpPr>
          <p:cNvPr id="28" name="Text 26"/>
          <p:cNvSpPr/>
          <p:nvPr/>
        </p:nvSpPr>
        <p:spPr>
          <a:xfrm>
            <a:off x="6254496" y="3328416"/>
            <a:ext cx="5230368" cy="256032"/>
          </a:xfrm>
          <a:prstGeom prst="rect">
            <a:avLst/>
          </a:prstGeom>
          <a:noFill/>
          <a:ln/>
        </p:spPr>
        <p:txBody>
          <a:bodyPr wrap="square" lIns="0" tIns="0" rIns="0" bIns="0" rtlCol="0" anchor="ctr">
            <a:normAutofit fontScale="85000" lnSpcReduction="20000"/>
          </a:bodyPr>
          <a:lstStyle/>
          <a:p>
            <a:pPr marL="0" indent="0">
              <a:buNone/>
            </a:pPr>
            <a:r>
              <a:rPr lang="en-US" sz="1200" i="1">
                <a:solidFill>
                  <a:srgbClr val="5A7A96"/>
                </a:solidFill>
                <a:latin typeface="Calibri" pitchFamily="34" charset="0"/>
                <a:ea typeface="Calibri" pitchFamily="34" charset="-122"/>
                <a:cs typeface="Calibri" pitchFamily="34" charset="-120"/>
              </a:rPr>
              <a:t>Owner: Facilities Manager / CFO  ·  Risk: Vendor resistance; linen quality consistency if vendor switches</a:t>
            </a:r>
            <a:endParaRPr lang="en-US" sz="1200"/>
          </a:p>
        </p:txBody>
      </p:sp>
      <p:sp>
        <p:nvSpPr>
          <p:cNvPr id="29" name="Shape 27"/>
          <p:cNvSpPr/>
          <p:nvPr/>
        </p:nvSpPr>
        <p:spPr>
          <a:xfrm>
            <a:off x="411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30" name="Shape 28"/>
          <p:cNvSpPr/>
          <p:nvPr/>
        </p:nvSpPr>
        <p:spPr>
          <a:xfrm>
            <a:off x="411480" y="376732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31" name="Text 29"/>
          <p:cNvSpPr/>
          <p:nvPr/>
        </p:nvSpPr>
        <p:spPr>
          <a:xfrm>
            <a:off x="539496" y="382219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C-07  ·  AMC Renegotiation</a:t>
            </a:r>
            <a:endParaRPr lang="en-US" sz="1650"/>
          </a:p>
        </p:txBody>
      </p:sp>
      <p:sp>
        <p:nvSpPr>
          <p:cNvPr id="32" name="Shape 30"/>
          <p:cNvSpPr/>
          <p:nvPr/>
        </p:nvSpPr>
        <p:spPr>
          <a:xfrm>
            <a:off x="411480" y="420624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33" name="Text 31"/>
          <p:cNvSpPr/>
          <p:nvPr/>
        </p:nvSpPr>
        <p:spPr>
          <a:xfrm>
            <a:off x="539496" y="423367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Miscellaneous  ·  May-26  ·  Nil cost</a:t>
            </a:r>
            <a:endParaRPr lang="en-US" sz="1275"/>
          </a:p>
        </p:txBody>
      </p:sp>
      <p:sp>
        <p:nvSpPr>
          <p:cNvPr id="34" name="Text 32"/>
          <p:cNvSpPr/>
          <p:nvPr/>
        </p:nvSpPr>
        <p:spPr>
          <a:xfrm>
            <a:off x="3977640" y="422452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₹0.28 Cr</a:t>
            </a:r>
            <a:endParaRPr lang="en-US" sz="1500"/>
          </a:p>
        </p:txBody>
      </p:sp>
      <p:sp>
        <p:nvSpPr>
          <p:cNvPr id="35" name="Text 33"/>
          <p:cNvSpPr/>
          <p:nvPr/>
        </p:nvSpPr>
        <p:spPr>
          <a:xfrm>
            <a:off x="539496" y="453542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36" name="Text 34"/>
          <p:cNvSpPr/>
          <p:nvPr/>
        </p:nvSpPr>
        <p:spPr>
          <a:xfrm>
            <a:off x="539496" y="4690872"/>
            <a:ext cx="5230368" cy="804672"/>
          </a:xfrm>
          <a:prstGeom prst="rect">
            <a:avLst/>
          </a:prstGeom>
          <a:noFill/>
          <a:ln/>
        </p:spPr>
        <p:txBody>
          <a:bodyPr wrap="square" lIns="0" tIns="0" rIns="0" bIns="0" rtlCol="0" anchor="ctr">
            <a:normAutofit/>
          </a:bodyPr>
          <a:lstStyle/>
          <a:p>
            <a:pPr marL="0" indent="0">
              <a:buNone/>
            </a:pPr>
            <a:r>
              <a:rPr lang="en-US" sz="1425">
                <a:solidFill>
                  <a:srgbClr val="1C2B3A"/>
                </a:solidFill>
                <a:latin typeface="Calibri" pitchFamily="34" charset="0"/>
                <a:ea typeface="Calibri" pitchFamily="34" charset="-122"/>
                <a:cs typeface="Calibri" pitchFamily="34" charset="-120"/>
              </a:rPr>
              <a:t>Audit all Annual Maintenance Contracts. Identify auto-renewed contracts with unrevised rates. Competitively rebid top 15 AMC contracts using volume and multi-year commitment as leverage.</a:t>
            </a:r>
            <a:endParaRPr lang="en-US" sz="1425"/>
          </a:p>
        </p:txBody>
      </p:sp>
      <p:sp>
        <p:nvSpPr>
          <p:cNvPr id="37" name="Text 35"/>
          <p:cNvSpPr/>
          <p:nvPr/>
        </p:nvSpPr>
        <p:spPr>
          <a:xfrm>
            <a:off x="539496" y="553212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38" name="Text 36"/>
          <p:cNvSpPr/>
          <p:nvPr/>
        </p:nvSpPr>
        <p:spPr>
          <a:xfrm>
            <a:off x="539496" y="5687568"/>
            <a:ext cx="5230368" cy="530352"/>
          </a:xfrm>
          <a:prstGeom prst="rect">
            <a:avLst/>
          </a:prstGeom>
          <a:noFill/>
          <a:ln/>
        </p:spPr>
        <p:txBody>
          <a:bodyPr wrap="square" lIns="0" tIns="0" rIns="0" bIns="0" rtlCol="0" anchor="ctr">
            <a:normAutofit/>
          </a:bodyPr>
          <a:lstStyle/>
          <a:p>
            <a:pPr marL="0" indent="0">
              <a:buNone/>
            </a:pPr>
            <a:r>
              <a:rPr lang="en-US" sz="1350">
                <a:solidFill>
                  <a:srgbClr val="1C2B3A"/>
                </a:solidFill>
                <a:latin typeface="Calibri" pitchFamily="34" charset="0"/>
                <a:ea typeface="Calibri" pitchFamily="34" charset="-122"/>
                <a:cs typeface="Calibri" pitchFamily="34" charset="-120"/>
              </a:rPr>
              <a:t>₹28L from 10–15% cost reduction across ~₹2 Cr total AMC spend. Most contracts have not been competitively rebid in 3+ years.</a:t>
            </a:r>
            <a:endParaRPr lang="en-US" sz="1350"/>
          </a:p>
        </p:txBody>
      </p:sp>
      <p:sp>
        <p:nvSpPr>
          <p:cNvPr id="39" name="Text 37"/>
          <p:cNvSpPr/>
          <p:nvPr/>
        </p:nvSpPr>
        <p:spPr>
          <a:xfrm>
            <a:off x="539496" y="6254496"/>
            <a:ext cx="5230368" cy="256032"/>
          </a:xfrm>
          <a:prstGeom prst="rect">
            <a:avLst/>
          </a:prstGeom>
          <a:noFill/>
          <a:ln/>
        </p:spPr>
        <p:txBody>
          <a:bodyPr wrap="square" lIns="0" tIns="0" rIns="0" bIns="0" rtlCol="0" anchor="ctr">
            <a:normAutofit fontScale="85000" lnSpcReduction="20000"/>
          </a:bodyPr>
          <a:lstStyle/>
          <a:p>
            <a:pPr marL="0" indent="0">
              <a:buNone/>
            </a:pPr>
            <a:r>
              <a:rPr lang="en-US" sz="1200" i="1">
                <a:solidFill>
                  <a:srgbClr val="5A7A96"/>
                </a:solidFill>
                <a:latin typeface="Calibri" pitchFamily="34" charset="0"/>
                <a:ea typeface="Calibri" pitchFamily="34" charset="-122"/>
                <a:cs typeface="Calibri" pitchFamily="34" charset="-120"/>
              </a:rPr>
              <a:t>Owner: Biomedical / Facilities / CFO  ·  Risk: Mission-critical equipment vendors have limited competition; OEM warranty lock-in</a:t>
            </a:r>
            <a:endParaRPr lang="en-US" sz="1200"/>
          </a:p>
        </p:txBody>
      </p:sp>
      <p:sp>
        <p:nvSpPr>
          <p:cNvPr id="40" name="Shape 38"/>
          <p:cNvSpPr/>
          <p:nvPr/>
        </p:nvSpPr>
        <p:spPr>
          <a:xfrm>
            <a:off x="6126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41" name="Shape 39"/>
          <p:cNvSpPr/>
          <p:nvPr/>
        </p:nvSpPr>
        <p:spPr>
          <a:xfrm>
            <a:off x="6126480" y="376732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42" name="Text 40"/>
          <p:cNvSpPr/>
          <p:nvPr/>
        </p:nvSpPr>
        <p:spPr>
          <a:xfrm>
            <a:off x="6254496" y="382219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C-08  ·  Nursing Headcount Rationalisation</a:t>
            </a:r>
            <a:endParaRPr lang="en-US" sz="1650"/>
          </a:p>
        </p:txBody>
      </p:sp>
      <p:sp>
        <p:nvSpPr>
          <p:cNvPr id="43" name="Shape 41"/>
          <p:cNvSpPr/>
          <p:nvPr/>
        </p:nvSpPr>
        <p:spPr>
          <a:xfrm>
            <a:off x="6126480" y="420624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44" name="Text 42"/>
          <p:cNvSpPr/>
          <p:nvPr/>
        </p:nvSpPr>
        <p:spPr>
          <a:xfrm>
            <a:off x="6254496" y="423367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Payroll  ·  Apr-26  ·  Nil cost</a:t>
            </a:r>
            <a:endParaRPr lang="en-US" sz="1275"/>
          </a:p>
        </p:txBody>
      </p:sp>
      <p:sp>
        <p:nvSpPr>
          <p:cNvPr id="45" name="Text 43"/>
          <p:cNvSpPr/>
          <p:nvPr/>
        </p:nvSpPr>
        <p:spPr>
          <a:xfrm>
            <a:off x="9692640" y="422452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₹1.50 Cr</a:t>
            </a:r>
            <a:endParaRPr lang="en-US" sz="1500"/>
          </a:p>
        </p:txBody>
      </p:sp>
      <p:sp>
        <p:nvSpPr>
          <p:cNvPr id="46" name="Text 44"/>
          <p:cNvSpPr/>
          <p:nvPr/>
        </p:nvSpPr>
        <p:spPr>
          <a:xfrm>
            <a:off x="6254496" y="453542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47" name="Text 45"/>
          <p:cNvSpPr/>
          <p:nvPr/>
        </p:nvSpPr>
        <p:spPr>
          <a:xfrm>
            <a:off x="6254496" y="4690872"/>
            <a:ext cx="5230368" cy="804672"/>
          </a:xfrm>
          <a:prstGeom prst="rect">
            <a:avLst/>
          </a:prstGeom>
          <a:noFill/>
          <a:ln/>
        </p:spPr>
        <p:txBody>
          <a:bodyPr wrap="square" lIns="0" tIns="0" rIns="0" bIns="0" rtlCol="0" anchor="ctr">
            <a:normAutofit lnSpcReduction="10000"/>
          </a:bodyPr>
          <a:lstStyle/>
          <a:p>
            <a:pPr marL="0" indent="0">
              <a:buNone/>
            </a:pPr>
            <a:r>
              <a:rPr lang="en-US" sz="1425">
                <a:solidFill>
                  <a:srgbClr val="1C2B3A"/>
                </a:solidFill>
                <a:latin typeface="Calibri" pitchFamily="34" charset="0"/>
                <a:ea typeface="Calibri" pitchFamily="34" charset="-122"/>
                <a:cs typeface="Calibri" pitchFamily="34" charset="-120"/>
              </a:rPr>
              <a:t>Establish evidence-based nurse-to-bed norms — 1:6 general ward, 1:3 HDU, 1:2 ICU. Manage to target through natural attrition over 12 months. Deploy roster optimisation software to eliminate overtime and agency usage.</a:t>
            </a:r>
            <a:endParaRPr lang="en-US" sz="1425"/>
          </a:p>
        </p:txBody>
      </p:sp>
      <p:sp>
        <p:nvSpPr>
          <p:cNvPr id="48" name="Text 46"/>
          <p:cNvSpPr/>
          <p:nvPr/>
        </p:nvSpPr>
        <p:spPr>
          <a:xfrm>
            <a:off x="6254496" y="553212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49" name="Text 47"/>
          <p:cNvSpPr/>
          <p:nvPr/>
        </p:nvSpPr>
        <p:spPr>
          <a:xfrm>
            <a:off x="6254496" y="5687568"/>
            <a:ext cx="5230368" cy="530352"/>
          </a:xfrm>
          <a:prstGeom prst="rect">
            <a:avLst/>
          </a:prstGeom>
          <a:noFill/>
          <a:ln/>
        </p:spPr>
        <p:txBody>
          <a:bodyPr wrap="square" lIns="0" tIns="0" rIns="0" bIns="0" rtlCol="0" anchor="ctr">
            <a:normAutofit fontScale="92500"/>
          </a:bodyPr>
          <a:lstStyle/>
          <a:p>
            <a:pPr marL="0" indent="0">
              <a:buNone/>
            </a:pPr>
            <a:r>
              <a:rPr lang="en-US" sz="1350">
                <a:solidFill>
                  <a:srgbClr val="1C2B3A"/>
                </a:solidFill>
                <a:latin typeface="Calibri" pitchFamily="34" charset="0"/>
                <a:ea typeface="Calibri" pitchFamily="34" charset="-122"/>
                <a:cs typeface="Calibri" pitchFamily="34" charset="-120"/>
              </a:rPr>
              <a:t>₹1.5 Cr from rationalising 30–40 nursing positions at ₹3.5–4.5L average CTC. No forced retrenchment — managed purely through vacancy management.</a:t>
            </a:r>
            <a:endParaRPr lang="en-US" sz="1350"/>
          </a:p>
        </p:txBody>
      </p:sp>
      <p:sp>
        <p:nvSpPr>
          <p:cNvPr id="50" name="Text 48"/>
          <p:cNvSpPr/>
          <p:nvPr/>
        </p:nvSpPr>
        <p:spPr>
          <a:xfrm>
            <a:off x="6254496" y="6254496"/>
            <a:ext cx="5230368" cy="256032"/>
          </a:xfrm>
          <a:prstGeom prst="rect">
            <a:avLst/>
          </a:prstGeom>
          <a:noFill/>
          <a:ln/>
        </p:spPr>
        <p:txBody>
          <a:bodyPr wrap="square" lIns="0" tIns="0" rIns="0" bIns="0" rtlCol="0" anchor="ctr">
            <a:normAutofit fontScale="85000" lnSpcReduction="20000"/>
          </a:bodyPr>
          <a:lstStyle/>
          <a:p>
            <a:pPr marL="0" indent="0">
              <a:buNone/>
            </a:pPr>
            <a:r>
              <a:rPr lang="en-US" sz="1200" i="1">
                <a:solidFill>
                  <a:srgbClr val="5A7A96"/>
                </a:solidFill>
                <a:latin typeface="Calibri" pitchFamily="34" charset="0"/>
                <a:ea typeface="Calibri" pitchFamily="34" charset="-122"/>
                <a:cs typeface="Calibri" pitchFamily="34" charset="-120"/>
              </a:rPr>
              <a:t>Owner: CNO / HR  ·  Risk: Strike risk if perceived as headcount reduction; NABH nurse-to-bed ratio compliance</a:t>
            </a:r>
            <a:endParaRPr lang="en-US" sz="1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IN"/>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2100" b="1" kern="0" spc="150">
                <a:solidFill>
                  <a:srgbClr val="1C2B3A"/>
                </a:solidFill>
                <a:latin typeface="Calibri" pitchFamily="34" charset="0"/>
                <a:ea typeface="Calibri" pitchFamily="34" charset="-122"/>
                <a:cs typeface="Calibri" pitchFamily="34" charset="-120"/>
              </a:rPr>
              <a:t>COST PLAN — PAYROLL &amp; MISCELLANEOUS</a:t>
            </a:r>
            <a:endParaRPr lang="en-US" sz="210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350" i="1">
                <a:solidFill>
                  <a:srgbClr val="5A7A96"/>
                </a:solidFill>
                <a:latin typeface="Calibri" pitchFamily="34" charset="0"/>
                <a:ea typeface="Calibri" pitchFamily="34" charset="-122"/>
                <a:cs typeface="Calibri" pitchFamily="34" charset="-120"/>
              </a:rPr>
              <a:t>Drill-Down  ·  Objective  ·  Basis &amp; Saving  ·  Owner  ·  Risks</a:t>
            </a:r>
            <a:endParaRPr lang="en-US" sz="1350"/>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200" b="1">
                <a:solidFill>
                  <a:srgbClr val="2E7AB6"/>
                </a:solidFill>
                <a:latin typeface="Calibri" pitchFamily="34" charset="0"/>
                <a:ea typeface="Calibri" pitchFamily="34" charset="-122"/>
                <a:cs typeface="Calibri" pitchFamily="34" charset="-120"/>
              </a:rPr>
              <a:t>VPS LAKESHORE  ·  AOP FY 2026–27</a:t>
            </a:r>
            <a:endParaRPr lang="en-US" sz="12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IN"/>
          </a:p>
        </p:txBody>
      </p:sp>
      <p:sp>
        <p:nvSpPr>
          <p:cNvPr id="7" name="Shape 5"/>
          <p:cNvSpPr/>
          <p:nvPr/>
        </p:nvSpPr>
        <p:spPr>
          <a:xfrm>
            <a:off x="411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8" name="Shape 6"/>
          <p:cNvSpPr/>
          <p:nvPr/>
        </p:nvSpPr>
        <p:spPr>
          <a:xfrm>
            <a:off x="411480" y="84124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9" name="Text 7"/>
          <p:cNvSpPr/>
          <p:nvPr/>
        </p:nvSpPr>
        <p:spPr>
          <a:xfrm>
            <a:off x="539496" y="89611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C-09  ·  Pharmacy Automation &amp; Headcount</a:t>
            </a:r>
            <a:endParaRPr lang="en-US" sz="1650"/>
          </a:p>
        </p:txBody>
      </p:sp>
      <p:sp>
        <p:nvSpPr>
          <p:cNvPr id="10" name="Shape 8"/>
          <p:cNvSpPr/>
          <p:nvPr/>
        </p:nvSpPr>
        <p:spPr>
          <a:xfrm>
            <a:off x="411480" y="128016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11" name="Text 9"/>
          <p:cNvSpPr/>
          <p:nvPr/>
        </p:nvSpPr>
        <p:spPr>
          <a:xfrm>
            <a:off x="539496" y="130759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Payroll  ·  Jun-26  ·  ₹1 Cr capex</a:t>
            </a:r>
            <a:endParaRPr lang="en-US" sz="1275"/>
          </a:p>
        </p:txBody>
      </p:sp>
      <p:sp>
        <p:nvSpPr>
          <p:cNvPr id="12" name="Text 10"/>
          <p:cNvSpPr/>
          <p:nvPr/>
        </p:nvSpPr>
        <p:spPr>
          <a:xfrm>
            <a:off x="3977640" y="129844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₹1.00 Cr</a:t>
            </a:r>
            <a:endParaRPr lang="en-US" sz="1500"/>
          </a:p>
        </p:txBody>
      </p:sp>
      <p:sp>
        <p:nvSpPr>
          <p:cNvPr id="13" name="Text 11"/>
          <p:cNvSpPr/>
          <p:nvPr/>
        </p:nvSpPr>
        <p:spPr>
          <a:xfrm>
            <a:off x="539496" y="160934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14" name="Text 12"/>
          <p:cNvSpPr/>
          <p:nvPr/>
        </p:nvSpPr>
        <p:spPr>
          <a:xfrm>
            <a:off x="539496" y="1764792"/>
            <a:ext cx="5230368" cy="804672"/>
          </a:xfrm>
          <a:prstGeom prst="rect">
            <a:avLst/>
          </a:prstGeom>
          <a:noFill/>
          <a:ln/>
        </p:spPr>
        <p:txBody>
          <a:bodyPr wrap="square" lIns="0" tIns="0" rIns="0" bIns="0" rtlCol="0" anchor="ctr">
            <a:normAutofit/>
          </a:bodyPr>
          <a:lstStyle/>
          <a:p>
            <a:pPr marL="0" indent="0">
              <a:buNone/>
            </a:pPr>
            <a:r>
              <a:rPr lang="en-US" sz="1425">
                <a:solidFill>
                  <a:srgbClr val="1C2B3A"/>
                </a:solidFill>
                <a:latin typeface="Calibri" pitchFamily="34" charset="0"/>
                <a:ea typeface="Calibri" pitchFamily="34" charset="-122"/>
                <a:cs typeface="Calibri" pitchFamily="34" charset="-120"/>
              </a:rPr>
              <a:t>Install automated dispensing units (ADUs) in high-volume pharmacy and OT store areas. Reduce manual dispensing staff by 15 FTEs. 12-month payback on ₹1 Cr capital investment.</a:t>
            </a:r>
            <a:endParaRPr lang="en-US" sz="1425"/>
          </a:p>
        </p:txBody>
      </p:sp>
      <p:sp>
        <p:nvSpPr>
          <p:cNvPr id="15" name="Text 13"/>
          <p:cNvSpPr/>
          <p:nvPr/>
        </p:nvSpPr>
        <p:spPr>
          <a:xfrm>
            <a:off x="539496" y="260604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16" name="Text 14"/>
          <p:cNvSpPr/>
          <p:nvPr/>
        </p:nvSpPr>
        <p:spPr>
          <a:xfrm>
            <a:off x="539496" y="2761488"/>
            <a:ext cx="5230368" cy="530352"/>
          </a:xfrm>
          <a:prstGeom prst="rect">
            <a:avLst/>
          </a:prstGeom>
          <a:noFill/>
          <a:ln/>
        </p:spPr>
        <p:txBody>
          <a:bodyPr wrap="square" lIns="0" tIns="0" rIns="0" bIns="0" rtlCol="0" anchor="ctr">
            <a:normAutofit fontScale="92500"/>
          </a:bodyPr>
          <a:lstStyle/>
          <a:p>
            <a:pPr marL="0" indent="0">
              <a:buNone/>
            </a:pPr>
            <a:r>
              <a:rPr lang="en-US" sz="1350">
                <a:solidFill>
                  <a:srgbClr val="1C2B3A"/>
                </a:solidFill>
                <a:latin typeface="Calibri" pitchFamily="34" charset="0"/>
                <a:ea typeface="Calibri" pitchFamily="34" charset="-122"/>
                <a:cs typeface="Calibri" pitchFamily="34" charset="-120"/>
              </a:rPr>
              <a:t>₹1 Cr saving from 15 FTEs at ₹6.7L average CTC. ADU also reduces dispensing errors and drug diversion risk — benefits beyond the headcount saving.</a:t>
            </a:r>
            <a:endParaRPr lang="en-US" sz="1350"/>
          </a:p>
        </p:txBody>
      </p:sp>
      <p:sp>
        <p:nvSpPr>
          <p:cNvPr id="17" name="Text 15"/>
          <p:cNvSpPr/>
          <p:nvPr/>
        </p:nvSpPr>
        <p:spPr>
          <a:xfrm>
            <a:off x="539496" y="3328416"/>
            <a:ext cx="5230368" cy="256032"/>
          </a:xfrm>
          <a:prstGeom prst="rect">
            <a:avLst/>
          </a:prstGeom>
          <a:noFill/>
          <a:ln/>
        </p:spPr>
        <p:txBody>
          <a:bodyPr wrap="square" lIns="0" tIns="0" rIns="0" bIns="0" rtlCol="0" anchor="ctr">
            <a:normAutofit fontScale="85000" lnSpcReduction="20000"/>
          </a:bodyPr>
          <a:lstStyle/>
          <a:p>
            <a:pPr marL="0" indent="0">
              <a:buNone/>
            </a:pPr>
            <a:r>
              <a:rPr lang="en-US" sz="1200" i="1">
                <a:solidFill>
                  <a:srgbClr val="5A7A96"/>
                </a:solidFill>
                <a:latin typeface="Calibri" pitchFamily="34" charset="0"/>
                <a:ea typeface="Calibri" pitchFamily="34" charset="-122"/>
                <a:cs typeface="Calibri" pitchFamily="34" charset="-120"/>
              </a:rPr>
              <a:t>Owner: Chief Pharmacist / IT / HR  ·  Risk: ADU vendor delivery timeline; HIS integration complexity; staff displacement handling</a:t>
            </a:r>
            <a:endParaRPr lang="en-US" sz="1200"/>
          </a:p>
        </p:txBody>
      </p:sp>
      <p:sp>
        <p:nvSpPr>
          <p:cNvPr id="18" name="Shape 16"/>
          <p:cNvSpPr/>
          <p:nvPr/>
        </p:nvSpPr>
        <p:spPr>
          <a:xfrm>
            <a:off x="6126480" y="84124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19" name="Shape 17"/>
          <p:cNvSpPr/>
          <p:nvPr/>
        </p:nvSpPr>
        <p:spPr>
          <a:xfrm>
            <a:off x="6126480" y="84124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20" name="Text 18"/>
          <p:cNvSpPr/>
          <p:nvPr/>
        </p:nvSpPr>
        <p:spPr>
          <a:xfrm>
            <a:off x="6254496" y="89611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C-10  ·  PCS Reduction via EMR</a:t>
            </a:r>
            <a:endParaRPr lang="en-US" sz="1650"/>
          </a:p>
        </p:txBody>
      </p:sp>
      <p:sp>
        <p:nvSpPr>
          <p:cNvPr id="21" name="Shape 19"/>
          <p:cNvSpPr/>
          <p:nvPr/>
        </p:nvSpPr>
        <p:spPr>
          <a:xfrm>
            <a:off x="6126480" y="128016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22" name="Text 20"/>
          <p:cNvSpPr/>
          <p:nvPr/>
        </p:nvSpPr>
        <p:spPr>
          <a:xfrm>
            <a:off x="6254496" y="130759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Payroll  ·  Jun-26  ·  Nil cost</a:t>
            </a:r>
            <a:endParaRPr lang="en-US" sz="1275"/>
          </a:p>
        </p:txBody>
      </p:sp>
      <p:sp>
        <p:nvSpPr>
          <p:cNvPr id="23" name="Text 21"/>
          <p:cNvSpPr/>
          <p:nvPr/>
        </p:nvSpPr>
        <p:spPr>
          <a:xfrm>
            <a:off x="9692640" y="129844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₹0.50 Cr</a:t>
            </a:r>
            <a:endParaRPr lang="en-US" sz="1500"/>
          </a:p>
        </p:txBody>
      </p:sp>
      <p:sp>
        <p:nvSpPr>
          <p:cNvPr id="24" name="Text 22"/>
          <p:cNvSpPr/>
          <p:nvPr/>
        </p:nvSpPr>
        <p:spPr>
          <a:xfrm>
            <a:off x="6254496" y="160934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25" name="Text 23"/>
          <p:cNvSpPr/>
          <p:nvPr/>
        </p:nvSpPr>
        <p:spPr>
          <a:xfrm>
            <a:off x="6254496" y="1764792"/>
            <a:ext cx="5230368" cy="804672"/>
          </a:xfrm>
          <a:prstGeom prst="rect">
            <a:avLst/>
          </a:prstGeom>
          <a:noFill/>
          <a:ln/>
        </p:spPr>
        <p:txBody>
          <a:bodyPr wrap="square" lIns="0" tIns="0" rIns="0" bIns="0" rtlCol="0" anchor="ctr">
            <a:normAutofit/>
          </a:bodyPr>
          <a:lstStyle/>
          <a:p>
            <a:pPr marL="0" indent="0">
              <a:buNone/>
            </a:pPr>
            <a:r>
              <a:rPr lang="en-US" sz="1425">
                <a:solidFill>
                  <a:srgbClr val="1C2B3A"/>
                </a:solidFill>
                <a:latin typeface="Calibri" pitchFamily="34" charset="0"/>
                <a:ea typeface="Calibri" pitchFamily="34" charset="-122"/>
                <a:cs typeface="Calibri" pitchFamily="34" charset="-120"/>
              </a:rPr>
              <a:t>Reduce patient care staff (ward helpers and attendants) as EMR-driven nursing documentation replaces paper-based processes. Eliminate 8–10 PCS positions through natural attrition.</a:t>
            </a:r>
            <a:endParaRPr lang="en-US" sz="1425"/>
          </a:p>
        </p:txBody>
      </p:sp>
      <p:sp>
        <p:nvSpPr>
          <p:cNvPr id="26" name="Text 24"/>
          <p:cNvSpPr/>
          <p:nvPr/>
        </p:nvSpPr>
        <p:spPr>
          <a:xfrm>
            <a:off x="6254496" y="260604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27" name="Text 25"/>
          <p:cNvSpPr/>
          <p:nvPr/>
        </p:nvSpPr>
        <p:spPr>
          <a:xfrm>
            <a:off x="6254496" y="2761488"/>
            <a:ext cx="5230368" cy="530352"/>
          </a:xfrm>
          <a:prstGeom prst="rect">
            <a:avLst/>
          </a:prstGeom>
          <a:noFill/>
          <a:ln/>
        </p:spPr>
        <p:txBody>
          <a:bodyPr wrap="square" lIns="0" tIns="0" rIns="0" bIns="0" rtlCol="0" anchor="ctr">
            <a:normAutofit/>
          </a:bodyPr>
          <a:lstStyle/>
          <a:p>
            <a:pPr marL="0" indent="0">
              <a:buNone/>
            </a:pPr>
            <a:r>
              <a:rPr lang="en-US" sz="1350">
                <a:solidFill>
                  <a:srgbClr val="1C2B3A"/>
                </a:solidFill>
                <a:latin typeface="Calibri" pitchFamily="34" charset="0"/>
                <a:ea typeface="Calibri" pitchFamily="34" charset="-122"/>
                <a:cs typeface="Calibri" pitchFamily="34" charset="-120"/>
              </a:rPr>
              <a:t>₹50L from 10 FTE reduction at ₹5L CTC. Contingent on EMR go-live and nursing team adoption of digital documentation workflows.</a:t>
            </a:r>
            <a:endParaRPr lang="en-US" sz="1350"/>
          </a:p>
        </p:txBody>
      </p:sp>
      <p:sp>
        <p:nvSpPr>
          <p:cNvPr id="28" name="Text 26"/>
          <p:cNvSpPr/>
          <p:nvPr/>
        </p:nvSpPr>
        <p:spPr>
          <a:xfrm>
            <a:off x="6254496" y="3328416"/>
            <a:ext cx="5230368" cy="256032"/>
          </a:xfrm>
          <a:prstGeom prst="rect">
            <a:avLst/>
          </a:prstGeom>
          <a:noFill/>
          <a:ln/>
        </p:spPr>
        <p:txBody>
          <a:bodyPr wrap="square" lIns="0" tIns="0" rIns="0" bIns="0" rtlCol="0" anchor="ctr">
            <a:normAutofit fontScale="85000" lnSpcReduction="10000"/>
          </a:bodyPr>
          <a:lstStyle/>
          <a:p>
            <a:pPr marL="0" indent="0">
              <a:buNone/>
            </a:pPr>
            <a:r>
              <a:rPr lang="en-US" sz="1200" i="1">
                <a:solidFill>
                  <a:srgbClr val="5A7A96"/>
                </a:solidFill>
                <a:latin typeface="Calibri" pitchFamily="34" charset="0"/>
                <a:ea typeface="Calibri" pitchFamily="34" charset="-122"/>
                <a:cs typeface="Calibri" pitchFamily="34" charset="-120"/>
              </a:rPr>
              <a:t>Owner: CNO / IT / HR  ·  Risk: EMR adoption pace; PCS union sensitivity if perceived as displacement</a:t>
            </a:r>
            <a:endParaRPr lang="en-US" sz="1200"/>
          </a:p>
        </p:txBody>
      </p:sp>
      <p:sp>
        <p:nvSpPr>
          <p:cNvPr id="29" name="Shape 27"/>
          <p:cNvSpPr/>
          <p:nvPr/>
        </p:nvSpPr>
        <p:spPr>
          <a:xfrm>
            <a:off x="411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30" name="Shape 28"/>
          <p:cNvSpPr/>
          <p:nvPr/>
        </p:nvSpPr>
        <p:spPr>
          <a:xfrm>
            <a:off x="411480" y="376732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31" name="Text 29"/>
          <p:cNvSpPr/>
          <p:nvPr/>
        </p:nvSpPr>
        <p:spPr>
          <a:xfrm>
            <a:off x="539496" y="382219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C-11  ·  Contract Staff Rebid</a:t>
            </a:r>
            <a:endParaRPr lang="en-US" sz="1650"/>
          </a:p>
        </p:txBody>
      </p:sp>
      <p:sp>
        <p:nvSpPr>
          <p:cNvPr id="32" name="Shape 30"/>
          <p:cNvSpPr/>
          <p:nvPr/>
        </p:nvSpPr>
        <p:spPr>
          <a:xfrm>
            <a:off x="411480" y="420624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33" name="Text 31"/>
          <p:cNvSpPr/>
          <p:nvPr/>
        </p:nvSpPr>
        <p:spPr>
          <a:xfrm>
            <a:off x="539496" y="423367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Payroll  ·  May-26  ·  Nil cost</a:t>
            </a:r>
            <a:endParaRPr lang="en-US" sz="1275"/>
          </a:p>
        </p:txBody>
      </p:sp>
      <p:sp>
        <p:nvSpPr>
          <p:cNvPr id="34" name="Text 32"/>
          <p:cNvSpPr/>
          <p:nvPr/>
        </p:nvSpPr>
        <p:spPr>
          <a:xfrm>
            <a:off x="3977640" y="422452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₹0.38 Cr</a:t>
            </a:r>
            <a:endParaRPr lang="en-US" sz="1500"/>
          </a:p>
        </p:txBody>
      </p:sp>
      <p:sp>
        <p:nvSpPr>
          <p:cNvPr id="35" name="Text 33"/>
          <p:cNvSpPr/>
          <p:nvPr/>
        </p:nvSpPr>
        <p:spPr>
          <a:xfrm>
            <a:off x="539496" y="453542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36" name="Text 34"/>
          <p:cNvSpPr/>
          <p:nvPr/>
        </p:nvSpPr>
        <p:spPr>
          <a:xfrm>
            <a:off x="539496" y="4690872"/>
            <a:ext cx="5230368" cy="804672"/>
          </a:xfrm>
          <a:prstGeom prst="rect">
            <a:avLst/>
          </a:prstGeom>
          <a:noFill/>
          <a:ln/>
        </p:spPr>
        <p:txBody>
          <a:bodyPr wrap="square" lIns="0" tIns="0" rIns="0" bIns="0" rtlCol="0" anchor="ctr">
            <a:normAutofit lnSpcReduction="10000"/>
          </a:bodyPr>
          <a:lstStyle/>
          <a:p>
            <a:pPr marL="0" indent="0">
              <a:buNone/>
            </a:pPr>
            <a:r>
              <a:rPr lang="en-US" sz="1425">
                <a:solidFill>
                  <a:srgbClr val="1C2B3A"/>
                </a:solidFill>
                <a:latin typeface="Calibri" pitchFamily="34" charset="0"/>
                <a:ea typeface="Calibri" pitchFamily="34" charset="-122"/>
                <a:cs typeface="Calibri" pitchFamily="34" charset="-120"/>
              </a:rPr>
              <a:t>Competitively rebid housekeeping, security and patient care aide contracts. Issue RFQ for top 5 service contracts and use competitive quotes to renegotiate rates. Current contracts 2–3 years old with automatic escalations.</a:t>
            </a:r>
            <a:endParaRPr lang="en-US" sz="1425"/>
          </a:p>
        </p:txBody>
      </p:sp>
      <p:sp>
        <p:nvSpPr>
          <p:cNvPr id="37" name="Text 35"/>
          <p:cNvSpPr/>
          <p:nvPr/>
        </p:nvSpPr>
        <p:spPr>
          <a:xfrm>
            <a:off x="539496" y="553212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38" name="Text 36"/>
          <p:cNvSpPr/>
          <p:nvPr/>
        </p:nvSpPr>
        <p:spPr>
          <a:xfrm>
            <a:off x="539496" y="5687568"/>
            <a:ext cx="5230368" cy="530352"/>
          </a:xfrm>
          <a:prstGeom prst="rect">
            <a:avLst/>
          </a:prstGeom>
          <a:noFill/>
          <a:ln/>
        </p:spPr>
        <p:txBody>
          <a:bodyPr wrap="square" lIns="0" tIns="0" rIns="0" bIns="0" rtlCol="0" anchor="ctr">
            <a:normAutofit/>
          </a:bodyPr>
          <a:lstStyle/>
          <a:p>
            <a:pPr marL="0" indent="0">
              <a:buNone/>
            </a:pPr>
            <a:r>
              <a:rPr lang="en-US" sz="1350">
                <a:solidFill>
                  <a:srgbClr val="1C2B3A"/>
                </a:solidFill>
                <a:latin typeface="Calibri" pitchFamily="34" charset="0"/>
                <a:ea typeface="Calibri" pitchFamily="34" charset="-122"/>
                <a:cs typeface="Calibri" pitchFamily="34" charset="-120"/>
              </a:rPr>
              <a:t>₹38L from 5–8% cost reduction on ₹4.5–5 Cr total contract staff spend. Most vendors will negotiate to retain the contract.</a:t>
            </a:r>
            <a:endParaRPr lang="en-US" sz="1350"/>
          </a:p>
        </p:txBody>
      </p:sp>
      <p:sp>
        <p:nvSpPr>
          <p:cNvPr id="39" name="Text 37"/>
          <p:cNvSpPr/>
          <p:nvPr/>
        </p:nvSpPr>
        <p:spPr>
          <a:xfrm>
            <a:off x="539496" y="6254496"/>
            <a:ext cx="5230368" cy="256032"/>
          </a:xfrm>
          <a:prstGeom prst="rect">
            <a:avLst/>
          </a:prstGeom>
          <a:noFill/>
          <a:ln/>
        </p:spPr>
        <p:txBody>
          <a:bodyPr wrap="square" lIns="0" tIns="0" rIns="0" bIns="0" rtlCol="0" anchor="ctr">
            <a:normAutofit fontScale="85000" lnSpcReduction="20000"/>
          </a:bodyPr>
          <a:lstStyle/>
          <a:p>
            <a:pPr marL="0" indent="0">
              <a:buNone/>
            </a:pPr>
            <a:r>
              <a:rPr lang="en-US" sz="1200" i="1">
                <a:solidFill>
                  <a:srgbClr val="5A7A96"/>
                </a:solidFill>
                <a:latin typeface="Calibri" pitchFamily="34" charset="0"/>
                <a:ea typeface="Calibri" pitchFamily="34" charset="-122"/>
                <a:cs typeface="Calibri" pitchFamily="34" charset="-120"/>
              </a:rPr>
              <a:t>Owner: HR / Facilities / CFO  ·  Risk: Service quality continuity during transition; minimum wage increases erode savings over time</a:t>
            </a:r>
            <a:endParaRPr lang="en-US" sz="1200"/>
          </a:p>
        </p:txBody>
      </p:sp>
      <p:sp>
        <p:nvSpPr>
          <p:cNvPr id="40" name="Shape 38"/>
          <p:cNvSpPr/>
          <p:nvPr/>
        </p:nvSpPr>
        <p:spPr>
          <a:xfrm>
            <a:off x="6126480" y="3767328"/>
            <a:ext cx="5486400" cy="278892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41" name="Shape 39"/>
          <p:cNvSpPr/>
          <p:nvPr/>
        </p:nvSpPr>
        <p:spPr>
          <a:xfrm>
            <a:off x="6126480" y="3767328"/>
            <a:ext cx="5486400" cy="438912"/>
          </a:xfrm>
          <a:prstGeom prst="rect">
            <a:avLst/>
          </a:prstGeom>
          <a:solidFill>
            <a:srgbClr val="1A8C5B"/>
          </a:solidFill>
          <a:ln w="12700">
            <a:solidFill>
              <a:srgbClr val="1A8C5B"/>
            </a:solidFill>
            <a:prstDash val="solid"/>
          </a:ln>
        </p:spPr>
        <p:txBody>
          <a:bodyPr>
            <a:normAutofit/>
          </a:bodyPr>
          <a:lstStyle/>
          <a:p>
            <a:endParaRPr lang="en-IN"/>
          </a:p>
        </p:txBody>
      </p:sp>
      <p:sp>
        <p:nvSpPr>
          <p:cNvPr id="42" name="Text 40"/>
          <p:cNvSpPr/>
          <p:nvPr/>
        </p:nvSpPr>
        <p:spPr>
          <a:xfrm>
            <a:off x="6254496" y="3822192"/>
            <a:ext cx="5029200" cy="329184"/>
          </a:xfrm>
          <a:prstGeom prst="rect">
            <a:avLst/>
          </a:prstGeom>
          <a:noFill/>
          <a:ln/>
        </p:spPr>
        <p:txBody>
          <a:bodyPr wrap="square" lIns="0" tIns="0" rIns="0" bIns="0" rtlCol="0" anchor="ctr">
            <a:normAutofit/>
          </a:bodyPr>
          <a:lstStyle/>
          <a:p>
            <a:pPr marL="0" indent="0">
              <a:buNone/>
            </a:pPr>
            <a:r>
              <a:rPr lang="en-US" sz="1650" b="1">
                <a:solidFill>
                  <a:srgbClr val="FFFFFF"/>
                </a:solidFill>
                <a:latin typeface="Calibri" pitchFamily="34" charset="0"/>
                <a:ea typeface="Calibri" pitchFamily="34" charset="-122"/>
                <a:cs typeface="Calibri" pitchFamily="34" charset="-120"/>
              </a:rPr>
              <a:t>C-13  ·  Expense Analysis &amp; Discipline</a:t>
            </a:r>
            <a:endParaRPr lang="en-US" sz="1650"/>
          </a:p>
        </p:txBody>
      </p:sp>
      <p:sp>
        <p:nvSpPr>
          <p:cNvPr id="43" name="Shape 41"/>
          <p:cNvSpPr/>
          <p:nvPr/>
        </p:nvSpPr>
        <p:spPr>
          <a:xfrm>
            <a:off x="6126480" y="4206240"/>
            <a:ext cx="5486400" cy="274320"/>
          </a:xfrm>
          <a:prstGeom prst="rect">
            <a:avLst/>
          </a:prstGeom>
          <a:solidFill>
            <a:srgbClr val="E8F5EE"/>
          </a:solidFill>
          <a:ln w="3810">
            <a:solidFill>
              <a:srgbClr val="C5E3D0"/>
            </a:solidFill>
            <a:prstDash val="solid"/>
          </a:ln>
        </p:spPr>
        <p:txBody>
          <a:bodyPr>
            <a:normAutofit fontScale="77500" lnSpcReduction="20000"/>
          </a:bodyPr>
          <a:lstStyle/>
          <a:p>
            <a:endParaRPr lang="en-IN"/>
          </a:p>
        </p:txBody>
      </p:sp>
      <p:sp>
        <p:nvSpPr>
          <p:cNvPr id="44" name="Text 42"/>
          <p:cNvSpPr/>
          <p:nvPr/>
        </p:nvSpPr>
        <p:spPr>
          <a:xfrm>
            <a:off x="6254496" y="4233672"/>
            <a:ext cx="3474720" cy="219456"/>
          </a:xfrm>
          <a:prstGeom prst="rect">
            <a:avLst/>
          </a:prstGeom>
          <a:noFill/>
          <a:ln/>
        </p:spPr>
        <p:txBody>
          <a:bodyPr wrap="square" lIns="0" tIns="0" rIns="0" bIns="0" rtlCol="0" anchor="ctr">
            <a:normAutofit/>
          </a:bodyPr>
          <a:lstStyle/>
          <a:p>
            <a:pPr marL="0" indent="0">
              <a:buNone/>
            </a:pPr>
            <a:r>
              <a:rPr lang="en-US" sz="1275">
                <a:solidFill>
                  <a:srgbClr val="5A7A96"/>
                </a:solidFill>
                <a:latin typeface="Calibri" pitchFamily="34" charset="0"/>
                <a:ea typeface="Calibri" pitchFamily="34" charset="-122"/>
                <a:cs typeface="Calibri" pitchFamily="34" charset="-120"/>
              </a:rPr>
              <a:t>Miscellaneous  ·  Apr-26  ·  Nil cost</a:t>
            </a:r>
            <a:endParaRPr lang="en-US" sz="1275"/>
          </a:p>
        </p:txBody>
      </p:sp>
      <p:sp>
        <p:nvSpPr>
          <p:cNvPr id="45" name="Text 43"/>
          <p:cNvSpPr/>
          <p:nvPr/>
        </p:nvSpPr>
        <p:spPr>
          <a:xfrm>
            <a:off x="9692640" y="4224528"/>
            <a:ext cx="1783080" cy="237744"/>
          </a:xfrm>
          <a:prstGeom prst="rect">
            <a:avLst/>
          </a:prstGeom>
          <a:noFill/>
          <a:ln/>
        </p:spPr>
        <p:txBody>
          <a:bodyPr wrap="square" lIns="0" tIns="0" rIns="0" bIns="0" rtlCol="0" anchor="ctr">
            <a:normAutofit/>
          </a:bodyPr>
          <a:lstStyle/>
          <a:p>
            <a:pPr marL="0" indent="0" algn="r">
              <a:buNone/>
            </a:pPr>
            <a:r>
              <a:rPr lang="en-US" sz="1500" b="1">
                <a:solidFill>
                  <a:srgbClr val="1A8C5B"/>
                </a:solidFill>
                <a:latin typeface="Calibri" pitchFamily="34" charset="0"/>
                <a:ea typeface="Calibri" pitchFamily="34" charset="-122"/>
                <a:cs typeface="Calibri" pitchFamily="34" charset="-120"/>
              </a:rPr>
              <a:t>₹0.15 Cr</a:t>
            </a:r>
            <a:endParaRPr lang="en-US" sz="1500"/>
          </a:p>
        </p:txBody>
      </p:sp>
      <p:sp>
        <p:nvSpPr>
          <p:cNvPr id="46" name="Text 44"/>
          <p:cNvSpPr/>
          <p:nvPr/>
        </p:nvSpPr>
        <p:spPr>
          <a:xfrm>
            <a:off x="6254496" y="4535424"/>
            <a:ext cx="137160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OBJECTIVE</a:t>
            </a:r>
            <a:endParaRPr lang="en-US" sz="1125"/>
          </a:p>
        </p:txBody>
      </p:sp>
      <p:sp>
        <p:nvSpPr>
          <p:cNvPr id="47" name="Text 45"/>
          <p:cNvSpPr/>
          <p:nvPr/>
        </p:nvSpPr>
        <p:spPr>
          <a:xfrm>
            <a:off x="6254496" y="4690872"/>
            <a:ext cx="5230368" cy="804672"/>
          </a:xfrm>
          <a:prstGeom prst="rect">
            <a:avLst/>
          </a:prstGeom>
          <a:noFill/>
          <a:ln/>
        </p:spPr>
        <p:txBody>
          <a:bodyPr wrap="square" lIns="0" tIns="0" rIns="0" bIns="0" rtlCol="0" anchor="ctr">
            <a:normAutofit lnSpcReduction="10000"/>
          </a:bodyPr>
          <a:lstStyle/>
          <a:p>
            <a:pPr marL="0" indent="0">
              <a:buNone/>
            </a:pPr>
            <a:r>
              <a:rPr lang="en-US" sz="1425">
                <a:solidFill>
                  <a:srgbClr val="1C2B3A"/>
                </a:solidFill>
                <a:latin typeface="Calibri" pitchFamily="34" charset="0"/>
                <a:ea typeface="Calibri" pitchFamily="34" charset="-122"/>
                <a:cs typeface="Calibri" pitchFamily="34" charset="-120"/>
              </a:rPr>
              <a:t>Monthly department-wise review of discretionary spend — travel, printing, communication, stationery. Publish department rankings. Introduce approval thresholds above ₹10,000 per item for non-clinical discretionary expenditure.</a:t>
            </a:r>
            <a:endParaRPr lang="en-US" sz="1425"/>
          </a:p>
        </p:txBody>
      </p:sp>
      <p:sp>
        <p:nvSpPr>
          <p:cNvPr id="48" name="Text 46"/>
          <p:cNvSpPr/>
          <p:nvPr/>
        </p:nvSpPr>
        <p:spPr>
          <a:xfrm>
            <a:off x="6254496" y="5532120"/>
            <a:ext cx="1645920" cy="182880"/>
          </a:xfrm>
          <a:prstGeom prst="rect">
            <a:avLst/>
          </a:prstGeom>
          <a:noFill/>
          <a:ln/>
        </p:spPr>
        <p:txBody>
          <a:bodyPr wrap="square" lIns="0" tIns="0" rIns="0" bIns="0" rtlCol="0" anchor="ctr">
            <a:normAutofit/>
          </a:bodyPr>
          <a:lstStyle/>
          <a:p>
            <a:pPr marL="0" indent="0">
              <a:buNone/>
            </a:pPr>
            <a:r>
              <a:rPr lang="en-US" sz="1125" b="1" kern="0" spc="100">
                <a:solidFill>
                  <a:srgbClr val="1A8C5B"/>
                </a:solidFill>
                <a:latin typeface="Calibri" pitchFamily="34" charset="0"/>
                <a:ea typeface="Calibri" pitchFamily="34" charset="-122"/>
                <a:cs typeface="Calibri" pitchFamily="34" charset="-120"/>
              </a:rPr>
              <a:t>BASIS &amp; SAVING</a:t>
            </a:r>
            <a:endParaRPr lang="en-US" sz="1125"/>
          </a:p>
        </p:txBody>
      </p:sp>
      <p:sp>
        <p:nvSpPr>
          <p:cNvPr id="49" name="Text 47"/>
          <p:cNvSpPr/>
          <p:nvPr/>
        </p:nvSpPr>
        <p:spPr>
          <a:xfrm>
            <a:off x="6254496" y="5687568"/>
            <a:ext cx="5230368" cy="530352"/>
          </a:xfrm>
          <a:prstGeom prst="rect">
            <a:avLst/>
          </a:prstGeom>
          <a:noFill/>
          <a:ln/>
        </p:spPr>
        <p:txBody>
          <a:bodyPr wrap="square" lIns="0" tIns="0" rIns="0" bIns="0" rtlCol="0" anchor="ctr">
            <a:normAutofit fontScale="92500"/>
          </a:bodyPr>
          <a:lstStyle/>
          <a:p>
            <a:pPr marL="0" indent="0">
              <a:buNone/>
            </a:pPr>
            <a:r>
              <a:rPr lang="en-US" sz="1350">
                <a:solidFill>
                  <a:srgbClr val="1C2B3A"/>
                </a:solidFill>
                <a:latin typeface="Calibri" pitchFamily="34" charset="0"/>
                <a:ea typeface="Calibri" pitchFamily="34" charset="-122"/>
                <a:cs typeface="Calibri" pitchFamily="34" charset="-120"/>
              </a:rPr>
              <a:t>₹15L from 10% reduction across ₹1.5 Cr discretionary spend through visibility and approval discipline. Signals cost culture to the organisation beyond the direct saving.</a:t>
            </a:r>
            <a:endParaRPr lang="en-US" sz="1350"/>
          </a:p>
        </p:txBody>
      </p:sp>
      <p:sp>
        <p:nvSpPr>
          <p:cNvPr id="50" name="Text 48"/>
          <p:cNvSpPr/>
          <p:nvPr/>
        </p:nvSpPr>
        <p:spPr>
          <a:xfrm>
            <a:off x="6254496" y="6254496"/>
            <a:ext cx="5230368" cy="256032"/>
          </a:xfrm>
          <a:prstGeom prst="rect">
            <a:avLst/>
          </a:prstGeom>
          <a:noFill/>
          <a:ln/>
        </p:spPr>
        <p:txBody>
          <a:bodyPr wrap="square" lIns="0" tIns="0" rIns="0" bIns="0" rtlCol="0" anchor="ctr">
            <a:normAutofit fontScale="85000" lnSpcReduction="20000"/>
          </a:bodyPr>
          <a:lstStyle/>
          <a:p>
            <a:pPr marL="0" indent="0">
              <a:buNone/>
            </a:pPr>
            <a:r>
              <a:rPr lang="en-US" sz="1200" i="1">
                <a:solidFill>
                  <a:srgbClr val="5A7A96"/>
                </a:solidFill>
                <a:latin typeface="Calibri" pitchFamily="34" charset="0"/>
                <a:ea typeface="Calibri" pitchFamily="34" charset="-122"/>
                <a:cs typeface="Calibri" pitchFamily="34" charset="-120"/>
              </a:rPr>
              <a:t>Owner: CFO / Department Heads  ·  Risk: Approval bottlenecks; negligible ROI if not enforced consistently by finance</a:t>
            </a:r>
            <a:endParaRPr lang="en-US" sz="1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BE1558"/>
          </a:solidFill>
          <a:ln w="12700">
            <a:solidFill>
              <a:srgbClr val="BE1558"/>
            </a:solidFill>
            <a:prstDash val="solid"/>
          </a:ln>
        </p:spPr>
        <p:txBody>
          <a:bodyPr>
            <a:normAutofit/>
          </a:bodyPr>
          <a:lstStyle/>
          <a:p>
            <a:endParaRPr lang="en-IN"/>
          </a:p>
        </p:txBody>
      </p:sp>
      <p:sp>
        <p:nvSpPr>
          <p:cNvPr id="3" name="Shape 1"/>
          <p:cNvSpPr/>
          <p:nvPr/>
        </p:nvSpPr>
        <p:spPr>
          <a:xfrm>
            <a:off x="8961120" y="0"/>
            <a:ext cx="3200400" cy="6858000"/>
          </a:xfrm>
          <a:prstGeom prst="rect">
            <a:avLst/>
          </a:prstGeom>
          <a:solidFill>
            <a:srgbClr val="162433"/>
          </a:solidFill>
          <a:ln w="12700">
            <a:solidFill>
              <a:srgbClr val="162433"/>
            </a:solidFill>
            <a:prstDash val="solid"/>
          </a:ln>
        </p:spPr>
        <p:txBody>
          <a:bodyPr>
            <a:normAutofit/>
          </a:bodyPr>
          <a:lstStyle/>
          <a:p>
            <a:endParaRPr lang="en-IN"/>
          </a:p>
        </p:txBody>
      </p:sp>
      <p:sp>
        <p:nvSpPr>
          <p:cNvPr id="4" name="Shape 2"/>
          <p:cNvSpPr/>
          <p:nvPr/>
        </p:nvSpPr>
        <p:spPr>
          <a:xfrm>
            <a:off x="8961120" y="859536"/>
            <a:ext cx="3200400" cy="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5" name="Shape 3"/>
          <p:cNvSpPr/>
          <p:nvPr/>
        </p:nvSpPr>
        <p:spPr>
          <a:xfrm>
            <a:off x="8961120" y="1719072"/>
            <a:ext cx="3200400" cy="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6" name="Shape 4"/>
          <p:cNvSpPr/>
          <p:nvPr/>
        </p:nvSpPr>
        <p:spPr>
          <a:xfrm>
            <a:off x="8961120" y="2578608"/>
            <a:ext cx="3200400" cy="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7" name="Shape 5"/>
          <p:cNvSpPr/>
          <p:nvPr/>
        </p:nvSpPr>
        <p:spPr>
          <a:xfrm>
            <a:off x="8961120" y="3438144"/>
            <a:ext cx="3200400" cy="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8" name="Shape 6"/>
          <p:cNvSpPr/>
          <p:nvPr/>
        </p:nvSpPr>
        <p:spPr>
          <a:xfrm>
            <a:off x="8961120" y="4297680"/>
            <a:ext cx="3200400" cy="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9" name="Shape 7"/>
          <p:cNvSpPr/>
          <p:nvPr/>
        </p:nvSpPr>
        <p:spPr>
          <a:xfrm>
            <a:off x="8961120" y="5157216"/>
            <a:ext cx="3200400" cy="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0" name="Shape 8"/>
          <p:cNvSpPr/>
          <p:nvPr/>
        </p:nvSpPr>
        <p:spPr>
          <a:xfrm>
            <a:off x="8961120" y="6016752"/>
            <a:ext cx="3200400" cy="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1" name="Shape 9"/>
          <p:cNvSpPr/>
          <p:nvPr/>
        </p:nvSpPr>
        <p:spPr>
          <a:xfrm>
            <a:off x="8961120"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2" name="Shape 10"/>
          <p:cNvSpPr/>
          <p:nvPr/>
        </p:nvSpPr>
        <p:spPr>
          <a:xfrm>
            <a:off x="9756648"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3" name="Shape 11"/>
          <p:cNvSpPr/>
          <p:nvPr/>
        </p:nvSpPr>
        <p:spPr>
          <a:xfrm>
            <a:off x="10552176"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4" name="Shape 12"/>
          <p:cNvSpPr/>
          <p:nvPr/>
        </p:nvSpPr>
        <p:spPr>
          <a:xfrm>
            <a:off x="11347704"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5" name="Shape 13"/>
          <p:cNvSpPr/>
          <p:nvPr/>
        </p:nvSpPr>
        <p:spPr>
          <a:xfrm>
            <a:off x="12143232"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6" name="Text 14"/>
          <p:cNvSpPr/>
          <p:nvPr/>
        </p:nvSpPr>
        <p:spPr>
          <a:xfrm>
            <a:off x="9052560" y="3017520"/>
            <a:ext cx="2926080" cy="822960"/>
          </a:xfrm>
          <a:prstGeom prst="rect">
            <a:avLst/>
          </a:prstGeom>
          <a:noFill/>
          <a:ln/>
        </p:spPr>
        <p:txBody>
          <a:bodyPr wrap="square" lIns="0" tIns="0" rIns="0" bIns="0" rtlCol="0" anchor="ctr">
            <a:normAutofit/>
          </a:bodyPr>
          <a:lstStyle/>
          <a:p>
            <a:pPr marL="0" indent="0" algn="ctr">
              <a:lnSpc>
                <a:spcPct val="130000"/>
              </a:lnSpc>
              <a:buNone/>
            </a:pPr>
            <a:r>
              <a:rPr lang="en-US" sz="1500" b="1">
                <a:solidFill>
                  <a:srgbClr val="A0BBCC"/>
                </a:solidFill>
                <a:latin typeface="Calibri" pitchFamily="34" charset="0"/>
                <a:ea typeface="Calibri" pitchFamily="34" charset="-122"/>
                <a:cs typeface="Calibri" pitchFamily="34" charset="-120"/>
              </a:rPr>
              <a:t>VPS LAKESHORE</a:t>
            </a:r>
            <a:endParaRPr lang="en-US" sz="1500"/>
          </a:p>
          <a:p>
            <a:pPr marL="0" indent="0" algn="ctr">
              <a:lnSpc>
                <a:spcPct val="130000"/>
              </a:lnSpc>
              <a:buNone/>
            </a:pPr>
            <a:r>
              <a:rPr lang="en-US" sz="1500" b="1">
                <a:solidFill>
                  <a:srgbClr val="A0BBCC"/>
                </a:solidFill>
                <a:latin typeface="Calibri" pitchFamily="34" charset="0"/>
                <a:ea typeface="Calibri" pitchFamily="34" charset="-122"/>
                <a:cs typeface="Calibri" pitchFamily="34" charset="-120"/>
              </a:rPr>
              <a:t>HOSPITAL · KOCHI</a:t>
            </a:r>
            <a:endParaRPr lang="en-US" sz="1500"/>
          </a:p>
        </p:txBody>
      </p:sp>
      <p:sp>
        <p:nvSpPr>
          <p:cNvPr id="17" name="Text 15"/>
          <p:cNvSpPr/>
          <p:nvPr/>
        </p:nvSpPr>
        <p:spPr>
          <a:xfrm>
            <a:off x="777240" y="1874520"/>
            <a:ext cx="6400800" cy="320040"/>
          </a:xfrm>
          <a:prstGeom prst="rect">
            <a:avLst/>
          </a:prstGeom>
          <a:noFill/>
          <a:ln/>
        </p:spPr>
        <p:txBody>
          <a:bodyPr wrap="square" lIns="0" tIns="0" rIns="0" bIns="0" rtlCol="0" anchor="ctr">
            <a:normAutofit/>
          </a:bodyPr>
          <a:lstStyle/>
          <a:p>
            <a:pPr marL="0" indent="0">
              <a:buNone/>
            </a:pPr>
            <a:r>
              <a:rPr lang="en-US" sz="1350" b="1" kern="0" spc="500">
                <a:solidFill>
                  <a:srgbClr val="BE1558"/>
                </a:solidFill>
                <a:latin typeface="Calibri" pitchFamily="34" charset="0"/>
                <a:ea typeface="Calibri" pitchFamily="34" charset="-122"/>
                <a:cs typeface="Calibri" pitchFamily="34" charset="-120"/>
              </a:rPr>
              <a:t>SECTION</a:t>
            </a:r>
            <a:endParaRPr lang="en-US" sz="1350"/>
          </a:p>
        </p:txBody>
      </p:sp>
      <p:sp>
        <p:nvSpPr>
          <p:cNvPr id="18" name="Text 16"/>
          <p:cNvSpPr/>
          <p:nvPr/>
        </p:nvSpPr>
        <p:spPr>
          <a:xfrm>
            <a:off x="777240" y="2212848"/>
            <a:ext cx="7955280" cy="1463040"/>
          </a:xfrm>
          <a:prstGeom prst="rect">
            <a:avLst/>
          </a:prstGeom>
          <a:noFill/>
          <a:ln/>
        </p:spPr>
        <p:txBody>
          <a:bodyPr wrap="square" lIns="0" tIns="0" rIns="0" bIns="0" rtlCol="0" anchor="ctr">
            <a:normAutofit/>
          </a:bodyPr>
          <a:lstStyle/>
          <a:p>
            <a:pPr marL="0" indent="0">
              <a:lnSpc>
                <a:spcPct val="100000"/>
              </a:lnSpc>
              <a:buNone/>
            </a:pPr>
            <a:r>
              <a:rPr lang="en-US" sz="4400" b="1" dirty="0">
                <a:solidFill>
                  <a:srgbClr val="FFFFFF"/>
                </a:solidFill>
                <a:latin typeface="Calibri" pitchFamily="34" charset="0"/>
                <a:ea typeface="Calibri" pitchFamily="34" charset="-122"/>
                <a:cs typeface="Calibri" pitchFamily="34" charset="-120"/>
              </a:rPr>
              <a:t>Clinical</a:t>
            </a:r>
            <a:endParaRPr lang="en-US" sz="4400" dirty="0"/>
          </a:p>
          <a:p>
            <a:pPr marL="0" indent="0">
              <a:lnSpc>
                <a:spcPct val="100000"/>
              </a:lnSpc>
              <a:buNone/>
            </a:pPr>
            <a:r>
              <a:rPr lang="en-US" sz="4400" b="1" dirty="0">
                <a:solidFill>
                  <a:srgbClr val="FFFFFF"/>
                </a:solidFill>
                <a:latin typeface="Calibri" pitchFamily="34" charset="0"/>
                <a:ea typeface="Calibri" pitchFamily="34" charset="-122"/>
                <a:cs typeface="Calibri" pitchFamily="34" charset="-120"/>
              </a:rPr>
              <a:t>Leadership</a:t>
            </a:r>
            <a:endParaRPr lang="en-US" sz="4400" dirty="0"/>
          </a:p>
        </p:txBody>
      </p:sp>
      <p:sp>
        <p:nvSpPr>
          <p:cNvPr id="19" name="Shape 17"/>
          <p:cNvSpPr/>
          <p:nvPr/>
        </p:nvSpPr>
        <p:spPr>
          <a:xfrm>
            <a:off x="777240" y="3730752"/>
            <a:ext cx="4389120" cy="0"/>
          </a:xfrm>
          <a:prstGeom prst="line">
            <a:avLst/>
          </a:prstGeom>
          <a:noFill/>
          <a:ln w="19050">
            <a:solidFill>
              <a:srgbClr val="BE1558"/>
            </a:solidFill>
            <a:prstDash val="solid"/>
          </a:ln>
        </p:spPr>
        <p:txBody>
          <a:bodyPr>
            <a:normAutofit fontScale="25000" lnSpcReduction="20000"/>
          </a:bodyPr>
          <a:lstStyle/>
          <a:p>
            <a:endParaRPr lang="en-IN"/>
          </a:p>
        </p:txBody>
      </p:sp>
      <p:sp>
        <p:nvSpPr>
          <p:cNvPr id="20" name="Text 18"/>
          <p:cNvSpPr/>
          <p:nvPr/>
        </p:nvSpPr>
        <p:spPr>
          <a:xfrm>
            <a:off x="777240" y="3913632"/>
            <a:ext cx="7955280" cy="365760"/>
          </a:xfrm>
          <a:prstGeom prst="rect">
            <a:avLst/>
          </a:prstGeom>
          <a:noFill/>
          <a:ln/>
        </p:spPr>
        <p:txBody>
          <a:bodyPr wrap="square" lIns="0" tIns="0" rIns="0" bIns="0" rtlCol="0" anchor="ctr">
            <a:normAutofit/>
          </a:bodyPr>
          <a:lstStyle/>
          <a:p>
            <a:pPr marL="0" indent="0">
              <a:buNone/>
            </a:pPr>
            <a:r>
              <a:rPr lang="en-US" sz="1650">
                <a:solidFill>
                  <a:srgbClr val="A0BBCC"/>
                </a:solidFill>
                <a:latin typeface="Calibri" pitchFamily="34" charset="0"/>
                <a:ea typeface="Calibri" pitchFamily="34" charset="-122"/>
                <a:cs typeface="Calibri" pitchFamily="34" charset="-120"/>
              </a:rPr>
              <a:t>Excellence Programme · Academic Output · Patient Quality</a:t>
            </a:r>
            <a:endParaRPr lang="en-US" sz="165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
          </a:xfrm>
          <a:prstGeom prst="rect">
            <a:avLst/>
          </a:prstGeom>
          <a:solidFill>
            <a:srgbClr val="2E7AB6"/>
          </a:solidFill>
          <a:ln w="12700">
            <a:solidFill>
              <a:srgbClr val="2E7AB6"/>
            </a:solidFill>
            <a:prstDash val="solid"/>
          </a:ln>
        </p:spPr>
        <p:txBody>
          <a:bodyPr>
            <a:normAutofit fontScale="25000" lnSpcReduction="20000"/>
          </a:bodyPr>
          <a:lstStyle/>
          <a:p>
            <a:endParaRPr lang="en-IN"/>
          </a:p>
        </p:txBody>
      </p:sp>
      <p:sp>
        <p:nvSpPr>
          <p:cNvPr id="3" name="Text 1"/>
          <p:cNvSpPr/>
          <p:nvPr/>
        </p:nvSpPr>
        <p:spPr>
          <a:xfrm>
            <a:off x="411480" y="137160"/>
            <a:ext cx="8686800" cy="347472"/>
          </a:xfrm>
          <a:prstGeom prst="rect">
            <a:avLst/>
          </a:prstGeom>
          <a:noFill/>
          <a:ln/>
        </p:spPr>
        <p:txBody>
          <a:bodyPr wrap="square" lIns="0" tIns="0" rIns="0" bIns="0" rtlCol="0" anchor="ctr">
            <a:normAutofit/>
          </a:bodyPr>
          <a:lstStyle/>
          <a:p>
            <a:pPr marL="0" indent="0">
              <a:buNone/>
            </a:pPr>
            <a:r>
              <a:rPr lang="en-US" sz="1750" b="1" kern="0" spc="150">
                <a:solidFill>
                  <a:srgbClr val="1C2B3A"/>
                </a:solidFill>
                <a:latin typeface="Calibri" pitchFamily="34" charset="0"/>
                <a:ea typeface="Calibri" pitchFamily="34" charset="-122"/>
                <a:cs typeface="Calibri" pitchFamily="34" charset="-120"/>
              </a:rPr>
              <a:t>CLINICAL LEADERSHIP PLAN — FY27</a:t>
            </a:r>
            <a:endParaRPr lang="en-US" sz="1750"/>
          </a:p>
        </p:txBody>
      </p:sp>
      <p:sp>
        <p:nvSpPr>
          <p:cNvPr id="4" name="Text 2"/>
          <p:cNvSpPr/>
          <p:nvPr/>
        </p:nvSpPr>
        <p:spPr>
          <a:xfrm>
            <a:off x="411480" y="457200"/>
            <a:ext cx="9144000" cy="219456"/>
          </a:xfrm>
          <a:prstGeom prst="rect">
            <a:avLst/>
          </a:prstGeom>
          <a:noFill/>
          <a:ln/>
        </p:spPr>
        <p:txBody>
          <a:bodyPr wrap="square" lIns="0" tIns="0" rIns="0" bIns="0" rtlCol="0" anchor="ctr">
            <a:normAutofit/>
          </a:bodyPr>
          <a:lstStyle/>
          <a:p>
            <a:pPr marL="0" indent="0">
              <a:buNone/>
            </a:pPr>
            <a:r>
              <a:rPr lang="en-US" sz="1125" i="1">
                <a:solidFill>
                  <a:srgbClr val="5A7A96"/>
                </a:solidFill>
                <a:latin typeface="Calibri" pitchFamily="34" charset="0"/>
                <a:ea typeface="Calibri" pitchFamily="34" charset="-122"/>
                <a:cs typeface="Calibri" pitchFamily="34" charset="-120"/>
              </a:rPr>
              <a:t>Five Excellence Workstreams  ·  Reputational Capital  ·  Referral Quality</a:t>
            </a:r>
            <a:endParaRPr lang="en-US" sz="1125"/>
          </a:p>
        </p:txBody>
      </p:sp>
      <p:sp>
        <p:nvSpPr>
          <p:cNvPr id="5" name="Text 3"/>
          <p:cNvSpPr/>
          <p:nvPr/>
        </p:nvSpPr>
        <p:spPr>
          <a:xfrm>
            <a:off x="8686800" y="137160"/>
            <a:ext cx="3291840" cy="502920"/>
          </a:xfrm>
          <a:prstGeom prst="rect">
            <a:avLst/>
          </a:prstGeom>
          <a:noFill/>
          <a:ln/>
        </p:spPr>
        <p:txBody>
          <a:bodyPr wrap="square" lIns="0" tIns="0" rIns="0" bIns="0" rtlCol="0" anchor="ctr">
            <a:normAutofit/>
          </a:bodyPr>
          <a:lstStyle/>
          <a:p>
            <a:pPr marL="0" indent="0" algn="r">
              <a:buNone/>
            </a:pPr>
            <a:r>
              <a:rPr lang="en-US" sz="1000" b="1">
                <a:solidFill>
                  <a:srgbClr val="2E7AB6"/>
                </a:solidFill>
                <a:latin typeface="Calibri" pitchFamily="34" charset="0"/>
                <a:ea typeface="Calibri" pitchFamily="34" charset="-122"/>
                <a:cs typeface="Calibri" pitchFamily="34" charset="-120"/>
              </a:rPr>
              <a:t>VPS LAKESHORE  ·  AOP FY 2026–27</a:t>
            </a:r>
            <a:endParaRPr lang="en-US" sz="1000"/>
          </a:p>
        </p:txBody>
      </p:sp>
      <p:sp>
        <p:nvSpPr>
          <p:cNvPr id="6" name="Shape 4"/>
          <p:cNvSpPr/>
          <p:nvPr/>
        </p:nvSpPr>
        <p:spPr>
          <a:xfrm>
            <a:off x="411480" y="704088"/>
            <a:ext cx="11338560" cy="0"/>
          </a:xfrm>
          <a:prstGeom prst="line">
            <a:avLst/>
          </a:prstGeom>
          <a:noFill/>
          <a:ln w="9525">
            <a:solidFill>
              <a:srgbClr val="C8D9EE"/>
            </a:solidFill>
            <a:prstDash val="solid"/>
          </a:ln>
        </p:spPr>
        <p:txBody>
          <a:bodyPr>
            <a:normAutofit fontScale="25000" lnSpcReduction="20000"/>
          </a:bodyPr>
          <a:lstStyle/>
          <a:p>
            <a:endParaRPr lang="en-IN"/>
          </a:p>
        </p:txBody>
      </p:sp>
      <p:sp>
        <p:nvSpPr>
          <p:cNvPr id="7" name="Shape 5"/>
          <p:cNvSpPr/>
          <p:nvPr/>
        </p:nvSpPr>
        <p:spPr>
          <a:xfrm>
            <a:off x="411480" y="841248"/>
            <a:ext cx="11338560" cy="896112"/>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8" name="Shape 6"/>
          <p:cNvSpPr/>
          <p:nvPr/>
        </p:nvSpPr>
        <p:spPr>
          <a:xfrm>
            <a:off x="411480" y="841248"/>
            <a:ext cx="54864" cy="896112"/>
          </a:xfrm>
          <a:prstGeom prst="rect">
            <a:avLst/>
          </a:prstGeom>
          <a:solidFill>
            <a:srgbClr val="BE1558"/>
          </a:solidFill>
          <a:ln w="12700">
            <a:solidFill>
              <a:srgbClr val="BE1558"/>
            </a:solidFill>
            <a:prstDash val="solid"/>
          </a:ln>
        </p:spPr>
        <p:txBody>
          <a:bodyPr>
            <a:normAutofit/>
          </a:bodyPr>
          <a:lstStyle/>
          <a:p>
            <a:endParaRPr lang="en-IN"/>
          </a:p>
        </p:txBody>
      </p:sp>
      <p:sp>
        <p:nvSpPr>
          <p:cNvPr id="9" name="Text 7"/>
          <p:cNvSpPr/>
          <p:nvPr/>
        </p:nvSpPr>
        <p:spPr>
          <a:xfrm>
            <a:off x="566928" y="868680"/>
            <a:ext cx="2926080" cy="274320"/>
          </a:xfrm>
          <a:prstGeom prst="rect">
            <a:avLst/>
          </a:prstGeom>
          <a:noFill/>
          <a:ln/>
        </p:spPr>
        <p:txBody>
          <a:bodyPr wrap="square" lIns="0" tIns="0" rIns="0" bIns="0" rtlCol="0" anchor="ctr">
            <a:normAutofit/>
          </a:bodyPr>
          <a:lstStyle/>
          <a:p>
            <a:pPr marL="0" indent="0">
              <a:buNone/>
            </a:pPr>
            <a:r>
              <a:rPr lang="en-US" sz="1375" b="1">
                <a:solidFill>
                  <a:srgbClr val="BE1558"/>
                </a:solidFill>
                <a:latin typeface="Calibri" pitchFamily="34" charset="0"/>
                <a:ea typeface="Calibri" pitchFamily="34" charset="-122"/>
                <a:cs typeface="Calibri" pitchFamily="34" charset="-120"/>
              </a:rPr>
              <a:t>Executive Summary</a:t>
            </a:r>
            <a:endParaRPr lang="en-US" sz="1375"/>
          </a:p>
        </p:txBody>
      </p:sp>
      <p:sp>
        <p:nvSpPr>
          <p:cNvPr id="10" name="Text 8"/>
          <p:cNvSpPr/>
          <p:nvPr/>
        </p:nvSpPr>
        <p:spPr>
          <a:xfrm>
            <a:off x="566928" y="1124712"/>
            <a:ext cx="11018520" cy="548640"/>
          </a:xfrm>
          <a:prstGeom prst="rect">
            <a:avLst/>
          </a:prstGeom>
          <a:noFill/>
          <a:ln/>
        </p:spPr>
        <p:txBody>
          <a:bodyPr wrap="square" lIns="0" tIns="0" rIns="0" bIns="0" rtlCol="0" anchor="ctr">
            <a:normAutofit/>
          </a:bodyPr>
          <a:lstStyle/>
          <a:p>
            <a:pPr marL="0" indent="0">
              <a:buNone/>
            </a:pPr>
            <a:r>
              <a:rPr lang="en-US" sz="1175">
                <a:solidFill>
                  <a:srgbClr val="1C2B3A"/>
                </a:solidFill>
                <a:latin typeface="Calibri" pitchFamily="34" charset="0"/>
                <a:ea typeface="Calibri" pitchFamily="34" charset="-122"/>
                <a:cs typeface="Calibri" pitchFamily="34" charset="-120"/>
              </a:rPr>
              <a:t>These workstreams drive the three outcomes that compound into FY28–30 revenue: referral quality (academic reputation attracts tertiary cases), talent acquisition (clinicians choose hospitals that publish), and premium segment conversion (NABH credentials are the trust signal NRI and HNI patients evaluate). Execution takes 12–24 months — the investment must begin now.</a:t>
            </a:r>
            <a:endParaRPr lang="en-US" sz="1175"/>
          </a:p>
        </p:txBody>
      </p:sp>
      <p:sp>
        <p:nvSpPr>
          <p:cNvPr id="11" name="Shape 9"/>
          <p:cNvSpPr/>
          <p:nvPr/>
        </p:nvSpPr>
        <p:spPr>
          <a:xfrm>
            <a:off x="411480" y="1865376"/>
            <a:ext cx="5486400" cy="1709928"/>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12" name="Shape 10"/>
          <p:cNvSpPr/>
          <p:nvPr/>
        </p:nvSpPr>
        <p:spPr>
          <a:xfrm>
            <a:off x="411480" y="1865376"/>
            <a:ext cx="5486400" cy="54864"/>
          </a:xfrm>
          <a:prstGeom prst="rect">
            <a:avLst/>
          </a:prstGeom>
          <a:solidFill>
            <a:srgbClr val="BE1558"/>
          </a:solidFill>
          <a:ln w="12700">
            <a:solidFill>
              <a:srgbClr val="BE1558"/>
            </a:solidFill>
            <a:prstDash val="solid"/>
          </a:ln>
        </p:spPr>
        <p:txBody>
          <a:bodyPr>
            <a:normAutofit fontScale="25000" lnSpcReduction="20000"/>
          </a:bodyPr>
          <a:lstStyle/>
          <a:p>
            <a:endParaRPr lang="en-IN"/>
          </a:p>
        </p:txBody>
      </p:sp>
      <p:sp>
        <p:nvSpPr>
          <p:cNvPr id="13" name="Text 11"/>
          <p:cNvSpPr/>
          <p:nvPr/>
        </p:nvSpPr>
        <p:spPr>
          <a:xfrm>
            <a:off x="539496" y="1947672"/>
            <a:ext cx="640080" cy="347472"/>
          </a:xfrm>
          <a:prstGeom prst="rect">
            <a:avLst/>
          </a:prstGeom>
          <a:noFill/>
          <a:ln/>
        </p:spPr>
        <p:txBody>
          <a:bodyPr wrap="square" lIns="0" tIns="0" rIns="0" bIns="0" rtlCol="0" anchor="ctr">
            <a:normAutofit/>
          </a:bodyPr>
          <a:lstStyle/>
          <a:p>
            <a:pPr marL="0" indent="0">
              <a:buNone/>
            </a:pPr>
            <a:r>
              <a:rPr lang="en-US" sz="1375" b="1">
                <a:solidFill>
                  <a:srgbClr val="BE1558"/>
                </a:solidFill>
                <a:latin typeface="Calibri" pitchFamily="34" charset="0"/>
                <a:ea typeface="Calibri" pitchFamily="34" charset="-122"/>
                <a:cs typeface="Calibri" pitchFamily="34" charset="-120"/>
              </a:rPr>
              <a:t>CL-01</a:t>
            </a:r>
            <a:endParaRPr lang="en-US" sz="1375"/>
          </a:p>
        </p:txBody>
      </p:sp>
      <p:sp>
        <p:nvSpPr>
          <p:cNvPr id="14" name="Text 12"/>
          <p:cNvSpPr/>
          <p:nvPr/>
        </p:nvSpPr>
        <p:spPr>
          <a:xfrm>
            <a:off x="1216152" y="1956816"/>
            <a:ext cx="4572000" cy="329184"/>
          </a:xfrm>
          <a:prstGeom prst="rect">
            <a:avLst/>
          </a:prstGeom>
          <a:noFill/>
          <a:ln/>
        </p:spPr>
        <p:txBody>
          <a:bodyPr wrap="square" lIns="0" tIns="0" rIns="0" bIns="0" rtlCol="0" anchor="ctr">
            <a:normAutofit/>
          </a:bodyPr>
          <a:lstStyle/>
          <a:p>
            <a:pPr marL="0" indent="0">
              <a:buNone/>
            </a:pPr>
            <a:r>
              <a:rPr lang="en-US" sz="1500" b="1">
                <a:solidFill>
                  <a:srgbClr val="1C2B3A"/>
                </a:solidFill>
                <a:latin typeface="Calibri" pitchFamily="34" charset="0"/>
                <a:ea typeface="Calibri" pitchFamily="34" charset="-122"/>
                <a:cs typeface="Calibri" pitchFamily="34" charset="-120"/>
              </a:rPr>
              <a:t>Research &amp; Publications</a:t>
            </a:r>
            <a:endParaRPr lang="en-US" sz="1500"/>
          </a:p>
        </p:txBody>
      </p:sp>
      <p:sp>
        <p:nvSpPr>
          <p:cNvPr id="15" name="Shape 13"/>
          <p:cNvSpPr/>
          <p:nvPr/>
        </p:nvSpPr>
        <p:spPr>
          <a:xfrm>
            <a:off x="539496" y="2340864"/>
            <a:ext cx="5230368" cy="0"/>
          </a:xfrm>
          <a:prstGeom prst="line">
            <a:avLst/>
          </a:prstGeom>
          <a:noFill/>
          <a:ln w="6350">
            <a:solidFill>
              <a:srgbClr val="C8D9EE"/>
            </a:solidFill>
            <a:prstDash val="solid"/>
          </a:ln>
        </p:spPr>
        <p:txBody>
          <a:bodyPr>
            <a:normAutofit fontScale="25000" lnSpcReduction="20000"/>
          </a:bodyPr>
          <a:lstStyle/>
          <a:p>
            <a:endParaRPr lang="en-IN"/>
          </a:p>
        </p:txBody>
      </p:sp>
      <p:sp>
        <p:nvSpPr>
          <p:cNvPr id="16" name="Text 14"/>
          <p:cNvSpPr/>
          <p:nvPr/>
        </p:nvSpPr>
        <p:spPr>
          <a:xfrm>
            <a:off x="539496" y="2386584"/>
            <a:ext cx="5230368" cy="694944"/>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Scale from 8 to 20+ active clinical trials. Target 10 indexed publications in Year 1. Apply for 2–3 ICMR/DBT/DST grants with a co-PI academic partner. Strengthen the Ethics Committee to 8–10 annual meetings with CDSCO central registration.</a:t>
            </a:r>
            <a:endParaRPr lang="en-US" sz="1125"/>
          </a:p>
        </p:txBody>
      </p:sp>
      <p:sp>
        <p:nvSpPr>
          <p:cNvPr id="17" name="Text 15"/>
          <p:cNvSpPr/>
          <p:nvPr/>
        </p:nvSpPr>
        <p:spPr>
          <a:xfrm>
            <a:off x="539496" y="3099816"/>
            <a:ext cx="5230368" cy="438912"/>
          </a:xfrm>
          <a:prstGeom prst="rect">
            <a:avLst/>
          </a:prstGeom>
          <a:noFill/>
          <a:ln/>
        </p:spPr>
        <p:txBody>
          <a:bodyPr wrap="square" lIns="0" tIns="0" rIns="0" bIns="0" rtlCol="0" anchor="ctr">
            <a:normAutofit/>
          </a:bodyPr>
          <a:lstStyle/>
          <a:p>
            <a:pPr marL="0" indent="0">
              <a:buNone/>
            </a:pPr>
            <a:r>
              <a:rPr lang="en-US" sz="1050" i="1">
                <a:solidFill>
                  <a:srgbClr val="5A7A96"/>
                </a:solidFill>
                <a:latin typeface="Calibri" pitchFamily="34" charset="0"/>
                <a:ea typeface="Calibri" pitchFamily="34" charset="-122"/>
                <a:cs typeface="Calibri" pitchFamily="34" charset="-120"/>
              </a:rPr>
              <a:t>Clinical trials generate ₹50K–2L per enrolled patient. Publication output is the primary driver of tertiary referral reputation and consultant recruitment from academic centres.</a:t>
            </a:r>
            <a:endParaRPr lang="en-US" sz="1050"/>
          </a:p>
        </p:txBody>
      </p:sp>
      <p:sp>
        <p:nvSpPr>
          <p:cNvPr id="18" name="Shape 16"/>
          <p:cNvSpPr/>
          <p:nvPr/>
        </p:nvSpPr>
        <p:spPr>
          <a:xfrm>
            <a:off x="6126480" y="1865376"/>
            <a:ext cx="5486400" cy="1709928"/>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19" name="Shape 17"/>
          <p:cNvSpPr/>
          <p:nvPr/>
        </p:nvSpPr>
        <p:spPr>
          <a:xfrm>
            <a:off x="6126480" y="1865376"/>
            <a:ext cx="5486400" cy="54864"/>
          </a:xfrm>
          <a:prstGeom prst="rect">
            <a:avLst/>
          </a:prstGeom>
          <a:solidFill>
            <a:srgbClr val="BE1558"/>
          </a:solidFill>
          <a:ln w="12700">
            <a:solidFill>
              <a:srgbClr val="BE1558"/>
            </a:solidFill>
            <a:prstDash val="solid"/>
          </a:ln>
        </p:spPr>
        <p:txBody>
          <a:bodyPr>
            <a:normAutofit fontScale="25000" lnSpcReduction="20000"/>
          </a:bodyPr>
          <a:lstStyle/>
          <a:p>
            <a:endParaRPr lang="en-IN"/>
          </a:p>
        </p:txBody>
      </p:sp>
      <p:sp>
        <p:nvSpPr>
          <p:cNvPr id="20" name="Text 18"/>
          <p:cNvSpPr/>
          <p:nvPr/>
        </p:nvSpPr>
        <p:spPr>
          <a:xfrm>
            <a:off x="6254496" y="1947672"/>
            <a:ext cx="640080" cy="347472"/>
          </a:xfrm>
          <a:prstGeom prst="rect">
            <a:avLst/>
          </a:prstGeom>
          <a:noFill/>
          <a:ln/>
        </p:spPr>
        <p:txBody>
          <a:bodyPr wrap="square" lIns="0" tIns="0" rIns="0" bIns="0" rtlCol="0" anchor="ctr">
            <a:normAutofit/>
          </a:bodyPr>
          <a:lstStyle/>
          <a:p>
            <a:pPr marL="0" indent="0">
              <a:buNone/>
            </a:pPr>
            <a:r>
              <a:rPr lang="en-US" sz="1375" b="1">
                <a:solidFill>
                  <a:srgbClr val="BE1558"/>
                </a:solidFill>
                <a:latin typeface="Calibri" pitchFamily="34" charset="0"/>
                <a:ea typeface="Calibri" pitchFamily="34" charset="-122"/>
                <a:cs typeface="Calibri" pitchFamily="34" charset="-120"/>
              </a:rPr>
              <a:t>CL-02</a:t>
            </a:r>
            <a:endParaRPr lang="en-US" sz="1375"/>
          </a:p>
        </p:txBody>
      </p:sp>
      <p:sp>
        <p:nvSpPr>
          <p:cNvPr id="21" name="Text 19"/>
          <p:cNvSpPr/>
          <p:nvPr/>
        </p:nvSpPr>
        <p:spPr>
          <a:xfrm>
            <a:off x="6931152" y="1956816"/>
            <a:ext cx="4572000" cy="329184"/>
          </a:xfrm>
          <a:prstGeom prst="rect">
            <a:avLst/>
          </a:prstGeom>
          <a:noFill/>
          <a:ln/>
        </p:spPr>
        <p:txBody>
          <a:bodyPr wrap="square" lIns="0" tIns="0" rIns="0" bIns="0" rtlCol="0" anchor="ctr">
            <a:normAutofit/>
          </a:bodyPr>
          <a:lstStyle/>
          <a:p>
            <a:pPr marL="0" indent="0">
              <a:buNone/>
            </a:pPr>
            <a:r>
              <a:rPr lang="en-US" sz="1500" b="1">
                <a:solidFill>
                  <a:srgbClr val="1C2B3A"/>
                </a:solidFill>
                <a:latin typeface="Calibri" pitchFamily="34" charset="0"/>
                <a:ea typeface="Calibri" pitchFamily="34" charset="-122"/>
                <a:cs typeface="Calibri" pitchFamily="34" charset="-120"/>
              </a:rPr>
              <a:t>Patient Care &amp; Experience</a:t>
            </a:r>
            <a:endParaRPr lang="en-US" sz="1500"/>
          </a:p>
        </p:txBody>
      </p:sp>
      <p:sp>
        <p:nvSpPr>
          <p:cNvPr id="22" name="Shape 20"/>
          <p:cNvSpPr/>
          <p:nvPr/>
        </p:nvSpPr>
        <p:spPr>
          <a:xfrm>
            <a:off x="6254496" y="2340864"/>
            <a:ext cx="5230368" cy="0"/>
          </a:xfrm>
          <a:prstGeom prst="line">
            <a:avLst/>
          </a:prstGeom>
          <a:noFill/>
          <a:ln w="6350">
            <a:solidFill>
              <a:srgbClr val="C8D9EE"/>
            </a:solidFill>
            <a:prstDash val="solid"/>
          </a:ln>
        </p:spPr>
        <p:txBody>
          <a:bodyPr>
            <a:normAutofit fontScale="25000" lnSpcReduction="20000"/>
          </a:bodyPr>
          <a:lstStyle/>
          <a:p>
            <a:endParaRPr lang="en-IN"/>
          </a:p>
        </p:txBody>
      </p:sp>
      <p:sp>
        <p:nvSpPr>
          <p:cNvPr id="23" name="Text 21"/>
          <p:cNvSpPr/>
          <p:nvPr/>
        </p:nvSpPr>
        <p:spPr>
          <a:xfrm>
            <a:off x="6254496" y="2386584"/>
            <a:ext cx="5230368" cy="694944"/>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HCAHPS-aligned satisfaction surveys, NPS tracking and 24-hour complaint resolution. Structured discharge experience programme and bedside manner training for clinical staff.</a:t>
            </a:r>
            <a:endParaRPr lang="en-US" sz="1125"/>
          </a:p>
        </p:txBody>
      </p:sp>
      <p:sp>
        <p:nvSpPr>
          <p:cNvPr id="24" name="Text 22"/>
          <p:cNvSpPr/>
          <p:nvPr/>
        </p:nvSpPr>
        <p:spPr>
          <a:xfrm>
            <a:off x="6254496" y="3099816"/>
            <a:ext cx="5230368" cy="438912"/>
          </a:xfrm>
          <a:prstGeom prst="rect">
            <a:avLst/>
          </a:prstGeom>
          <a:noFill/>
          <a:ln/>
        </p:spPr>
        <p:txBody>
          <a:bodyPr wrap="square" lIns="0" tIns="0" rIns="0" bIns="0" rtlCol="0" anchor="ctr">
            <a:normAutofit/>
          </a:bodyPr>
          <a:lstStyle/>
          <a:p>
            <a:pPr marL="0" indent="0">
              <a:buNone/>
            </a:pPr>
            <a:r>
              <a:rPr lang="en-US" sz="1050" i="1">
                <a:solidFill>
                  <a:srgbClr val="5A7A96"/>
                </a:solidFill>
                <a:latin typeface="Calibri" pitchFamily="34" charset="0"/>
                <a:ea typeface="Calibri" pitchFamily="34" charset="-122"/>
                <a:cs typeface="Calibri" pitchFamily="34" charset="-120"/>
              </a:rPr>
              <a:t>1% NPS improvement correlates with 3–5% referral uplift at reputation-driven hospitals. In Kochi's competitive market, patient experience is the primary word-of-mouth driver.</a:t>
            </a:r>
            <a:endParaRPr lang="en-US" sz="1050"/>
          </a:p>
        </p:txBody>
      </p:sp>
      <p:sp>
        <p:nvSpPr>
          <p:cNvPr id="25" name="Shape 23"/>
          <p:cNvSpPr/>
          <p:nvPr/>
        </p:nvSpPr>
        <p:spPr>
          <a:xfrm>
            <a:off x="411480" y="3694176"/>
            <a:ext cx="5486400" cy="1709928"/>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26" name="Shape 24"/>
          <p:cNvSpPr/>
          <p:nvPr/>
        </p:nvSpPr>
        <p:spPr>
          <a:xfrm>
            <a:off x="411480" y="3694176"/>
            <a:ext cx="5486400" cy="54864"/>
          </a:xfrm>
          <a:prstGeom prst="rect">
            <a:avLst/>
          </a:prstGeom>
          <a:solidFill>
            <a:srgbClr val="2E7AB6"/>
          </a:solidFill>
          <a:ln w="12700">
            <a:solidFill>
              <a:srgbClr val="2E7AB6"/>
            </a:solidFill>
            <a:prstDash val="solid"/>
          </a:ln>
        </p:spPr>
        <p:txBody>
          <a:bodyPr>
            <a:normAutofit fontScale="25000" lnSpcReduction="20000"/>
          </a:bodyPr>
          <a:lstStyle/>
          <a:p>
            <a:endParaRPr lang="en-IN"/>
          </a:p>
        </p:txBody>
      </p:sp>
      <p:sp>
        <p:nvSpPr>
          <p:cNvPr id="27" name="Text 25"/>
          <p:cNvSpPr/>
          <p:nvPr/>
        </p:nvSpPr>
        <p:spPr>
          <a:xfrm>
            <a:off x="539496" y="3776472"/>
            <a:ext cx="640080" cy="347472"/>
          </a:xfrm>
          <a:prstGeom prst="rect">
            <a:avLst/>
          </a:prstGeom>
          <a:noFill/>
          <a:ln/>
        </p:spPr>
        <p:txBody>
          <a:bodyPr wrap="square" lIns="0" tIns="0" rIns="0" bIns="0" rtlCol="0" anchor="ctr">
            <a:normAutofit/>
          </a:bodyPr>
          <a:lstStyle/>
          <a:p>
            <a:pPr marL="0" indent="0">
              <a:buNone/>
            </a:pPr>
            <a:r>
              <a:rPr lang="en-US" sz="1375" b="1">
                <a:solidFill>
                  <a:srgbClr val="2E7AB6"/>
                </a:solidFill>
                <a:latin typeface="Calibri" pitchFamily="34" charset="0"/>
                <a:ea typeface="Calibri" pitchFamily="34" charset="-122"/>
                <a:cs typeface="Calibri" pitchFamily="34" charset="-120"/>
              </a:rPr>
              <a:t>CL-03</a:t>
            </a:r>
            <a:endParaRPr lang="en-US" sz="1375"/>
          </a:p>
        </p:txBody>
      </p:sp>
      <p:sp>
        <p:nvSpPr>
          <p:cNvPr id="28" name="Text 26"/>
          <p:cNvSpPr/>
          <p:nvPr/>
        </p:nvSpPr>
        <p:spPr>
          <a:xfrm>
            <a:off x="1216152" y="3785616"/>
            <a:ext cx="4572000" cy="329184"/>
          </a:xfrm>
          <a:prstGeom prst="rect">
            <a:avLst/>
          </a:prstGeom>
          <a:noFill/>
          <a:ln/>
        </p:spPr>
        <p:txBody>
          <a:bodyPr wrap="square" lIns="0" tIns="0" rIns="0" bIns="0" rtlCol="0" anchor="ctr">
            <a:normAutofit/>
          </a:bodyPr>
          <a:lstStyle/>
          <a:p>
            <a:pPr marL="0" indent="0">
              <a:buNone/>
            </a:pPr>
            <a:r>
              <a:rPr lang="en-US" sz="1500" b="1">
                <a:solidFill>
                  <a:srgbClr val="1C2B3A"/>
                </a:solidFill>
                <a:latin typeface="Calibri" pitchFamily="34" charset="0"/>
                <a:ea typeface="Calibri" pitchFamily="34" charset="-122"/>
                <a:cs typeface="Calibri" pitchFamily="34" charset="-120"/>
              </a:rPr>
              <a:t>Academic Excellence &amp; Medical Education</a:t>
            </a:r>
            <a:endParaRPr lang="en-US" sz="1500"/>
          </a:p>
        </p:txBody>
      </p:sp>
      <p:sp>
        <p:nvSpPr>
          <p:cNvPr id="29" name="Shape 27"/>
          <p:cNvSpPr/>
          <p:nvPr/>
        </p:nvSpPr>
        <p:spPr>
          <a:xfrm>
            <a:off x="539496" y="4169664"/>
            <a:ext cx="5230368" cy="0"/>
          </a:xfrm>
          <a:prstGeom prst="line">
            <a:avLst/>
          </a:prstGeom>
          <a:noFill/>
          <a:ln w="6350">
            <a:solidFill>
              <a:srgbClr val="C8D9EE"/>
            </a:solidFill>
            <a:prstDash val="solid"/>
          </a:ln>
        </p:spPr>
        <p:txBody>
          <a:bodyPr>
            <a:normAutofit fontScale="25000" lnSpcReduction="20000"/>
          </a:bodyPr>
          <a:lstStyle/>
          <a:p>
            <a:endParaRPr lang="en-IN"/>
          </a:p>
        </p:txBody>
      </p:sp>
      <p:sp>
        <p:nvSpPr>
          <p:cNvPr id="30" name="Text 28"/>
          <p:cNvSpPr/>
          <p:nvPr/>
        </p:nvSpPr>
        <p:spPr>
          <a:xfrm>
            <a:off x="539496" y="4215384"/>
            <a:ext cx="5230368" cy="694944"/>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Monthly specialty CMEs rotating across Thrissur, Kottayam, Alappuzha and Ernakulam suburbs. Dedicated CME Coordinator. Digital CME library with NMC accreditation. Tumour boards and quarterly masterclass series.</a:t>
            </a:r>
            <a:endParaRPr lang="en-US" sz="1125"/>
          </a:p>
        </p:txBody>
      </p:sp>
      <p:sp>
        <p:nvSpPr>
          <p:cNvPr id="31" name="Text 29"/>
          <p:cNvSpPr/>
          <p:nvPr/>
        </p:nvSpPr>
        <p:spPr>
          <a:xfrm>
            <a:off x="539496" y="4928616"/>
            <a:ext cx="5230368" cy="438912"/>
          </a:xfrm>
          <a:prstGeom prst="rect">
            <a:avLst/>
          </a:prstGeom>
          <a:noFill/>
          <a:ln/>
        </p:spPr>
        <p:txBody>
          <a:bodyPr wrap="square" lIns="0" tIns="0" rIns="0" bIns="0" rtlCol="0" anchor="ctr">
            <a:normAutofit/>
          </a:bodyPr>
          <a:lstStyle/>
          <a:p>
            <a:pPr marL="0" indent="0">
              <a:buNone/>
            </a:pPr>
            <a:r>
              <a:rPr lang="en-US" sz="1050" i="1">
                <a:solidFill>
                  <a:srgbClr val="5A7A96"/>
                </a:solidFill>
                <a:latin typeface="Calibri" pitchFamily="34" charset="0"/>
                <a:ea typeface="Calibri" pitchFamily="34" charset="-122"/>
                <a:cs typeface="Calibri" pitchFamily="34" charset="-120"/>
              </a:rPr>
              <a:t>CME programme deepens relationships with 500+ referring physicians. Digital CME creates a year-round engagement touchpoint for the BD referral network.</a:t>
            </a:r>
            <a:endParaRPr lang="en-US" sz="1050"/>
          </a:p>
        </p:txBody>
      </p:sp>
      <p:sp>
        <p:nvSpPr>
          <p:cNvPr id="32" name="Shape 30"/>
          <p:cNvSpPr/>
          <p:nvPr/>
        </p:nvSpPr>
        <p:spPr>
          <a:xfrm>
            <a:off x="6126480" y="3694176"/>
            <a:ext cx="5486400" cy="1709928"/>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33" name="Shape 31"/>
          <p:cNvSpPr/>
          <p:nvPr/>
        </p:nvSpPr>
        <p:spPr>
          <a:xfrm>
            <a:off x="6126480" y="3694176"/>
            <a:ext cx="5486400" cy="54864"/>
          </a:xfrm>
          <a:prstGeom prst="rect">
            <a:avLst/>
          </a:prstGeom>
          <a:solidFill>
            <a:srgbClr val="2E7AB6"/>
          </a:solidFill>
          <a:ln w="12700">
            <a:solidFill>
              <a:srgbClr val="2E7AB6"/>
            </a:solidFill>
            <a:prstDash val="solid"/>
          </a:ln>
        </p:spPr>
        <p:txBody>
          <a:bodyPr>
            <a:normAutofit fontScale="25000" lnSpcReduction="20000"/>
          </a:bodyPr>
          <a:lstStyle/>
          <a:p>
            <a:endParaRPr lang="en-IN"/>
          </a:p>
        </p:txBody>
      </p:sp>
      <p:sp>
        <p:nvSpPr>
          <p:cNvPr id="34" name="Text 32"/>
          <p:cNvSpPr/>
          <p:nvPr/>
        </p:nvSpPr>
        <p:spPr>
          <a:xfrm>
            <a:off x="6254496" y="3776472"/>
            <a:ext cx="640080" cy="347472"/>
          </a:xfrm>
          <a:prstGeom prst="rect">
            <a:avLst/>
          </a:prstGeom>
          <a:noFill/>
          <a:ln/>
        </p:spPr>
        <p:txBody>
          <a:bodyPr wrap="square" lIns="0" tIns="0" rIns="0" bIns="0" rtlCol="0" anchor="ctr">
            <a:normAutofit/>
          </a:bodyPr>
          <a:lstStyle/>
          <a:p>
            <a:pPr marL="0" indent="0">
              <a:buNone/>
            </a:pPr>
            <a:r>
              <a:rPr lang="en-US" sz="1375" b="1">
                <a:solidFill>
                  <a:srgbClr val="2E7AB6"/>
                </a:solidFill>
                <a:latin typeface="Calibri" pitchFamily="34" charset="0"/>
                <a:ea typeface="Calibri" pitchFamily="34" charset="-122"/>
                <a:cs typeface="Calibri" pitchFamily="34" charset="-120"/>
              </a:rPr>
              <a:t>CL-04</a:t>
            </a:r>
            <a:endParaRPr lang="en-US" sz="1375"/>
          </a:p>
        </p:txBody>
      </p:sp>
      <p:sp>
        <p:nvSpPr>
          <p:cNvPr id="35" name="Text 33"/>
          <p:cNvSpPr/>
          <p:nvPr/>
        </p:nvSpPr>
        <p:spPr>
          <a:xfrm>
            <a:off x="6931152" y="3785616"/>
            <a:ext cx="4572000" cy="329184"/>
          </a:xfrm>
          <a:prstGeom prst="rect">
            <a:avLst/>
          </a:prstGeom>
          <a:noFill/>
          <a:ln/>
        </p:spPr>
        <p:txBody>
          <a:bodyPr wrap="square" lIns="0" tIns="0" rIns="0" bIns="0" rtlCol="0" anchor="ctr">
            <a:normAutofit/>
          </a:bodyPr>
          <a:lstStyle/>
          <a:p>
            <a:pPr marL="0" indent="0">
              <a:buNone/>
            </a:pPr>
            <a:r>
              <a:rPr lang="en-US" sz="1500" b="1">
                <a:solidFill>
                  <a:srgbClr val="1C2B3A"/>
                </a:solidFill>
                <a:latin typeface="Calibri" pitchFamily="34" charset="0"/>
                <a:ea typeface="Calibri" pitchFamily="34" charset="-122"/>
                <a:cs typeface="Calibri" pitchFamily="34" charset="-120"/>
              </a:rPr>
              <a:t>Rare &amp; Complex Care</a:t>
            </a:r>
            <a:endParaRPr lang="en-US" sz="1500"/>
          </a:p>
        </p:txBody>
      </p:sp>
      <p:sp>
        <p:nvSpPr>
          <p:cNvPr id="36" name="Shape 34"/>
          <p:cNvSpPr/>
          <p:nvPr/>
        </p:nvSpPr>
        <p:spPr>
          <a:xfrm>
            <a:off x="6254496" y="4169664"/>
            <a:ext cx="5230368" cy="0"/>
          </a:xfrm>
          <a:prstGeom prst="line">
            <a:avLst/>
          </a:prstGeom>
          <a:noFill/>
          <a:ln w="6350">
            <a:solidFill>
              <a:srgbClr val="C8D9EE"/>
            </a:solidFill>
            <a:prstDash val="solid"/>
          </a:ln>
        </p:spPr>
        <p:txBody>
          <a:bodyPr>
            <a:normAutofit fontScale="25000" lnSpcReduction="20000"/>
          </a:bodyPr>
          <a:lstStyle/>
          <a:p>
            <a:endParaRPr lang="en-IN"/>
          </a:p>
        </p:txBody>
      </p:sp>
      <p:sp>
        <p:nvSpPr>
          <p:cNvPr id="37" name="Text 35"/>
          <p:cNvSpPr/>
          <p:nvPr/>
        </p:nvSpPr>
        <p:spPr>
          <a:xfrm>
            <a:off x="6254496" y="4215384"/>
            <a:ext cx="5230368" cy="694944"/>
          </a:xfrm>
          <a:prstGeom prst="rect">
            <a:avLst/>
          </a:prstGeom>
          <a:noFill/>
          <a:ln/>
        </p:spPr>
        <p:txBody>
          <a:bodyPr wrap="square" lIns="0" tIns="0" rIns="0" bIns="0" rtlCol="0" anchor="ctr">
            <a:normAutofit/>
          </a:bodyPr>
          <a:lstStyle/>
          <a:p>
            <a:pPr marL="0" indent="0">
              <a:buNone/>
            </a:pPr>
            <a:r>
              <a:rPr lang="en-US" sz="1125">
                <a:solidFill>
                  <a:srgbClr val="1C2B3A"/>
                </a:solidFill>
                <a:latin typeface="Calibri" pitchFamily="34" charset="0"/>
                <a:ea typeface="Calibri" pitchFamily="34" charset="-122"/>
                <a:cs typeface="Calibri" pitchFamily="34" charset="-120"/>
              </a:rPr>
              <a:t>Formal protocols for rare disease diagnosis and management. Weekly multi-disciplinary tumour boards. Molecular diagnostics integration. Quarterly complex case conference with external academic collaborators.</a:t>
            </a:r>
            <a:endParaRPr lang="en-US" sz="1125"/>
          </a:p>
        </p:txBody>
      </p:sp>
      <p:sp>
        <p:nvSpPr>
          <p:cNvPr id="38" name="Text 36"/>
          <p:cNvSpPr/>
          <p:nvPr/>
        </p:nvSpPr>
        <p:spPr>
          <a:xfrm>
            <a:off x="6254496" y="4928616"/>
            <a:ext cx="5230368" cy="438912"/>
          </a:xfrm>
          <a:prstGeom prst="rect">
            <a:avLst/>
          </a:prstGeom>
          <a:noFill/>
          <a:ln/>
        </p:spPr>
        <p:txBody>
          <a:bodyPr wrap="square" lIns="0" tIns="0" rIns="0" bIns="0" rtlCol="0" anchor="ctr">
            <a:normAutofit/>
          </a:bodyPr>
          <a:lstStyle/>
          <a:p>
            <a:pPr marL="0" indent="0">
              <a:buNone/>
            </a:pPr>
            <a:r>
              <a:rPr lang="en-US" sz="1050" i="1">
                <a:solidFill>
                  <a:srgbClr val="5A7A96"/>
                </a:solidFill>
                <a:latin typeface="Calibri" pitchFamily="34" charset="0"/>
                <a:ea typeface="Calibri" pitchFamily="34" charset="-122"/>
                <a:cs typeface="Calibri" pitchFamily="34" charset="-120"/>
              </a:rPr>
              <a:t>Rare and complex case capability is Lakeshore's strategic differentiation from secondary competitors. Each complex admission carries significantly higher revenue per bed.</a:t>
            </a:r>
            <a:endParaRPr lang="en-US" sz="1050"/>
          </a:p>
        </p:txBody>
      </p:sp>
      <p:sp>
        <p:nvSpPr>
          <p:cNvPr id="39" name="Shape 37"/>
          <p:cNvSpPr/>
          <p:nvPr/>
        </p:nvSpPr>
        <p:spPr>
          <a:xfrm>
            <a:off x="411478" y="5522976"/>
            <a:ext cx="11173969" cy="1234440"/>
          </a:xfrm>
          <a:prstGeom prst="rect">
            <a:avLst/>
          </a:prstGeom>
          <a:solidFill>
            <a:srgbClr val="FFFFFF"/>
          </a:solidFill>
          <a:ln w="6350">
            <a:solidFill>
              <a:srgbClr val="C8D9EE"/>
            </a:solidFill>
            <a:prstDash val="solid"/>
          </a:ln>
          <a:effectLst>
            <a:outerShdw blurRad="76200" dist="25400" dir="8100000" algn="bl" rotWithShape="0">
              <a:srgbClr val="000000">
                <a:alpha val="9000"/>
              </a:srgbClr>
            </a:outerShdw>
          </a:effectLst>
        </p:spPr>
        <p:txBody>
          <a:bodyPr>
            <a:normAutofit/>
          </a:bodyPr>
          <a:lstStyle/>
          <a:p>
            <a:endParaRPr lang="en-IN"/>
          </a:p>
        </p:txBody>
      </p:sp>
      <p:sp>
        <p:nvSpPr>
          <p:cNvPr id="40" name="Shape 38"/>
          <p:cNvSpPr/>
          <p:nvPr/>
        </p:nvSpPr>
        <p:spPr>
          <a:xfrm>
            <a:off x="439546" y="5522976"/>
            <a:ext cx="11145901" cy="66584"/>
          </a:xfrm>
          <a:prstGeom prst="rect">
            <a:avLst/>
          </a:prstGeom>
          <a:solidFill>
            <a:srgbClr val="BE1558"/>
          </a:solidFill>
          <a:ln w="12700">
            <a:solidFill>
              <a:srgbClr val="BE1558"/>
            </a:solidFill>
            <a:prstDash val="solid"/>
          </a:ln>
        </p:spPr>
        <p:txBody>
          <a:bodyPr>
            <a:normAutofit fontScale="25000" lnSpcReduction="20000"/>
          </a:bodyPr>
          <a:lstStyle/>
          <a:p>
            <a:endParaRPr lang="en-IN"/>
          </a:p>
        </p:txBody>
      </p:sp>
      <p:sp>
        <p:nvSpPr>
          <p:cNvPr id="41" name="Text 39"/>
          <p:cNvSpPr/>
          <p:nvPr/>
        </p:nvSpPr>
        <p:spPr>
          <a:xfrm>
            <a:off x="539496" y="5605272"/>
            <a:ext cx="640080" cy="347472"/>
          </a:xfrm>
          <a:prstGeom prst="rect">
            <a:avLst/>
          </a:prstGeom>
          <a:noFill/>
          <a:ln/>
        </p:spPr>
        <p:txBody>
          <a:bodyPr wrap="square" lIns="0" tIns="0" rIns="0" bIns="0" rtlCol="0" anchor="ctr">
            <a:normAutofit/>
          </a:bodyPr>
          <a:lstStyle/>
          <a:p>
            <a:pPr marL="0" indent="0">
              <a:buNone/>
            </a:pPr>
            <a:r>
              <a:rPr lang="en-US" sz="1375" b="1">
                <a:solidFill>
                  <a:srgbClr val="BE1558"/>
                </a:solidFill>
                <a:latin typeface="Calibri" pitchFamily="34" charset="0"/>
                <a:ea typeface="Calibri" pitchFamily="34" charset="-122"/>
                <a:cs typeface="Calibri" pitchFamily="34" charset="-120"/>
              </a:rPr>
              <a:t>CL-05</a:t>
            </a:r>
            <a:endParaRPr lang="en-US" sz="1375"/>
          </a:p>
        </p:txBody>
      </p:sp>
      <p:sp>
        <p:nvSpPr>
          <p:cNvPr id="42" name="Text 40"/>
          <p:cNvSpPr/>
          <p:nvPr/>
        </p:nvSpPr>
        <p:spPr>
          <a:xfrm>
            <a:off x="1216152" y="5614416"/>
            <a:ext cx="4572000" cy="329184"/>
          </a:xfrm>
          <a:prstGeom prst="rect">
            <a:avLst/>
          </a:prstGeom>
          <a:noFill/>
          <a:ln/>
        </p:spPr>
        <p:txBody>
          <a:bodyPr wrap="square" lIns="0" tIns="0" rIns="0" bIns="0" rtlCol="0" anchor="ctr">
            <a:normAutofit/>
          </a:bodyPr>
          <a:lstStyle/>
          <a:p>
            <a:pPr marL="0" indent="0">
              <a:buNone/>
            </a:pPr>
            <a:r>
              <a:rPr lang="en-US" sz="1500" b="1">
                <a:solidFill>
                  <a:srgbClr val="1C2B3A"/>
                </a:solidFill>
                <a:latin typeface="Calibri" pitchFamily="34" charset="0"/>
                <a:ea typeface="Calibri" pitchFamily="34" charset="-122"/>
                <a:cs typeface="Calibri" pitchFamily="34" charset="-120"/>
              </a:rPr>
              <a:t>Awards &amp; Accreditations</a:t>
            </a:r>
            <a:endParaRPr lang="en-US" sz="1500"/>
          </a:p>
        </p:txBody>
      </p:sp>
      <p:sp>
        <p:nvSpPr>
          <p:cNvPr id="43" name="Shape 41"/>
          <p:cNvSpPr/>
          <p:nvPr/>
        </p:nvSpPr>
        <p:spPr>
          <a:xfrm>
            <a:off x="539496" y="5998464"/>
            <a:ext cx="5230368" cy="0"/>
          </a:xfrm>
          <a:prstGeom prst="line">
            <a:avLst/>
          </a:prstGeom>
          <a:noFill/>
          <a:ln w="6350">
            <a:solidFill>
              <a:srgbClr val="C8D9EE"/>
            </a:solidFill>
            <a:prstDash val="solid"/>
          </a:ln>
        </p:spPr>
        <p:txBody>
          <a:bodyPr>
            <a:normAutofit fontScale="25000" lnSpcReduction="20000"/>
          </a:bodyPr>
          <a:lstStyle/>
          <a:p>
            <a:endParaRPr lang="en-IN"/>
          </a:p>
        </p:txBody>
      </p:sp>
      <p:sp>
        <p:nvSpPr>
          <p:cNvPr id="44" name="Text 42"/>
          <p:cNvSpPr/>
          <p:nvPr/>
        </p:nvSpPr>
        <p:spPr>
          <a:xfrm>
            <a:off x="517628" y="5964174"/>
            <a:ext cx="11090723" cy="374905"/>
          </a:xfrm>
          <a:prstGeom prst="rect">
            <a:avLst/>
          </a:prstGeom>
          <a:noFill/>
          <a:ln/>
        </p:spPr>
        <p:txBody>
          <a:bodyPr wrap="square" lIns="0" tIns="0" rIns="0" bIns="0" rtlCol="0" anchor="ctr">
            <a:normAutofit/>
          </a:bodyPr>
          <a:lstStyle/>
          <a:p>
            <a:pPr marL="0" indent="0">
              <a:buNone/>
            </a:pPr>
            <a:r>
              <a:rPr lang="en-US" sz="1125" dirty="0">
                <a:solidFill>
                  <a:srgbClr val="1C2B3A"/>
                </a:solidFill>
                <a:latin typeface="Calibri" pitchFamily="34" charset="0"/>
                <a:ea typeface="Calibri" pitchFamily="34" charset="-122"/>
                <a:cs typeface="Calibri" pitchFamily="34" charset="-120"/>
              </a:rPr>
              <a:t>NABH reaccreditation cycle. Submissions for national hospital ranking platforms. Specialty excellence awards in cardiology, oncology and transplant. NABH-HWC certification for the satellite clinic network.</a:t>
            </a:r>
            <a:endParaRPr lang="en-US" sz="1125" dirty="0"/>
          </a:p>
        </p:txBody>
      </p:sp>
      <p:sp>
        <p:nvSpPr>
          <p:cNvPr id="45" name="Text 43"/>
          <p:cNvSpPr/>
          <p:nvPr/>
        </p:nvSpPr>
        <p:spPr>
          <a:xfrm>
            <a:off x="527306" y="6251918"/>
            <a:ext cx="10192509" cy="438912"/>
          </a:xfrm>
          <a:prstGeom prst="rect">
            <a:avLst/>
          </a:prstGeom>
          <a:noFill/>
          <a:ln/>
        </p:spPr>
        <p:txBody>
          <a:bodyPr wrap="square" lIns="0" tIns="0" rIns="0" bIns="0" rtlCol="0" anchor="ctr">
            <a:normAutofit/>
          </a:bodyPr>
          <a:lstStyle/>
          <a:p>
            <a:pPr marL="0" indent="0">
              <a:buNone/>
            </a:pPr>
            <a:r>
              <a:rPr lang="en-US" sz="1050" i="1" dirty="0">
                <a:solidFill>
                  <a:srgbClr val="5A7A96"/>
                </a:solidFill>
                <a:latin typeface="Calibri" pitchFamily="34" charset="0"/>
                <a:ea typeface="Calibri" pitchFamily="34" charset="-122"/>
                <a:cs typeface="Calibri" pitchFamily="34" charset="-120"/>
              </a:rPr>
              <a:t>NABH and ranking credentials are the primary trust signals for NRI, international and HNI patients — the exact segments targeted by the premium packages under R-12.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BE1558"/>
          </a:solidFill>
          <a:ln w="12700">
            <a:solidFill>
              <a:srgbClr val="BE1558"/>
            </a:solidFill>
            <a:prstDash val="solid"/>
          </a:ln>
        </p:spPr>
        <p:txBody>
          <a:bodyPr>
            <a:normAutofit/>
          </a:bodyPr>
          <a:lstStyle/>
          <a:p>
            <a:endParaRPr lang="en-IN"/>
          </a:p>
        </p:txBody>
      </p:sp>
      <p:sp>
        <p:nvSpPr>
          <p:cNvPr id="3" name="Shape 1"/>
          <p:cNvSpPr/>
          <p:nvPr/>
        </p:nvSpPr>
        <p:spPr>
          <a:xfrm>
            <a:off x="8229600" y="0"/>
            <a:ext cx="3931920" cy="6858000"/>
          </a:xfrm>
          <a:prstGeom prst="rect">
            <a:avLst/>
          </a:prstGeom>
          <a:solidFill>
            <a:srgbClr val="162433"/>
          </a:solidFill>
          <a:ln w="12700">
            <a:solidFill>
              <a:srgbClr val="162433"/>
            </a:solidFill>
            <a:prstDash val="solid"/>
          </a:ln>
        </p:spPr>
        <p:txBody>
          <a:bodyPr>
            <a:normAutofit/>
          </a:bodyPr>
          <a:lstStyle/>
          <a:p>
            <a:endParaRPr lang="en-IN"/>
          </a:p>
        </p:txBody>
      </p:sp>
      <p:sp>
        <p:nvSpPr>
          <p:cNvPr id="11" name="Shape 9"/>
          <p:cNvSpPr/>
          <p:nvPr/>
        </p:nvSpPr>
        <p:spPr>
          <a:xfrm>
            <a:off x="8229600"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2" name="Shape 10"/>
          <p:cNvSpPr/>
          <p:nvPr/>
        </p:nvSpPr>
        <p:spPr>
          <a:xfrm>
            <a:off x="9015984"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3" name="Shape 11"/>
          <p:cNvSpPr/>
          <p:nvPr/>
        </p:nvSpPr>
        <p:spPr>
          <a:xfrm>
            <a:off x="9802368"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4" name="Shape 12"/>
          <p:cNvSpPr/>
          <p:nvPr/>
        </p:nvSpPr>
        <p:spPr>
          <a:xfrm>
            <a:off x="10588752"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5" name="Shape 13"/>
          <p:cNvSpPr/>
          <p:nvPr/>
        </p:nvSpPr>
        <p:spPr>
          <a:xfrm>
            <a:off x="11375136"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16" name="Shape 14"/>
          <p:cNvSpPr/>
          <p:nvPr/>
        </p:nvSpPr>
        <p:spPr>
          <a:xfrm>
            <a:off x="12161520" y="0"/>
            <a:ext cx="0" cy="6858000"/>
          </a:xfrm>
          <a:prstGeom prst="line">
            <a:avLst/>
          </a:prstGeom>
          <a:noFill/>
          <a:ln w="3810">
            <a:solidFill>
              <a:srgbClr val="FFFFFF">
                <a:alpha val="13000"/>
              </a:srgbClr>
            </a:solidFill>
            <a:prstDash val="solid"/>
          </a:ln>
        </p:spPr>
        <p:txBody>
          <a:bodyPr>
            <a:normAutofit fontScale="25000" lnSpcReduction="20000"/>
          </a:bodyPr>
          <a:lstStyle/>
          <a:p>
            <a:endParaRPr lang="en-IN"/>
          </a:p>
        </p:txBody>
      </p:sp>
      <p:sp>
        <p:nvSpPr>
          <p:cNvPr id="29" name="Text 27"/>
          <p:cNvSpPr/>
          <p:nvPr/>
        </p:nvSpPr>
        <p:spPr>
          <a:xfrm>
            <a:off x="777240" y="1554480"/>
            <a:ext cx="6858000" cy="1280160"/>
          </a:xfrm>
          <a:prstGeom prst="rect">
            <a:avLst/>
          </a:prstGeom>
          <a:noFill/>
          <a:ln/>
        </p:spPr>
        <p:txBody>
          <a:bodyPr wrap="square" lIns="0" tIns="0" rIns="0" bIns="0" rtlCol="0" anchor="ctr">
            <a:normAutofit/>
          </a:bodyPr>
          <a:lstStyle/>
          <a:p>
            <a:pPr marL="0" indent="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30" name="Shape 28"/>
          <p:cNvSpPr/>
          <p:nvPr/>
        </p:nvSpPr>
        <p:spPr>
          <a:xfrm>
            <a:off x="777240" y="2926080"/>
            <a:ext cx="4754880" cy="0"/>
          </a:xfrm>
          <a:prstGeom prst="line">
            <a:avLst/>
          </a:prstGeom>
          <a:noFill/>
          <a:ln w="19050">
            <a:solidFill>
              <a:srgbClr val="2E7AB6"/>
            </a:solidFill>
            <a:prstDash val="solid"/>
          </a:ln>
        </p:spPr>
        <p:txBody>
          <a:bodyPr>
            <a:normAutofit fontScale="25000" lnSpcReduction="20000"/>
          </a:bodyPr>
          <a:lstStyle/>
          <a:p>
            <a:endParaRPr lang="en-IN"/>
          </a:p>
        </p:txBody>
      </p:sp>
      <p:sp>
        <p:nvSpPr>
          <p:cNvPr id="31" name="Text 29"/>
          <p:cNvSpPr/>
          <p:nvPr/>
        </p:nvSpPr>
        <p:spPr>
          <a:xfrm>
            <a:off x="777240" y="3090672"/>
            <a:ext cx="7132320" cy="384048"/>
          </a:xfrm>
          <a:prstGeom prst="rect">
            <a:avLst/>
          </a:prstGeom>
          <a:noFill/>
          <a:ln/>
        </p:spPr>
        <p:txBody>
          <a:bodyPr wrap="square" lIns="0" tIns="0" rIns="0" bIns="0" rtlCol="0" anchor="ctr">
            <a:normAutofit/>
          </a:bodyPr>
          <a:lstStyle/>
          <a:p>
            <a:pPr marL="0" indent="0">
              <a:buNone/>
            </a:pPr>
            <a:r>
              <a:rPr lang="en-US" sz="1800">
                <a:solidFill>
                  <a:srgbClr val="A0BBCC"/>
                </a:solidFill>
                <a:latin typeface="Calibri" pitchFamily="34" charset="0"/>
                <a:ea typeface="Calibri" pitchFamily="34" charset="-122"/>
                <a:cs typeface="Calibri" pitchFamily="34" charset="-120"/>
              </a:rPr>
              <a:t>VPS Lakeshore Hospital  ·  FY 2026–27 Annual Operating Plan</a:t>
            </a:r>
            <a:endParaRPr lang="en-US" sz="1800"/>
          </a:p>
        </p:txBody>
      </p:sp>
      <p:sp>
        <p:nvSpPr>
          <p:cNvPr id="33" name="Text 31"/>
          <p:cNvSpPr/>
          <p:nvPr/>
        </p:nvSpPr>
        <p:spPr>
          <a:xfrm>
            <a:off x="777240" y="5989320"/>
            <a:ext cx="7132320" cy="640080"/>
          </a:xfrm>
          <a:prstGeom prst="rect">
            <a:avLst/>
          </a:prstGeom>
          <a:noFill/>
          <a:ln/>
        </p:spPr>
        <p:txBody>
          <a:bodyPr wrap="square" lIns="0" tIns="0" rIns="0" bIns="0" rtlCol="0" anchor="ctr">
            <a:normAutofit/>
          </a:bodyPr>
          <a:lstStyle/>
          <a:p>
            <a:pPr marL="0" indent="0">
              <a:buNone/>
            </a:pPr>
            <a:r>
              <a:rPr lang="en-US" sz="1275" i="1">
                <a:solidFill>
                  <a:srgbClr val="3A5A7A"/>
                </a:solidFill>
                <a:latin typeface="Calibri" pitchFamily="34" charset="0"/>
                <a:ea typeface="Calibri" pitchFamily="34" charset="-122"/>
                <a:cs typeface="Calibri" pitchFamily="34" charset="-120"/>
              </a:rPr>
              <a:t>Strictly confidential. Prepared for chairman-level review only.</a:t>
            </a:r>
            <a:endParaRPr lang="en-US" sz="1275"/>
          </a:p>
          <a:p>
            <a:pPr marL="0" indent="0">
              <a:buNone/>
            </a:pPr>
            <a:r>
              <a:rPr lang="en-US" sz="1275" i="1">
                <a:solidFill>
                  <a:srgbClr val="3A5A7A"/>
                </a:solidFill>
                <a:latin typeface="Calibri" pitchFamily="34" charset="0"/>
                <a:ea typeface="Calibri" pitchFamily="34" charset="-122"/>
                <a:cs typeface="Calibri" pitchFamily="34" charset="-120"/>
              </a:rPr>
              <a:t>All figures ₹ Lakhs unless stated. Office of Strategy, April 2026.</a:t>
            </a:r>
            <a:endParaRPr lang="en-US" sz="1275"/>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5784</Words>
  <Application>Microsoft Office PowerPoint</Application>
  <PresentationFormat>Widescreen</PresentationFormat>
  <Paragraphs>730</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Lakshman Sethuraman</cp:lastModifiedBy>
  <cp:revision>7</cp:revision>
  <dcterms:created xsi:type="dcterms:W3CDTF">2026-05-02T09:16:07Z</dcterms:created>
  <dcterms:modified xsi:type="dcterms:W3CDTF">2026-05-02T11:21:41Z</dcterms:modified>
</cp:coreProperties>
</file>