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6"/>
  </p:notesMasterIdLst>
  <p:sldIdLst>
    <p:sldId id="256" r:id="rId2"/>
    <p:sldId id="317" r:id="rId3"/>
    <p:sldId id="318" r:id="rId4"/>
    <p:sldId id="259" r:id="rId5"/>
    <p:sldId id="319" r:id="rId6"/>
    <p:sldId id="320" r:id="rId7"/>
    <p:sldId id="321" r:id="rId8"/>
    <p:sldId id="322" r:id="rId9"/>
    <p:sldId id="323" r:id="rId10"/>
    <p:sldId id="324" r:id="rId11"/>
    <p:sldId id="266" r:id="rId12"/>
    <p:sldId id="325" r:id="rId13"/>
    <p:sldId id="268" r:id="rId14"/>
    <p:sldId id="29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84" autoAdjust="0"/>
    <p:restoredTop sz="94704"/>
  </p:normalViewPr>
  <p:slideViewPr>
    <p:cSldViewPr snapToGrid="0">
      <p:cViewPr varScale="1">
        <p:scale>
          <a:sx n="130" d="100"/>
          <a:sy n="130" d="100"/>
        </p:scale>
        <p:origin x="13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73420-B20E-491D-8CCD-52E9CC4EB066}" type="datetimeFigureOut">
              <a:rPr lang="en-IN" smtClean="0"/>
              <a:t>29/05/26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E87C4-4308-49B0-91E9-F78FAE69F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972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5600"/>
            <a:ext cx="11277600" cy="711200"/>
          </a:xfrm>
        </p:spPr>
        <p:txBody>
          <a:bodyPr anchor="t" anchorCtr="0"/>
          <a:lstStyle>
            <a:lvl1pPr algn="l">
              <a:defRPr sz="2800" b="1">
                <a:solidFill>
                  <a:srgbClr val="9F003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11277600" cy="5181600"/>
          </a:xfrm>
        </p:spPr>
        <p:txBody>
          <a:bodyPr/>
          <a:lstStyle>
            <a:lvl1pPr algn="just">
              <a:lnSpc>
                <a:spcPct val="120000"/>
              </a:lnSpc>
              <a:defRPr sz="1800"/>
            </a:lvl1pPr>
            <a:lvl2pPr algn="just">
              <a:lnSpc>
                <a:spcPct val="120000"/>
              </a:lnSpc>
              <a:defRPr sz="1600"/>
            </a:lvl2pPr>
            <a:lvl3pPr algn="just">
              <a:lnSpc>
                <a:spcPct val="120000"/>
              </a:lnSpc>
              <a:defRPr sz="1400"/>
            </a:lvl3pPr>
            <a:lvl4pPr algn="just">
              <a:lnSpc>
                <a:spcPct val="120000"/>
              </a:lnSpc>
              <a:defRPr sz="1400"/>
            </a:lvl4pPr>
            <a:lvl5pPr algn="just">
              <a:lnSpc>
                <a:spcPct val="12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F1477-B66A-4167-8D9E-895427517F15}" type="datetimeFigureOut">
              <a:rPr lang="en-IN" smtClean="0"/>
              <a:t>29/05/26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0CD73-B700-43AB-826E-E5DE9E647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821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ctr" anchorCtr="0">
            <a:normAutofit/>
          </a:bodyPr>
          <a:lstStyle>
            <a:lvl1pPr algn="ctr">
              <a:defRPr sz="2800" b="1">
                <a:solidFill>
                  <a:srgbClr val="9F003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algn="just">
              <a:lnSpc>
                <a:spcPct val="120000"/>
              </a:lnSpc>
              <a:defRPr sz="1800"/>
            </a:lvl1pPr>
            <a:lvl2pPr algn="just">
              <a:lnSpc>
                <a:spcPct val="120000"/>
              </a:lnSpc>
              <a:defRPr sz="1600"/>
            </a:lvl2pPr>
            <a:lvl3pPr algn="just">
              <a:lnSpc>
                <a:spcPct val="120000"/>
              </a:lnSpc>
              <a:defRPr sz="1400"/>
            </a:lvl3pPr>
            <a:lvl4pPr algn="just">
              <a:lnSpc>
                <a:spcPct val="120000"/>
              </a:lnSpc>
              <a:defRPr sz="1400"/>
            </a:lvl4pPr>
            <a:lvl5pPr algn="just">
              <a:lnSpc>
                <a:spcPct val="12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F1477-B66A-4167-8D9E-895427517F15}" type="datetimeFigureOut">
              <a:rPr lang="en-IN" smtClean="0"/>
              <a:t>29/05/26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0CD73-B700-43AB-826E-E5DE9E6476A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933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355600"/>
            <a:ext cx="11277600" cy="711200"/>
          </a:xfrm>
        </p:spPr>
        <p:txBody>
          <a:bodyPr anchor="t" anchorCtr="0"/>
          <a:lstStyle>
            <a:lvl1pPr algn="l">
              <a:defRPr sz="2800" b="1">
                <a:solidFill>
                  <a:srgbClr val="9F003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219200"/>
            <a:ext cx="4937760" cy="5181600"/>
          </a:xfrm>
        </p:spPr>
        <p:txBody>
          <a:bodyPr/>
          <a:lstStyle>
            <a:lvl1pPr algn="just">
              <a:lnSpc>
                <a:spcPct val="120000"/>
              </a:lnSpc>
              <a:defRPr sz="1800"/>
            </a:lvl1pPr>
            <a:lvl2pPr algn="just">
              <a:lnSpc>
                <a:spcPct val="120000"/>
              </a:lnSpc>
              <a:defRPr sz="1600"/>
            </a:lvl2pPr>
            <a:lvl3pPr algn="just">
              <a:lnSpc>
                <a:spcPct val="120000"/>
              </a:lnSpc>
              <a:defRPr sz="1400"/>
            </a:lvl3pPr>
            <a:lvl4pPr algn="just">
              <a:lnSpc>
                <a:spcPct val="120000"/>
              </a:lnSpc>
              <a:defRPr sz="1400"/>
            </a:lvl4pPr>
            <a:lvl5pPr algn="just">
              <a:lnSpc>
                <a:spcPct val="12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219200"/>
            <a:ext cx="4937760" cy="5181600"/>
          </a:xfrm>
        </p:spPr>
        <p:txBody>
          <a:bodyPr/>
          <a:lstStyle>
            <a:lvl1pPr algn="just">
              <a:lnSpc>
                <a:spcPct val="120000"/>
              </a:lnSpc>
              <a:defRPr sz="1800"/>
            </a:lvl1pPr>
            <a:lvl2pPr algn="just">
              <a:lnSpc>
                <a:spcPct val="120000"/>
              </a:lnSpc>
              <a:defRPr sz="1600"/>
            </a:lvl2pPr>
            <a:lvl3pPr algn="just">
              <a:lnSpc>
                <a:spcPct val="120000"/>
              </a:lnSpc>
              <a:defRPr sz="1400"/>
            </a:lvl3pPr>
            <a:lvl4pPr algn="just">
              <a:lnSpc>
                <a:spcPct val="120000"/>
              </a:lnSpc>
              <a:defRPr sz="1400"/>
            </a:lvl4pPr>
            <a:lvl5pPr algn="just">
              <a:lnSpc>
                <a:spcPct val="12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F1477-B66A-4167-8D9E-895427517F15}" type="datetimeFigureOut">
              <a:rPr lang="en-IN" smtClean="0"/>
              <a:t>29/05/26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0CD73-B700-43AB-826E-E5DE9E647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676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5600"/>
            <a:ext cx="11277600" cy="711200"/>
          </a:xfrm>
        </p:spPr>
        <p:txBody>
          <a:bodyPr anchor="t" anchorCtr="0"/>
          <a:lstStyle>
            <a:lvl1pPr algn="l">
              <a:defRPr sz="2800" b="1">
                <a:solidFill>
                  <a:srgbClr val="9F003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F1477-B66A-4167-8D9E-895427517F15}" type="datetimeFigureOut">
              <a:rPr lang="en-IN" smtClean="0"/>
              <a:t>29/05/26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0CD73-B700-43AB-826E-E5DE9E647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20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EA4D80F-F03F-4D92-002B-12E317386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5600"/>
            <a:ext cx="11277600" cy="711200"/>
          </a:xfrm>
        </p:spPr>
        <p:txBody>
          <a:bodyPr anchor="t" anchorCtr="0"/>
          <a:lstStyle>
            <a:lvl1pPr algn="l">
              <a:defRPr sz="2800" b="1">
                <a:solidFill>
                  <a:srgbClr val="9F003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VPS Logo">
            <a:extLst>
              <a:ext uri="{FF2B5EF4-FFF2-40B4-BE49-F238E27FC236}">
                <a16:creationId xmlns:a16="http://schemas.microsoft.com/office/drawing/2014/main" id="{A6C1C995-AC65-B3F7-7577-2821544EAB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4400" y="177800"/>
            <a:ext cx="889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73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08C283A-DE4E-073B-9BE0-970FB390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5600"/>
            <a:ext cx="11277600" cy="711200"/>
          </a:xfrm>
        </p:spPr>
        <p:txBody>
          <a:bodyPr anchor="t" anchorCtr="0"/>
          <a:lstStyle>
            <a:lvl1pPr algn="l">
              <a:defRPr sz="2800" b="1">
                <a:solidFill>
                  <a:srgbClr val="9F003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VPS Logo">
            <a:extLst>
              <a:ext uri="{FF2B5EF4-FFF2-40B4-BE49-F238E27FC236}">
                <a16:creationId xmlns:a16="http://schemas.microsoft.com/office/drawing/2014/main" id="{E9D576B1-37EB-F64C-E414-8F5B699356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4400" y="177800"/>
            <a:ext cx="889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77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3" name="VPS Logo">
            <a:extLst>
              <a:ext uri="{FF2B5EF4-FFF2-40B4-BE49-F238E27FC236}">
                <a16:creationId xmlns:a16="http://schemas.microsoft.com/office/drawing/2014/main" id="{BB8AAA84-9760-BDBF-31DE-3349F92CDB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4400" y="177800"/>
            <a:ext cx="889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162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3" name="VPS Logo">
            <a:extLst>
              <a:ext uri="{FF2B5EF4-FFF2-40B4-BE49-F238E27FC236}">
                <a16:creationId xmlns:a16="http://schemas.microsoft.com/office/drawing/2014/main" id="{B730DD40-3B81-4B46-94F1-92C79EF4B2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4400" y="177800"/>
            <a:ext cx="889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54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3" name="VPS Logo">
            <a:extLst>
              <a:ext uri="{FF2B5EF4-FFF2-40B4-BE49-F238E27FC236}">
                <a16:creationId xmlns:a16="http://schemas.microsoft.com/office/drawing/2014/main" id="{562FFD96-0A96-6EB9-E800-66903DFFAC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4400" y="177800"/>
            <a:ext cx="889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11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3" name="VPS Logo">
            <a:extLst>
              <a:ext uri="{FF2B5EF4-FFF2-40B4-BE49-F238E27FC236}">
                <a16:creationId xmlns:a16="http://schemas.microsoft.com/office/drawing/2014/main" id="{326116F7-F91A-811B-0A5A-1336726D94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4400" y="177800"/>
            <a:ext cx="889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78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3" name="VPS Logo">
            <a:extLst>
              <a:ext uri="{FF2B5EF4-FFF2-40B4-BE49-F238E27FC236}">
                <a16:creationId xmlns:a16="http://schemas.microsoft.com/office/drawing/2014/main" id="{B0B44D92-4F09-6154-F894-683252BD1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4400" y="177800"/>
            <a:ext cx="889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3" name="VPS Logo">
            <a:extLst>
              <a:ext uri="{FF2B5EF4-FFF2-40B4-BE49-F238E27FC236}">
                <a16:creationId xmlns:a16="http://schemas.microsoft.com/office/drawing/2014/main" id="{0323FB9C-F9C9-B43B-7B99-0703E15C67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4400" y="177800"/>
            <a:ext cx="889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24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3" name="VPS Logo">
            <a:extLst>
              <a:ext uri="{FF2B5EF4-FFF2-40B4-BE49-F238E27FC236}">
                <a16:creationId xmlns:a16="http://schemas.microsoft.com/office/drawing/2014/main" id="{94B28A2F-8298-908D-A016-C350EA147E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4400" y="177800"/>
            <a:ext cx="889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6214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3" name="VPS Logo">
            <a:extLst>
              <a:ext uri="{FF2B5EF4-FFF2-40B4-BE49-F238E27FC236}">
                <a16:creationId xmlns:a16="http://schemas.microsoft.com/office/drawing/2014/main" id="{A2275415-8308-29F7-9A18-8F4207A56A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4400" y="177800"/>
            <a:ext cx="889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632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3" name="VPS Logo">
            <a:extLst>
              <a:ext uri="{FF2B5EF4-FFF2-40B4-BE49-F238E27FC236}">
                <a16:creationId xmlns:a16="http://schemas.microsoft.com/office/drawing/2014/main" id="{A431063E-A4C6-CFF0-1DF1-C16B5DA122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4400" y="177800"/>
            <a:ext cx="889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016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3" name="VPS Logo">
            <a:extLst>
              <a:ext uri="{FF2B5EF4-FFF2-40B4-BE49-F238E27FC236}">
                <a16:creationId xmlns:a16="http://schemas.microsoft.com/office/drawing/2014/main" id="{7A34A865-C856-C0A4-C677-69658F4B5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4400" y="177800"/>
            <a:ext cx="889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1804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3" name="VPS Logo">
            <a:extLst>
              <a:ext uri="{FF2B5EF4-FFF2-40B4-BE49-F238E27FC236}">
                <a16:creationId xmlns:a16="http://schemas.microsoft.com/office/drawing/2014/main" id="{F933D070-73F5-492B-3C5C-EADD51BD63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4400" y="177800"/>
            <a:ext cx="8890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27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84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083" y="1278467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3EF1477-B66A-4167-8D9E-895427517F15}" type="datetimeFigureOut">
              <a:rPr lang="en-IN" smtClean="0"/>
              <a:t>29/05/26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E10CD73-B700-43AB-826E-E5DE9E6476A3}" type="slidenum">
              <a:rPr lang="en-IN" smtClean="0"/>
              <a:t>‹#›</a:t>
            </a:fld>
            <a:endParaRPr lang="en-IN"/>
          </a:p>
        </p:txBody>
      </p:sp>
      <p:pic>
        <p:nvPicPr>
          <p:cNvPr id="900" name="VPS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74400" y="177800"/>
            <a:ext cx="889000" cy="584200"/>
          </a:xfrm>
          <a:prstGeom prst="rect">
            <a:avLst/>
          </a:prstGeom>
        </p:spPr>
      </p:pic>
      <p:sp>
        <p:nvSpPr>
          <p:cNvPr id="901" name="VPS Accent Bar"/>
          <p:cNvSpPr/>
          <p:nvPr userDrawn="1"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71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6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1" kern="1200" spc="-50" baseline="0">
          <a:solidFill>
            <a:srgbClr val="9F003A"/>
          </a:solidFill>
          <a:latin typeface="+mj-lt"/>
          <a:ea typeface="+mj-ea"/>
          <a:cs typeface="+mj-cs"/>
        </a:defRPr>
      </a:lvl1pPr>
    </p:titleStyle>
    <p:bodyStyle>
      <a:lvl1pPr marL="91440" indent="-91440" algn="just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just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just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just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just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456" y="141685"/>
            <a:ext cx="4383088" cy="657463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61493" y="1739305"/>
            <a:ext cx="4121844" cy="355203"/>
          </a:xfrm>
          <a:prstGeom prst="roundRect">
            <a:avLst>
              <a:gd name="adj" fmla="val 17880"/>
            </a:avLst>
          </a:prstGeom>
          <a:solidFill>
            <a:srgbClr val="D8E2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1"/>
          <p:cNvSpPr/>
          <p:nvPr/>
        </p:nvSpPr>
        <p:spPr>
          <a:xfrm>
            <a:off x="774899" y="1795959"/>
            <a:ext cx="4504631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AUDIT &amp; STRATEGIC RECOMMENDATIONS</a:t>
            </a:r>
            <a:endParaRPr lang="en-US" sz="1133" dirty="0"/>
          </a:p>
        </p:txBody>
      </p:sp>
      <p:sp>
        <p:nvSpPr>
          <p:cNvPr id="6" name="Text 2"/>
          <p:cNvSpPr/>
          <p:nvPr/>
        </p:nvSpPr>
        <p:spPr>
          <a:xfrm>
            <a:off x="661493" y="2170112"/>
            <a:ext cx="6297017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667" b="1" dirty="0">
                <a:solidFill>
                  <a:schemeClr val="accent2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Operation Theatre: Clarification, Gap Analysis, Benchmark &amp; Best Practices</a:t>
            </a:r>
            <a:endParaRPr lang="en-US" sz="3667" dirty="0">
              <a:solidFill>
                <a:schemeClr val="accent2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661493" y="4816177"/>
            <a:ext cx="69066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b="1" dirty="0">
                <a:solidFill>
                  <a:srgbClr val="4371C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VPS Lakeshore Hospital</a:t>
            </a: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 |  FY 2025–26</a:t>
            </a:r>
            <a:endParaRPr lang="en-US" sz="14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6831" y="467221"/>
            <a:ext cx="4301431" cy="461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67" b="1" dirty="0">
                <a:solidFill>
                  <a:schemeClr val="accent2"/>
                </a:solidFill>
                <a:latin typeface="Aptos" panose="020B0004020202020204" pitchFamily="34" charset="0"/>
                <a:ea typeface="Mona Sans Bold" pitchFamily="34" charset="-122"/>
                <a:cs typeface="Mona Sans Bold" pitchFamily="34" charset="-120"/>
              </a:rPr>
              <a:t>Agenda</a:t>
            </a:r>
            <a:endParaRPr lang="en-US" sz="2867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6832" y="1159371"/>
            <a:ext cx="1167516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133" dirty="0">
                <a:solidFill>
                  <a:srgbClr val="000000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This audit covers five structured domains — from defining the methodology to delivering actionable strategic recommendations for OT excellence at VPS Lakeshore.</a:t>
            </a:r>
            <a:endParaRPr lang="en-US" sz="1133" dirty="0">
              <a:latin typeface="Aptos" panose="020B00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31" y="1499493"/>
            <a:ext cx="11158339" cy="886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1822" y="1666181"/>
            <a:ext cx="2927449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ptos" panose="020B0004020202020204" pitchFamily="34" charset="0"/>
                <a:ea typeface="Mona Sans Bold" pitchFamily="34" charset="-122"/>
                <a:cs typeface="Mona Sans Bold" pitchFamily="34" charset="-120"/>
              </a:rPr>
              <a:t>Objective, Scope &amp; Methodology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41822" y="1966020"/>
            <a:ext cx="1026666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133" dirty="0">
                <a:solidFill>
                  <a:srgbClr val="000000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Audit framework, domains, and approach</a:t>
            </a:r>
            <a:endParaRPr lang="en-US" sz="1133" dirty="0">
              <a:latin typeface="Aptos" panose="020B00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31" y="2500808"/>
            <a:ext cx="11158339" cy="886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1822" y="2667497"/>
            <a:ext cx="2041327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ptos" panose="020B0004020202020204" pitchFamily="34" charset="0"/>
                <a:ea typeface="Mona Sans Bold" pitchFamily="34" charset="-122"/>
                <a:cs typeface="Mona Sans Bold" pitchFamily="34" charset="-120"/>
              </a:rPr>
              <a:t>OT Utilization Analysis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241822" y="2967335"/>
            <a:ext cx="1026666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133" dirty="0">
                <a:solidFill>
                  <a:srgbClr val="000000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Theatre-wise and specialty-wise benchmarking</a:t>
            </a:r>
            <a:endParaRPr lang="en-US" sz="1133" dirty="0">
              <a:latin typeface="Aptos" panose="020B00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831" y="3502124"/>
            <a:ext cx="11158339" cy="8860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41822" y="3668813"/>
            <a:ext cx="191770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ptos" panose="020B0004020202020204" pitchFamily="34" charset="0"/>
                <a:ea typeface="Mona Sans Bold" pitchFamily="34" charset="-122"/>
                <a:cs typeface="Mona Sans Bold" pitchFamily="34" charset="-120"/>
              </a:rPr>
              <a:t>Peak Hour Utilization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241822" y="3968651"/>
            <a:ext cx="1026666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133" dirty="0">
                <a:solidFill>
                  <a:srgbClr val="000000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High-demand windows and capacity stress points</a:t>
            </a:r>
            <a:endParaRPr lang="en-US" sz="1133" dirty="0">
              <a:latin typeface="Aptos" panose="020B00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831" y="4503440"/>
            <a:ext cx="11158339" cy="8860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41822" y="4670129"/>
            <a:ext cx="358497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ptos" panose="020B0004020202020204" pitchFamily="34" charset="0"/>
                <a:ea typeface="Mona Sans Bold" pitchFamily="34" charset="-122"/>
                <a:cs typeface="Mona Sans Bold" pitchFamily="34" charset="-120"/>
              </a:rPr>
              <a:t>Gap Identification &amp; Recommendations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241822" y="4969967"/>
            <a:ext cx="1026666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133" dirty="0">
                <a:solidFill>
                  <a:srgbClr val="000000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Bottlenecks, root causes, and action plans</a:t>
            </a:r>
            <a:endParaRPr lang="en-US" sz="1133" dirty="0">
              <a:latin typeface="Aptos" panose="020B0004020202020204" pitchFamily="3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831" y="5504756"/>
            <a:ext cx="11158339" cy="88602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41822" y="5671443"/>
            <a:ext cx="3436839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ptos" panose="020B0004020202020204" pitchFamily="34" charset="0"/>
                <a:ea typeface="Mona Sans Bold" pitchFamily="34" charset="-122"/>
                <a:cs typeface="Mona Sans Bold" pitchFamily="34" charset="-120"/>
              </a:rPr>
              <a:t>Strategic Overview &amp; Key Focus Areas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1241822" y="5971283"/>
            <a:ext cx="1026666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US" sz="1133" dirty="0">
                <a:solidFill>
                  <a:srgbClr val="000000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Priority actions for OT excellence</a:t>
            </a:r>
            <a:endParaRPr lang="en-US" sz="1133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889497"/>
            <a:ext cx="53350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67" b="1" dirty="0">
                <a:solidFill>
                  <a:schemeClr val="accent2"/>
                </a:solidFill>
                <a:latin typeface="Aptos" panose="020B0004020202020204" pitchFamily="34" charset="0"/>
                <a:ea typeface="Mona Sans Bold" pitchFamily="34" charset="-122"/>
              </a:rPr>
              <a:t>Objective &amp; Scope</a:t>
            </a:r>
          </a:p>
        </p:txBody>
      </p:sp>
      <p:sp>
        <p:nvSpPr>
          <p:cNvPr id="3" name="Text 1"/>
          <p:cNvSpPr/>
          <p:nvPr/>
        </p:nvSpPr>
        <p:spPr>
          <a:xfrm>
            <a:off x="661493" y="1858170"/>
            <a:ext cx="10869017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conduct a </a:t>
            </a:r>
            <a:r>
              <a:rPr lang="en-US" sz="1467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audit of OT services</a:t>
            </a: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a focus on clinical quality, patient safety, operational efficiency, and process compliance — identifying system gaps and delivering strategic, actionable recommendations for FY 2025–26.</a:t>
            </a:r>
            <a:endParaRPr lang="en-US" sz="1467" dirty="0"/>
          </a:p>
        </p:txBody>
      </p:sp>
      <p:sp>
        <p:nvSpPr>
          <p:cNvPr id="4" name="Shape 2"/>
          <p:cNvSpPr/>
          <p:nvPr/>
        </p:nvSpPr>
        <p:spPr>
          <a:xfrm>
            <a:off x="661492" y="2675633"/>
            <a:ext cx="2575421" cy="2001937"/>
          </a:xfrm>
          <a:prstGeom prst="roundRect">
            <a:avLst>
              <a:gd name="adj" fmla="val 3966"/>
            </a:avLst>
          </a:prstGeom>
          <a:solidFill>
            <a:srgbClr val="D8E2F3"/>
          </a:solidFill>
          <a:ln w="4763">
            <a:solidFill>
              <a:srgbClr val="BEC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56854" y="2870994"/>
            <a:ext cx="2184697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Surgical Safety Checklist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6854" y="3574951"/>
            <a:ext cx="2184697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 checklist adherence across all theatres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3425924" y="2675633"/>
            <a:ext cx="2575520" cy="2001937"/>
          </a:xfrm>
          <a:prstGeom prst="roundRect">
            <a:avLst>
              <a:gd name="adj" fmla="val 3966"/>
            </a:avLst>
          </a:prstGeom>
          <a:solidFill>
            <a:srgbClr val="D8E2F3"/>
          </a:solidFill>
          <a:ln w="4763">
            <a:solidFill>
              <a:srgbClr val="BEC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3621286" y="2870994"/>
            <a:ext cx="2184797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Sterilization &amp; Asepsis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21286" y="3574951"/>
            <a:ext cx="21847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Disinfection, aseptic practice, and infection control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6190456" y="2675633"/>
            <a:ext cx="2575520" cy="2001937"/>
          </a:xfrm>
          <a:prstGeom prst="roundRect">
            <a:avLst>
              <a:gd name="adj" fmla="val 3966"/>
            </a:avLst>
          </a:prstGeom>
          <a:solidFill>
            <a:srgbClr val="D8E2F3"/>
          </a:solidFill>
          <a:ln w="4763">
            <a:solidFill>
              <a:srgbClr val="BEC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385818" y="2870994"/>
            <a:ext cx="2184797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Scheduling &amp; Workflow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85818" y="3574951"/>
            <a:ext cx="2184797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 scheduling, utilization, and patient flow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8954988" y="2675633"/>
            <a:ext cx="2575520" cy="2001937"/>
          </a:xfrm>
          <a:prstGeom prst="roundRect">
            <a:avLst>
              <a:gd name="adj" fmla="val 3966"/>
            </a:avLst>
          </a:prstGeom>
          <a:solidFill>
            <a:srgbClr val="D8E2F3"/>
          </a:solidFill>
          <a:ln w="4763">
            <a:solidFill>
              <a:srgbClr val="BEC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9150351" y="2870993"/>
            <a:ext cx="21847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Turnaround Time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150351" y="3279676"/>
            <a:ext cx="21847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Inter-procedure intervals and theatre reset efficiency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661493" y="4866580"/>
            <a:ext cx="10869017" cy="1101824"/>
          </a:xfrm>
          <a:prstGeom prst="roundRect">
            <a:avLst>
              <a:gd name="adj" fmla="val 7205"/>
            </a:avLst>
          </a:prstGeom>
          <a:solidFill>
            <a:srgbClr val="D8E2F3"/>
          </a:solidFill>
          <a:ln w="4763">
            <a:solidFill>
              <a:srgbClr val="BEC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856854" y="5061943"/>
            <a:ext cx="286345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Manpower &amp; Role Clarity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56854" y="5470624"/>
            <a:ext cx="104782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Staffing ratios, deployment, and responsibility alignment</a:t>
            </a:r>
            <a:endParaRPr lang="en-US" sz="146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126" y="316707"/>
            <a:ext cx="3489225" cy="359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67" b="1" dirty="0">
                <a:solidFill>
                  <a:schemeClr val="accent2"/>
                </a:solidFill>
                <a:latin typeface="Aptos" panose="020B0004020202020204" pitchFamily="34" charset="0"/>
                <a:ea typeface="Mona Sans Bold" pitchFamily="34" charset="-122"/>
              </a:rPr>
              <a:t>Methodology</a:t>
            </a:r>
          </a:p>
        </p:txBody>
      </p:sp>
      <p:sp>
        <p:nvSpPr>
          <p:cNvPr id="3" name="Text 1"/>
          <p:cNvSpPr/>
          <p:nvPr/>
        </p:nvSpPr>
        <p:spPr>
          <a:xfrm>
            <a:off x="403126" y="816869"/>
            <a:ext cx="11385748" cy="296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8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structured, </a:t>
            </a:r>
            <a:r>
              <a:rPr lang="en-US" sz="867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five-phase approach</a:t>
            </a:r>
            <a:r>
              <a:rPr lang="en-US" sz="8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was applied to assess the current state of OT operations and build an evidence-based path to improvement. Each phase builds on the previous, ensuring findings are clinically and operationally grounded.</a:t>
            </a:r>
            <a:endParaRPr lang="en-US" sz="86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26" y="1192212"/>
            <a:ext cx="11385748" cy="51235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13397" y="1453248"/>
            <a:ext cx="2297295" cy="30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9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Assessment</a:t>
            </a:r>
            <a:endParaRPr lang="en-US" sz="1933" dirty="0"/>
          </a:p>
        </p:txBody>
      </p:sp>
      <p:sp>
        <p:nvSpPr>
          <p:cNvPr id="6" name="Text 3"/>
          <p:cNvSpPr/>
          <p:nvPr/>
        </p:nvSpPr>
        <p:spPr>
          <a:xfrm>
            <a:off x="2118197" y="1848738"/>
            <a:ext cx="1992495" cy="396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84000"/>
              </a:lnSpc>
            </a:pPr>
            <a:r>
              <a:rPr lang="en-US" sz="15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gathering and site observation</a:t>
            </a:r>
            <a:endParaRPr lang="en-US" sz="1533" dirty="0"/>
          </a:p>
        </p:txBody>
      </p:sp>
      <p:sp>
        <p:nvSpPr>
          <p:cNvPr id="7" name="Text 4"/>
          <p:cNvSpPr/>
          <p:nvPr/>
        </p:nvSpPr>
        <p:spPr>
          <a:xfrm>
            <a:off x="4088795" y="5141963"/>
            <a:ext cx="2003443" cy="615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9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Gap Identification</a:t>
            </a:r>
            <a:endParaRPr lang="en-US" sz="1933" dirty="0"/>
          </a:p>
        </p:txBody>
      </p:sp>
      <p:sp>
        <p:nvSpPr>
          <p:cNvPr id="8" name="Text 5"/>
          <p:cNvSpPr/>
          <p:nvPr/>
        </p:nvSpPr>
        <p:spPr>
          <a:xfrm>
            <a:off x="4088795" y="5845358"/>
            <a:ext cx="2003443" cy="396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84000"/>
              </a:lnSpc>
            </a:pPr>
            <a:r>
              <a:rPr lang="en-US" sz="15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 variances from standards</a:t>
            </a:r>
            <a:endParaRPr lang="en-US" sz="1533" dirty="0"/>
          </a:p>
        </p:txBody>
      </p:sp>
      <p:sp>
        <p:nvSpPr>
          <p:cNvPr id="9" name="Text 6"/>
          <p:cNvSpPr/>
          <p:nvPr/>
        </p:nvSpPr>
        <p:spPr>
          <a:xfrm>
            <a:off x="5732698" y="1414931"/>
            <a:ext cx="2297295" cy="30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9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Cause Analysis</a:t>
            </a:r>
            <a:endParaRPr lang="en-US" sz="1933" dirty="0"/>
          </a:p>
        </p:txBody>
      </p:sp>
      <p:sp>
        <p:nvSpPr>
          <p:cNvPr id="10" name="Text 7"/>
          <p:cNvSpPr/>
          <p:nvPr/>
        </p:nvSpPr>
        <p:spPr>
          <a:xfrm>
            <a:off x="6037498" y="1810421"/>
            <a:ext cx="1992495" cy="396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84000"/>
              </a:lnSpc>
            </a:pPr>
            <a:r>
              <a:rPr lang="en-US" sz="15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 root causes and contributors</a:t>
            </a:r>
            <a:endParaRPr lang="en-US" sz="1533" dirty="0"/>
          </a:p>
        </p:txBody>
      </p:sp>
      <p:sp>
        <p:nvSpPr>
          <p:cNvPr id="11" name="Text 8"/>
          <p:cNvSpPr/>
          <p:nvPr/>
        </p:nvSpPr>
        <p:spPr>
          <a:xfrm>
            <a:off x="7703297" y="5295916"/>
            <a:ext cx="2297295" cy="30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9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Action Plan</a:t>
            </a:r>
            <a:endParaRPr lang="en-US" sz="1933" dirty="0"/>
          </a:p>
        </p:txBody>
      </p:sp>
      <p:sp>
        <p:nvSpPr>
          <p:cNvPr id="12" name="Text 9"/>
          <p:cNvSpPr/>
          <p:nvPr/>
        </p:nvSpPr>
        <p:spPr>
          <a:xfrm>
            <a:off x="8008097" y="5691405"/>
            <a:ext cx="1992495" cy="396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84000"/>
              </a:lnSpc>
            </a:pPr>
            <a:r>
              <a:rPr lang="en-US" sz="15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recommendations</a:t>
            </a:r>
            <a:endParaRPr lang="en-US" sz="1533" dirty="0"/>
          </a:p>
        </p:txBody>
      </p:sp>
      <p:sp>
        <p:nvSpPr>
          <p:cNvPr id="13" name="Text 10"/>
          <p:cNvSpPr/>
          <p:nvPr/>
        </p:nvSpPr>
        <p:spPr>
          <a:xfrm>
            <a:off x="403125" y="6394649"/>
            <a:ext cx="1178887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7000"/>
              </a:lnSpc>
            </a:pPr>
            <a:r>
              <a:rPr lang="en-US" sz="8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Findings are cross-referenced with national and international OT benchmarks, NABH standards, and best-practice frameworks to ensure recommendations are both credible and implementable.</a:t>
            </a:r>
            <a:endParaRPr lang="en-US" sz="8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605732"/>
            <a:ext cx="674717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67" b="1" dirty="0">
                <a:solidFill>
                  <a:schemeClr val="accent2"/>
                </a:solidFill>
                <a:latin typeface="Aptos" panose="020B0004020202020204" pitchFamily="34" charset="0"/>
                <a:ea typeface="Mona Sans Bold" pitchFamily="34" charset="-122"/>
              </a:rPr>
              <a:t>OT Utilization — Key Metric</a:t>
            </a:r>
          </a:p>
        </p:txBody>
      </p:sp>
      <p:sp>
        <p:nvSpPr>
          <p:cNvPr id="3" name="Shape 1"/>
          <p:cNvSpPr/>
          <p:nvPr/>
        </p:nvSpPr>
        <p:spPr>
          <a:xfrm>
            <a:off x="525364" y="1479848"/>
            <a:ext cx="4909641" cy="4772323"/>
          </a:xfrm>
          <a:prstGeom prst="roundRect">
            <a:avLst>
              <a:gd name="adj" fmla="val 2852"/>
            </a:avLst>
          </a:prstGeom>
          <a:solidFill>
            <a:srgbClr val="4371C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14376" y="1668860"/>
            <a:ext cx="5141217" cy="118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7400" b="1" dirty="0">
                <a:solidFill>
                  <a:srgbClr val="FFFFFF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23.55%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714376" y="3039269"/>
            <a:ext cx="3065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 dirty="0">
                <a:solidFill>
                  <a:srgbClr val="FFFFFF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Overall OT Utilization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4376" y="3523556"/>
            <a:ext cx="4531617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FY 2025–26 baseline across all theatres — well below benchmark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5766395" y="1668860"/>
            <a:ext cx="29722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 dirty="0">
                <a:solidFill>
                  <a:srgbClr val="BF0202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Utilization Formula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66395" y="2153147"/>
            <a:ext cx="5770364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 Utilization % =</a:t>
            </a: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(Total OT Used Time ÷ Total Available OT Time) × 100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5766395" y="3017838"/>
            <a:ext cx="5770364" cy="14089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5766395" y="3291781"/>
            <a:ext cx="5770364" cy="2747764"/>
          </a:xfrm>
          <a:prstGeom prst="roundRect">
            <a:avLst>
              <a:gd name="adj" fmla="val 288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5961758" y="3417888"/>
            <a:ext cx="31072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Parameter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8843765" y="3417888"/>
            <a:ext cx="31072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5961758" y="3966171"/>
            <a:ext cx="31072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 1–8, 11, 12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8843765" y="3966171"/>
            <a:ext cx="31072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hrs/day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5961758" y="4514453"/>
            <a:ext cx="31072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 9 and 10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8843765" y="4514453"/>
            <a:ext cx="31072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8:30 AM–7:30 PM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5961758" y="5062736"/>
            <a:ext cx="31072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Utilized Time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8843765" y="5062736"/>
            <a:ext cx="31072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Room occupied time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5961758" y="5611019"/>
            <a:ext cx="31072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Emergency Hours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8843765" y="5611019"/>
            <a:ext cx="31072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Included</a:t>
            </a:r>
            <a:endParaRPr lang="en-US" sz="14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799" y="529133"/>
            <a:ext cx="7416304" cy="544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67" b="1" dirty="0">
                <a:solidFill>
                  <a:schemeClr val="accent2"/>
                </a:solidFill>
                <a:latin typeface="Aptos" panose="020B0004020202020204" pitchFamily="34" charset="0"/>
                <a:ea typeface="Mona Sans Bold" pitchFamily="34" charset="-122"/>
              </a:rPr>
              <a:t>Overall Utilization — FY 2025–26</a:t>
            </a:r>
          </a:p>
        </p:txBody>
      </p:sp>
      <p:sp>
        <p:nvSpPr>
          <p:cNvPr id="3" name="Text 1"/>
          <p:cNvSpPr/>
          <p:nvPr/>
        </p:nvSpPr>
        <p:spPr>
          <a:xfrm>
            <a:off x="609799" y="1394917"/>
            <a:ext cx="10972403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Month-wise analysis shows consistently </a:t>
            </a:r>
            <a:r>
              <a:rPr lang="en-US" sz="1333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OT utilization</a:t>
            </a: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all theatres in FY 2025–26. At 23.55%, performance is critically below the 70–80% industry benchmark.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609799" y="2198291"/>
            <a:ext cx="5385792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467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23.55%</a:t>
            </a:r>
            <a:endParaRPr lang="en-US" sz="4467" dirty="0"/>
          </a:p>
        </p:txBody>
      </p:sp>
      <p:sp>
        <p:nvSpPr>
          <p:cNvPr id="5" name="Text 3"/>
          <p:cNvSpPr/>
          <p:nvPr/>
        </p:nvSpPr>
        <p:spPr>
          <a:xfrm>
            <a:off x="2213571" y="2980928"/>
            <a:ext cx="217814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67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OT Utilization</a:t>
            </a:r>
            <a:endParaRPr lang="en-US" sz="1667" dirty="0"/>
          </a:p>
        </p:txBody>
      </p:sp>
      <p:sp>
        <p:nvSpPr>
          <p:cNvPr id="6" name="Text 4"/>
          <p:cNvSpPr/>
          <p:nvPr/>
        </p:nvSpPr>
        <p:spPr>
          <a:xfrm>
            <a:off x="609799" y="3349427"/>
            <a:ext cx="5385792" cy="26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8000"/>
              </a:lnSpc>
            </a:pP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all theatres, FY 25–26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6196311" y="2198291"/>
            <a:ext cx="5385892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467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12</a:t>
            </a:r>
            <a:endParaRPr lang="en-US" sz="4467" dirty="0"/>
          </a:p>
        </p:txBody>
      </p:sp>
      <p:sp>
        <p:nvSpPr>
          <p:cNvPr id="8" name="Text 6"/>
          <p:cNvSpPr/>
          <p:nvPr/>
        </p:nvSpPr>
        <p:spPr>
          <a:xfrm>
            <a:off x="7800182" y="2980928"/>
            <a:ext cx="217814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67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OT Theatres</a:t>
            </a:r>
            <a:endParaRPr lang="en-US" sz="1667" dirty="0"/>
          </a:p>
        </p:txBody>
      </p:sp>
      <p:sp>
        <p:nvSpPr>
          <p:cNvPr id="9" name="Text 7"/>
          <p:cNvSpPr/>
          <p:nvPr/>
        </p:nvSpPr>
        <p:spPr>
          <a:xfrm>
            <a:off x="6196311" y="3349427"/>
            <a:ext cx="5385892" cy="26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8000"/>
              </a:lnSpc>
            </a:pP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 1–12 under assessment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609799" y="4025603"/>
            <a:ext cx="5385792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467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~70%</a:t>
            </a:r>
            <a:endParaRPr lang="en-US" sz="4467" dirty="0"/>
          </a:p>
        </p:txBody>
      </p:sp>
      <p:sp>
        <p:nvSpPr>
          <p:cNvPr id="11" name="Text 9"/>
          <p:cNvSpPr/>
          <p:nvPr/>
        </p:nvSpPr>
        <p:spPr>
          <a:xfrm>
            <a:off x="2213571" y="4808240"/>
            <a:ext cx="217814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67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Benchmark Target</a:t>
            </a:r>
            <a:endParaRPr lang="en-US" sz="1667" dirty="0"/>
          </a:p>
        </p:txBody>
      </p:sp>
      <p:sp>
        <p:nvSpPr>
          <p:cNvPr id="12" name="Text 10"/>
          <p:cNvSpPr/>
          <p:nvPr/>
        </p:nvSpPr>
        <p:spPr>
          <a:xfrm>
            <a:off x="609799" y="5176739"/>
            <a:ext cx="5385792" cy="26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8000"/>
              </a:lnSpc>
            </a:pP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Industry standard for high performance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6196311" y="4025603"/>
            <a:ext cx="5385892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467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3x</a:t>
            </a:r>
            <a:endParaRPr lang="en-US" sz="4467" dirty="0"/>
          </a:p>
        </p:txBody>
      </p:sp>
      <p:sp>
        <p:nvSpPr>
          <p:cNvPr id="14" name="Text 12"/>
          <p:cNvSpPr/>
          <p:nvPr/>
        </p:nvSpPr>
        <p:spPr>
          <a:xfrm>
            <a:off x="7733407" y="4808240"/>
            <a:ext cx="231159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67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Improvement Needed</a:t>
            </a:r>
            <a:endParaRPr lang="en-US" sz="1667" dirty="0"/>
          </a:p>
        </p:txBody>
      </p:sp>
      <p:sp>
        <p:nvSpPr>
          <p:cNvPr id="15" name="Text 13"/>
          <p:cNvSpPr/>
          <p:nvPr/>
        </p:nvSpPr>
        <p:spPr>
          <a:xfrm>
            <a:off x="6196311" y="5176739"/>
            <a:ext cx="5385892" cy="26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8000"/>
              </a:lnSpc>
            </a:pP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Utilization must triple to meet target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609799" y="5625207"/>
            <a:ext cx="10972403" cy="703660"/>
          </a:xfrm>
          <a:prstGeom prst="roundRect">
            <a:avLst>
              <a:gd name="adj" fmla="val 10401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28" y="5880994"/>
            <a:ext cx="217785" cy="17422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76040" y="5829399"/>
            <a:ext cx="10841533" cy="26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sz="1333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Alert:</a:t>
            </a: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Overall utilization at 23.55% is well below the 70–80% industry standard and requires immediate intervention.</a:t>
            </a:r>
            <a:endParaRPr lang="en-US" sz="13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753" y="288727"/>
            <a:ext cx="3638252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67" b="1" dirty="0">
                <a:solidFill>
                  <a:schemeClr val="accent2"/>
                </a:solidFill>
                <a:latin typeface="Aptos" panose="020B0004020202020204" pitchFamily="34" charset="0"/>
                <a:ea typeface="Mona Sans Bold" pitchFamily="34" charset="-122"/>
              </a:rPr>
              <a:t>Theatre-wise Utilization</a:t>
            </a:r>
          </a:p>
        </p:txBody>
      </p:sp>
      <p:sp>
        <p:nvSpPr>
          <p:cNvPr id="3" name="Text 1"/>
          <p:cNvSpPr/>
          <p:nvPr/>
        </p:nvSpPr>
        <p:spPr>
          <a:xfrm>
            <a:off x="361752" y="724794"/>
            <a:ext cx="11830248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3000"/>
              </a:lnSpc>
            </a:pP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Analysis of </a:t>
            </a:r>
            <a:r>
              <a:rPr lang="en-US" sz="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case count</a:t>
            </a: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time-based utilization</a:t>
            </a: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 theatre shows uneven workload distribution across the facility.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053" y="979686"/>
            <a:ext cx="6206828" cy="5777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5840" y="1095672"/>
            <a:ext cx="200788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0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OT 9 &amp; OT 10 — Restricted Hours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15839" y="1313558"/>
            <a:ext cx="5924053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3000"/>
              </a:lnSpc>
            </a:pP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8:30 AM–7:30 PM schedule, but </a:t>
            </a:r>
            <a:r>
              <a:rPr lang="en-US" sz="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 utilization per hour</a:t>
            </a: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suggests better scheduling.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053" y="1613893"/>
            <a:ext cx="6206828" cy="5777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5839" y="1729879"/>
            <a:ext cx="2033984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0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OT 1–8, 11, 12 — 24-Hour Theatres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15839" y="1947763"/>
            <a:ext cx="5924053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3000"/>
              </a:lnSpc>
            </a:pP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Full-day availability yet </a:t>
            </a:r>
            <a:r>
              <a:rPr lang="en-US" sz="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utilization</a:t>
            </a: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pointing to posting and allocation inefficiencies.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053" y="2248099"/>
            <a:ext cx="6206828" cy="5777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5839" y="2364086"/>
            <a:ext cx="1632347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000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Priority Recommendation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15839" y="2581970"/>
            <a:ext cx="5924053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3000"/>
              </a:lnSpc>
            </a:pP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Rebalance theatres using </a:t>
            </a:r>
            <a:r>
              <a:rPr lang="en-US" sz="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specialty demand, case volume,</a:t>
            </a: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procedure complexity data.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6814443" y="979685"/>
            <a:ext cx="5022056" cy="440432"/>
          </a:xfrm>
          <a:prstGeom prst="roundRect">
            <a:avLst>
              <a:gd name="adj" fmla="val 9858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730" y="1113631"/>
            <a:ext cx="129183" cy="10328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50199" y="1061940"/>
            <a:ext cx="4583013" cy="25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3000"/>
              </a:lnSpc>
            </a:pPr>
            <a:r>
              <a:rPr lang="en-US" sz="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Finding:</a:t>
            </a: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Theatre allocation imbalance is driving systemic inefficiency. Specialty-to-theatre mapping should be data-driven.</a:t>
            </a:r>
            <a:endParaRPr lang="en-US" sz="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443" y="1483617"/>
            <a:ext cx="5022056" cy="50220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115" y="130672"/>
            <a:ext cx="4397772" cy="65966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799" y="541636"/>
            <a:ext cx="6400403" cy="1089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67" b="1" dirty="0">
                <a:solidFill>
                  <a:schemeClr val="accent2"/>
                </a:solidFill>
                <a:latin typeface="Aptos" panose="020B0004020202020204" pitchFamily="34" charset="0"/>
                <a:ea typeface="Mona Sans Bold" pitchFamily="34" charset="-122"/>
              </a:rPr>
              <a:t>Specialty-wise Utilization — Case Numbers &amp; OT Hours</a:t>
            </a:r>
          </a:p>
        </p:txBody>
      </p:sp>
      <p:sp>
        <p:nvSpPr>
          <p:cNvPr id="5" name="Text 1"/>
          <p:cNvSpPr/>
          <p:nvPr/>
        </p:nvSpPr>
        <p:spPr>
          <a:xfrm>
            <a:off x="609799" y="2032199"/>
            <a:ext cx="338623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67" b="1" dirty="0">
                <a:solidFill>
                  <a:srgbClr val="BF0202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Case Volume by Specialty</a:t>
            </a:r>
            <a:endParaRPr lang="en-US" sz="1667" dirty="0"/>
          </a:p>
        </p:txBody>
      </p:sp>
      <p:sp>
        <p:nvSpPr>
          <p:cNvPr id="6" name="Text 2"/>
          <p:cNvSpPr/>
          <p:nvPr/>
        </p:nvSpPr>
        <p:spPr>
          <a:xfrm>
            <a:off x="609799" y="2464991"/>
            <a:ext cx="2987675" cy="2286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High-volume specialties — including </a:t>
            </a:r>
            <a:r>
              <a:rPr lang="en-US" sz="1333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Orthopedics, General Surgery, and Gynecology</a:t>
            </a: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account for most case numbers.</a:t>
            </a:r>
            <a:endParaRPr lang="en-US" sz="1333" dirty="0"/>
          </a:p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Lower-volume specialties remain underutilized, indicating room to improve scheduling and capacity planning.</a:t>
            </a:r>
            <a:endParaRPr lang="en-US" sz="1333" dirty="0"/>
          </a:p>
        </p:txBody>
      </p:sp>
      <p:sp>
        <p:nvSpPr>
          <p:cNvPr id="7" name="Text 3"/>
          <p:cNvSpPr/>
          <p:nvPr/>
        </p:nvSpPr>
        <p:spPr>
          <a:xfrm>
            <a:off x="4028876" y="2032199"/>
            <a:ext cx="282515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67" b="1" dirty="0">
                <a:solidFill>
                  <a:srgbClr val="BF0202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OT Hours Consumed</a:t>
            </a:r>
            <a:endParaRPr lang="en-US" sz="1667" dirty="0"/>
          </a:p>
        </p:txBody>
      </p:sp>
      <p:sp>
        <p:nvSpPr>
          <p:cNvPr id="8" name="Text 4"/>
          <p:cNvSpPr/>
          <p:nvPr/>
        </p:nvSpPr>
        <p:spPr>
          <a:xfrm>
            <a:off x="4028876" y="2464991"/>
            <a:ext cx="2987675" cy="1751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8000"/>
              </a:lnSpc>
            </a:pPr>
            <a:r>
              <a:rPr lang="en-US" sz="1333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Cardiothoracic, Neurosurgery, and Robotic procedures</a:t>
            </a: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consume longer OT hours per case.</a:t>
            </a:r>
            <a:endParaRPr lang="en-US" sz="1333" dirty="0"/>
          </a:p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Dedicated time-blocking and team rostering can improve throughput without disrupting elective lists.</a:t>
            </a:r>
            <a:endParaRPr lang="en-US" sz="1333" dirty="0"/>
          </a:p>
        </p:txBody>
      </p:sp>
      <p:sp>
        <p:nvSpPr>
          <p:cNvPr id="9" name="Shape 5"/>
          <p:cNvSpPr/>
          <p:nvPr/>
        </p:nvSpPr>
        <p:spPr>
          <a:xfrm>
            <a:off x="609799" y="5077123"/>
            <a:ext cx="6400403" cy="1239243"/>
          </a:xfrm>
          <a:prstGeom prst="roundRect">
            <a:avLst>
              <a:gd name="adj" fmla="val 5906"/>
            </a:avLst>
          </a:prstGeom>
          <a:solidFill>
            <a:srgbClr val="C5D3ED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28" y="5332909"/>
            <a:ext cx="217785" cy="1742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6040" y="5281315"/>
            <a:ext cx="5659933" cy="80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8000"/>
              </a:lnSpc>
            </a:pP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Specialty-wise data visualization to be populated with extracted HMIS data from Ellider. Analysis shown reflects current audit findings and clinical observation.</a:t>
            </a:r>
            <a:endParaRPr lang="en-US" sz="133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206" y="504924"/>
            <a:ext cx="9555261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67" b="1" dirty="0">
                <a:solidFill>
                  <a:schemeClr val="accent2"/>
                </a:solidFill>
                <a:latin typeface="Aptos" panose="020B0004020202020204" pitchFamily="34" charset="0"/>
                <a:ea typeface="Mona Sans Bold" pitchFamily="34" charset="-122"/>
              </a:rPr>
              <a:t>Peak Hour Utilization — Daily Demand Pattern</a:t>
            </a:r>
          </a:p>
        </p:txBody>
      </p:sp>
      <p:sp>
        <p:nvSpPr>
          <p:cNvPr id="3" name="Text 1"/>
          <p:cNvSpPr/>
          <p:nvPr/>
        </p:nvSpPr>
        <p:spPr>
          <a:xfrm>
            <a:off x="558206" y="1272382"/>
            <a:ext cx="1107559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Analysis of </a:t>
            </a: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hourly OT occupancy patterns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reveals that most elective cases cluster in the mid-morning window, while early morning and afternoon slots remain underutilized.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86475" y="1893987"/>
            <a:ext cx="19051" cy="3837384"/>
          </a:xfrm>
          <a:prstGeom prst="roundRect">
            <a:avLst>
              <a:gd name="adj" fmla="val 351616"/>
            </a:avLst>
          </a:prstGeom>
          <a:solidFill>
            <a:srgbClr val="BEC8D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457230" y="2063849"/>
            <a:ext cx="478433" cy="19051"/>
          </a:xfrm>
          <a:prstGeom prst="roundRect">
            <a:avLst>
              <a:gd name="adj" fmla="val 351616"/>
            </a:avLst>
          </a:prstGeom>
          <a:solidFill>
            <a:srgbClr val="BEC8D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5916613" y="1893987"/>
            <a:ext cx="358775" cy="358775"/>
          </a:xfrm>
          <a:prstGeom prst="roundRect">
            <a:avLst>
              <a:gd name="adj" fmla="val 18671"/>
            </a:avLst>
          </a:prstGeom>
          <a:solidFill>
            <a:srgbClr val="D8E2F3"/>
          </a:solidFill>
          <a:ln w="4763">
            <a:solidFill>
              <a:srgbClr val="BEC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976392" y="1923901"/>
            <a:ext cx="239216" cy="2989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1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3031728" y="1948756"/>
            <a:ext cx="2266851" cy="2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4000"/>
              </a:lnSpc>
            </a:pPr>
            <a:r>
              <a:rPr lang="en-US" sz="15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Early Morning (6–8 AM)</a:t>
            </a:r>
            <a:endParaRPr lang="en-US" sz="1533" dirty="0"/>
          </a:p>
        </p:txBody>
      </p:sp>
      <p:sp>
        <p:nvSpPr>
          <p:cNvPr id="9" name="Text 7"/>
          <p:cNvSpPr/>
          <p:nvPr/>
        </p:nvSpPr>
        <p:spPr>
          <a:xfrm>
            <a:off x="558206" y="2278560"/>
            <a:ext cx="474037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ct val="123000"/>
              </a:lnSpc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utilization. Pre-op prep and team assembly phase with room for first-case gains.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6338" y="2970808"/>
            <a:ext cx="478433" cy="19051"/>
          </a:xfrm>
          <a:prstGeom prst="roundRect">
            <a:avLst>
              <a:gd name="adj" fmla="val 351616"/>
            </a:avLst>
          </a:prstGeom>
          <a:solidFill>
            <a:srgbClr val="BEC8D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5916613" y="2800946"/>
            <a:ext cx="358775" cy="358775"/>
          </a:xfrm>
          <a:prstGeom prst="roundRect">
            <a:avLst>
              <a:gd name="adj" fmla="val 18671"/>
            </a:avLst>
          </a:prstGeom>
          <a:solidFill>
            <a:srgbClr val="D8E2F3"/>
          </a:solidFill>
          <a:ln w="4763">
            <a:solidFill>
              <a:srgbClr val="BEC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5976392" y="2830860"/>
            <a:ext cx="239216" cy="2989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2</a:t>
            </a:r>
            <a:endParaRPr lang="en-US" sz="1867" dirty="0"/>
          </a:p>
        </p:txBody>
      </p:sp>
      <p:sp>
        <p:nvSpPr>
          <p:cNvPr id="13" name="Text 11"/>
          <p:cNvSpPr/>
          <p:nvPr/>
        </p:nvSpPr>
        <p:spPr>
          <a:xfrm>
            <a:off x="6893422" y="2855715"/>
            <a:ext cx="2309316" cy="2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Peak Window (8–10 AM)</a:t>
            </a:r>
            <a:endParaRPr lang="en-US" sz="1533" dirty="0"/>
          </a:p>
        </p:txBody>
      </p:sp>
      <p:sp>
        <p:nvSpPr>
          <p:cNvPr id="14" name="Text 12"/>
          <p:cNvSpPr/>
          <p:nvPr/>
        </p:nvSpPr>
        <p:spPr>
          <a:xfrm>
            <a:off x="6893422" y="3185518"/>
            <a:ext cx="474037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demand spike. Multiple specialties compete for theatre access, creating bottlenecks.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57230" y="3770611"/>
            <a:ext cx="478433" cy="19051"/>
          </a:xfrm>
          <a:prstGeom prst="roundRect">
            <a:avLst>
              <a:gd name="adj" fmla="val 351616"/>
            </a:avLst>
          </a:prstGeom>
          <a:solidFill>
            <a:srgbClr val="BEC8D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5916613" y="3600749"/>
            <a:ext cx="358775" cy="358775"/>
          </a:xfrm>
          <a:prstGeom prst="roundRect">
            <a:avLst>
              <a:gd name="adj" fmla="val 18671"/>
            </a:avLst>
          </a:prstGeom>
          <a:solidFill>
            <a:srgbClr val="D8E2F3"/>
          </a:solidFill>
          <a:ln w="4763">
            <a:solidFill>
              <a:srgbClr val="BEC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5976392" y="3630663"/>
            <a:ext cx="239216" cy="2989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3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2738835" y="3655516"/>
            <a:ext cx="2559744" cy="2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4000"/>
              </a:lnSpc>
            </a:pPr>
            <a:r>
              <a:rPr lang="en-US" sz="15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Mid-Morning (10 AM–1 PM)</a:t>
            </a:r>
            <a:endParaRPr lang="en-US" sz="1533" dirty="0"/>
          </a:p>
        </p:txBody>
      </p:sp>
      <p:sp>
        <p:nvSpPr>
          <p:cNvPr id="19" name="Text 17"/>
          <p:cNvSpPr/>
          <p:nvPr/>
        </p:nvSpPr>
        <p:spPr>
          <a:xfrm>
            <a:off x="558206" y="3985321"/>
            <a:ext cx="474037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ct val="123000"/>
              </a:lnSpc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elective window, but still below the level implied by peak demand.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6338" y="4570512"/>
            <a:ext cx="478433" cy="19051"/>
          </a:xfrm>
          <a:prstGeom prst="roundRect">
            <a:avLst>
              <a:gd name="adj" fmla="val 351616"/>
            </a:avLst>
          </a:prstGeom>
          <a:solidFill>
            <a:srgbClr val="BEC8D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5916613" y="4400650"/>
            <a:ext cx="358775" cy="358775"/>
          </a:xfrm>
          <a:prstGeom prst="roundRect">
            <a:avLst>
              <a:gd name="adj" fmla="val 18671"/>
            </a:avLst>
          </a:prstGeom>
          <a:solidFill>
            <a:srgbClr val="D8E2F3"/>
          </a:solidFill>
          <a:ln w="4763">
            <a:solidFill>
              <a:srgbClr val="BEC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5976392" y="4430564"/>
            <a:ext cx="239216" cy="2989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4</a:t>
            </a:r>
            <a:endParaRPr lang="en-US" sz="1867" dirty="0"/>
          </a:p>
        </p:txBody>
      </p:sp>
      <p:sp>
        <p:nvSpPr>
          <p:cNvPr id="23" name="Text 21"/>
          <p:cNvSpPr/>
          <p:nvPr/>
        </p:nvSpPr>
        <p:spPr>
          <a:xfrm>
            <a:off x="6893422" y="4455417"/>
            <a:ext cx="3123605" cy="2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Afternoon/Evening (1 PM–Night)</a:t>
            </a:r>
            <a:endParaRPr lang="en-US" sz="1533" dirty="0"/>
          </a:p>
        </p:txBody>
      </p:sp>
      <p:sp>
        <p:nvSpPr>
          <p:cNvPr id="24" name="Text 22"/>
          <p:cNvSpPr/>
          <p:nvPr/>
        </p:nvSpPr>
        <p:spPr>
          <a:xfrm>
            <a:off x="6893422" y="4785222"/>
            <a:ext cx="474037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Demand falls toward emergency-only caseload. Significant capacity remains available.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8206" y="5882681"/>
            <a:ext cx="1107559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Addressing this clustering through structured, staggered scheduling can unlock </a:t>
            </a: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substantial latent capacity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within existing resource constraints — without additional capital expenditure.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0216" y="649785"/>
            <a:ext cx="95427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67" b="1" dirty="0">
                <a:solidFill>
                  <a:schemeClr val="accent2"/>
                </a:solidFill>
                <a:latin typeface="Aptos" panose="020B0004020202020204" pitchFamily="34" charset="0"/>
                <a:ea typeface="Mona Sans Bold" pitchFamily="34" charset="-122"/>
              </a:rPr>
              <a:t>Specialty Peak Hour Utilization (8–10 AM)</a:t>
            </a:r>
          </a:p>
        </p:txBody>
      </p:sp>
      <p:sp>
        <p:nvSpPr>
          <p:cNvPr id="3" name="Text 1"/>
          <p:cNvSpPr/>
          <p:nvPr/>
        </p:nvSpPr>
        <p:spPr>
          <a:xfrm>
            <a:off x="620217" y="1535708"/>
            <a:ext cx="10951567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333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8:00–10:00 AM window</a:t>
            </a: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most contested time slot, with multiple specialties competing for theatre access simultaneously. This creates bottlenecks at pre-op, anaesthesia clearance, and theatre entry — delaying first-case start and compressing the operative window.</a:t>
            </a:r>
            <a:endParaRPr lang="en-US" sz="1333" dirty="0"/>
          </a:p>
        </p:txBody>
      </p:sp>
      <p:sp>
        <p:nvSpPr>
          <p:cNvPr id="4" name="Shape 2"/>
          <p:cNvSpPr/>
          <p:nvPr/>
        </p:nvSpPr>
        <p:spPr>
          <a:xfrm>
            <a:off x="620217" y="2271812"/>
            <a:ext cx="5392737" cy="1292920"/>
          </a:xfrm>
          <a:prstGeom prst="roundRect">
            <a:avLst>
              <a:gd name="adj" fmla="val 5757"/>
            </a:avLst>
          </a:prstGeom>
          <a:solidFill>
            <a:srgbClr val="D8E2F3"/>
          </a:solidFill>
          <a:ln w="4763">
            <a:solidFill>
              <a:srgbClr val="BEC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03771" y="2455367"/>
            <a:ext cx="22150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General Surgery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803771" y="2831901"/>
            <a:ext cx="50256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early-morning concentration. Frequent conflicts with Orthopedics require priority in the 8–9 AM slot.</a:t>
            </a:r>
            <a:endParaRPr lang="en-US" sz="1333" dirty="0"/>
          </a:p>
        </p:txBody>
      </p:sp>
      <p:sp>
        <p:nvSpPr>
          <p:cNvPr id="7" name="Shape 5"/>
          <p:cNvSpPr/>
          <p:nvPr/>
        </p:nvSpPr>
        <p:spPr>
          <a:xfrm>
            <a:off x="6179048" y="2271812"/>
            <a:ext cx="5392737" cy="1292920"/>
          </a:xfrm>
          <a:prstGeom prst="roundRect">
            <a:avLst>
              <a:gd name="adj" fmla="val 5757"/>
            </a:avLst>
          </a:prstGeom>
          <a:solidFill>
            <a:srgbClr val="D8E2F3"/>
          </a:solidFill>
          <a:ln w="4763">
            <a:solidFill>
              <a:srgbClr val="BEC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362601" y="2455367"/>
            <a:ext cx="22150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Orthopedics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362602" y="2831901"/>
            <a:ext cx="50256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 cases amplify congestion. Early start is critical to avoid delays that cascade through the day.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620217" y="3730824"/>
            <a:ext cx="5392737" cy="1292920"/>
          </a:xfrm>
          <a:prstGeom prst="roundRect">
            <a:avLst>
              <a:gd name="adj" fmla="val 5757"/>
            </a:avLst>
          </a:prstGeom>
          <a:solidFill>
            <a:srgbClr val="D8E2F3"/>
          </a:solidFill>
          <a:ln w="4763">
            <a:solidFill>
              <a:srgbClr val="BEC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803771" y="3914379"/>
            <a:ext cx="270271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Gynecology &amp; Obstetrics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803771" y="4290913"/>
            <a:ext cx="50256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 elective cases dominate. LSCS procedures need dedicated priority lanes to avoid list conflicts.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6179048" y="3730824"/>
            <a:ext cx="5392737" cy="1292920"/>
          </a:xfrm>
          <a:prstGeom prst="roundRect">
            <a:avLst>
              <a:gd name="adj" fmla="val 5757"/>
            </a:avLst>
          </a:prstGeom>
          <a:solidFill>
            <a:srgbClr val="D8E2F3"/>
          </a:solidFill>
          <a:ln w="4763">
            <a:solidFill>
              <a:srgbClr val="BEC8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6362601" y="3914379"/>
            <a:ext cx="22150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Pediatric Surgery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6362602" y="4290913"/>
            <a:ext cx="50256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NPO-sensitive cases need first-morning prioritization. Delays increase patient safety risk.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620217" y="5210573"/>
            <a:ext cx="10951567" cy="997644"/>
          </a:xfrm>
          <a:prstGeom prst="roundRect">
            <a:avLst>
              <a:gd name="adj" fmla="val 7460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21" y="5473799"/>
            <a:ext cx="221456" cy="17720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96084" y="5420916"/>
            <a:ext cx="10198497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 Required:</a:t>
            </a:r>
            <a:r>
              <a:rPr lang="en-US" sz="13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Implement specialty-specific time-block scheduling to stagger demand and eliminate concurrent theatre competition during the 8–10 AM window.</a:t>
            </a:r>
            <a:endParaRPr lang="en-US" sz="133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787" y="498971"/>
            <a:ext cx="9132788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67" b="1" dirty="0">
                <a:solidFill>
                  <a:schemeClr val="accent2"/>
                </a:solidFill>
                <a:latin typeface="Aptos" panose="020B0004020202020204" pitchFamily="34" charset="0"/>
                <a:ea typeface="Mona Sans Bold" pitchFamily="34" charset="-122"/>
              </a:rPr>
              <a:t>Current Bottlenecks &amp; Process Inefficiencies</a:t>
            </a:r>
          </a:p>
        </p:txBody>
      </p:sp>
      <p:sp>
        <p:nvSpPr>
          <p:cNvPr id="3" name="Text 1"/>
          <p:cNvSpPr/>
          <p:nvPr/>
        </p:nvSpPr>
        <p:spPr>
          <a:xfrm>
            <a:off x="547787" y="1247380"/>
            <a:ext cx="11644213" cy="22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 systemic bottlenecks were identified during the audit — each contributing independently to low utilization, operational disruption, and patient safety risk.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787" y="1767781"/>
            <a:ext cx="391319" cy="3913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7788" y="2321125"/>
            <a:ext cx="2494657" cy="24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Scheduling Discrepancies</a:t>
            </a:r>
            <a:endParaRPr lang="en-US" sz="1533" dirty="0"/>
          </a:p>
        </p:txBody>
      </p:sp>
      <p:sp>
        <p:nvSpPr>
          <p:cNvPr id="6" name="Text 3"/>
          <p:cNvSpPr/>
          <p:nvPr/>
        </p:nvSpPr>
        <p:spPr>
          <a:xfrm>
            <a:off x="547787" y="2695278"/>
            <a:ext cx="5357316" cy="22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 hoc posting and late additions disrupt planned theatre workflow.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787" y="3183434"/>
            <a:ext cx="391319" cy="3913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7787" y="3736777"/>
            <a:ext cx="2534147" cy="24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OT List Finalization Delays</a:t>
            </a:r>
            <a:endParaRPr lang="en-US" sz="1533" dirty="0"/>
          </a:p>
        </p:txBody>
      </p:sp>
      <p:sp>
        <p:nvSpPr>
          <p:cNvPr id="9" name="Text 5"/>
          <p:cNvSpPr/>
          <p:nvPr/>
        </p:nvSpPr>
        <p:spPr>
          <a:xfrm>
            <a:off x="547787" y="4110932"/>
            <a:ext cx="5357316" cy="22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Lists are finalized too late for adequate prep, consent, and NPO confirmation.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787" y="4599087"/>
            <a:ext cx="391319" cy="3913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7787" y="5152430"/>
            <a:ext cx="2184301" cy="24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Information Flow Gaps</a:t>
            </a:r>
            <a:endParaRPr lang="en-US" sz="1533" dirty="0"/>
          </a:p>
        </p:txBody>
      </p:sp>
      <p:sp>
        <p:nvSpPr>
          <p:cNvPr id="12" name="Text 7"/>
          <p:cNvSpPr/>
          <p:nvPr/>
        </p:nvSpPr>
        <p:spPr>
          <a:xfrm>
            <a:off x="547787" y="5526585"/>
            <a:ext cx="5357316" cy="22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Delayed coordination between teams causes avoidable first-case delays.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3247" y="1767781"/>
            <a:ext cx="391319" cy="3913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93247" y="2321125"/>
            <a:ext cx="1958975" cy="24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Digitalization Deficit</a:t>
            </a:r>
            <a:endParaRPr lang="en-US" sz="1533" dirty="0"/>
          </a:p>
        </p:txBody>
      </p:sp>
      <p:sp>
        <p:nvSpPr>
          <p:cNvPr id="15" name="Text 9"/>
          <p:cNvSpPr/>
          <p:nvPr/>
        </p:nvSpPr>
        <p:spPr>
          <a:xfrm>
            <a:off x="6293247" y="2695277"/>
            <a:ext cx="5357316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2000"/>
              </a:lnSpc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records and non-standard documentation reduce traceability and audit readiness.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3247" y="3412331"/>
            <a:ext cx="391319" cy="39131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293247" y="3965675"/>
            <a:ext cx="2928739" cy="24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Robotic Asset Underutilization</a:t>
            </a:r>
            <a:endParaRPr lang="en-US" sz="1533" dirty="0"/>
          </a:p>
        </p:txBody>
      </p:sp>
      <p:sp>
        <p:nvSpPr>
          <p:cNvPr id="18" name="Text 11"/>
          <p:cNvSpPr/>
          <p:nvPr/>
        </p:nvSpPr>
        <p:spPr>
          <a:xfrm>
            <a:off x="6293247" y="4339829"/>
            <a:ext cx="5357316" cy="22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Robotic systems are underused, limiting case volume and clinical ROI.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3247" y="4827985"/>
            <a:ext cx="391319" cy="39131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293247" y="5381329"/>
            <a:ext cx="2652415" cy="24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Committee Follow-Up Gaps</a:t>
            </a:r>
            <a:endParaRPr lang="en-US" sz="1533" dirty="0"/>
          </a:p>
        </p:txBody>
      </p:sp>
      <p:sp>
        <p:nvSpPr>
          <p:cNvPr id="21" name="Text 13"/>
          <p:cNvSpPr/>
          <p:nvPr/>
        </p:nvSpPr>
        <p:spPr>
          <a:xfrm>
            <a:off x="6293247" y="5755481"/>
            <a:ext cx="5357316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2000"/>
              </a:lnSpc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 items are not tracked to closure, so issues recur without accountability.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1172" y="546100"/>
            <a:ext cx="5450384" cy="5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67" b="1" dirty="0">
                <a:solidFill>
                  <a:schemeClr val="accent2"/>
                </a:solidFill>
                <a:latin typeface="Aptos" panose="020B0004020202020204" pitchFamily="34" charset="0"/>
                <a:ea typeface="Mona Sans Bold" pitchFamily="34" charset="-122"/>
              </a:rPr>
              <a:t>Strategic Action Plan</a:t>
            </a:r>
          </a:p>
        </p:txBody>
      </p:sp>
      <p:sp>
        <p:nvSpPr>
          <p:cNvPr id="3" name="Shape 1"/>
          <p:cNvSpPr/>
          <p:nvPr/>
        </p:nvSpPr>
        <p:spPr>
          <a:xfrm>
            <a:off x="651172" y="1493838"/>
            <a:ext cx="2334320" cy="347761"/>
          </a:xfrm>
          <a:prstGeom prst="roundRect">
            <a:avLst>
              <a:gd name="adj" fmla="val 17978"/>
            </a:avLst>
          </a:prstGeom>
          <a:solidFill>
            <a:srgbClr val="D8E2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62794" y="1549599"/>
            <a:ext cx="272067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2000"/>
              </a:lnSpc>
            </a:pPr>
            <a:r>
              <a:rPr lang="en-US" sz="113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 RECOMMENDATIONS</a:t>
            </a:r>
            <a:endParaRPr lang="en-US" sz="1133" dirty="0"/>
          </a:p>
        </p:txBody>
      </p:sp>
      <p:sp>
        <p:nvSpPr>
          <p:cNvPr id="5" name="Shape 3"/>
          <p:cNvSpPr/>
          <p:nvPr/>
        </p:nvSpPr>
        <p:spPr>
          <a:xfrm>
            <a:off x="517228" y="2047578"/>
            <a:ext cx="5485805" cy="2980333"/>
          </a:xfrm>
          <a:prstGeom prst="roundRect">
            <a:avLst>
              <a:gd name="adj" fmla="val 4495"/>
            </a:avLst>
          </a:prstGeom>
          <a:solidFill>
            <a:srgbClr val="26535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03263" y="2230735"/>
            <a:ext cx="448558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 dirty="0">
                <a:solidFill>
                  <a:srgbClr val="FFFFFF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Ellider-Based Scheduling Protocol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3263" y="2704604"/>
            <a:ext cx="5113735" cy="225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57189" indent="-457189">
              <a:lnSpc>
                <a:spcPct val="13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 cases using real-time theatre availability in Ellider</a:t>
            </a:r>
            <a:endParaRPr lang="en-US" sz="1400" dirty="0"/>
          </a:p>
          <a:p>
            <a:pPr marL="457189" indent="-457189">
              <a:lnSpc>
                <a:spcPct val="13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 expected duration and instrument list for every case</a:t>
            </a:r>
            <a:endParaRPr lang="en-US" sz="1400" dirty="0"/>
          </a:p>
          <a:p>
            <a:pPr marL="457189" indent="-457189">
              <a:lnSpc>
                <a:spcPct val="13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cases by Anaesthesia HOD/OT Manager; pediatric and clean cases first</a:t>
            </a:r>
            <a:endParaRPr lang="en-US" sz="1400" dirty="0"/>
          </a:p>
          <a:p>
            <a:pPr marL="457189" indent="-457189">
              <a:lnSpc>
                <a:spcPct val="13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Assign theatre allotment ownership to the anaesthetist or OT Manager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9263" y="2230735"/>
            <a:ext cx="382329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 dirty="0">
                <a:solidFill>
                  <a:srgbClr val="BF0202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OT List Preparation Protocol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29263" y="2704604"/>
            <a:ext cx="5217915" cy="225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57189" indent="-457189">
              <a:lnSpc>
                <a:spcPct val="13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 elective cases 72–48 hours before the operative date</a:t>
            </a:r>
            <a:endParaRPr lang="en-US" sz="1400" dirty="0"/>
          </a:p>
          <a:p>
            <a:pPr marL="457189" indent="-457189">
              <a:lnSpc>
                <a:spcPct val="13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Lock the final OT list 24 hours before surgery for emergencies</a:t>
            </a:r>
            <a:endParaRPr lang="en-US" sz="1400" dirty="0"/>
          </a:p>
          <a:p>
            <a:pPr marL="457189" indent="-457189">
              <a:lnSpc>
                <a:spcPct val="13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 patients to pre-op only after Financial and PAC clearances are confirmed</a:t>
            </a:r>
            <a:endParaRPr lang="en-US" sz="1400" dirty="0"/>
          </a:p>
          <a:p>
            <a:pPr marL="457189" indent="-457189">
              <a:lnSpc>
                <a:spcPct val="13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 communication to nursing, anaesthesia, and surgical teams at list lock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1173" y="5233888"/>
            <a:ext cx="10889655" cy="1077912"/>
          </a:xfrm>
          <a:prstGeom prst="roundRect">
            <a:avLst>
              <a:gd name="adj" fmla="val 7250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09" y="5513089"/>
            <a:ext cx="232569" cy="1860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55813" y="5463481"/>
            <a:ext cx="10098980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4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 Impact:</a:t>
            </a: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Full implementation is projected to reduce first-case delay by 40–60% and increase effective scheduling density within the first 90 days.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8525" y="502543"/>
            <a:ext cx="7433369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67" b="1" dirty="0">
                <a:solidFill>
                  <a:schemeClr val="accent2"/>
                </a:solidFill>
                <a:latin typeface="Aptos" panose="020B0004020202020204" pitchFamily="34" charset="0"/>
                <a:ea typeface="Mona Sans Bold" pitchFamily="34" charset="-122"/>
              </a:rPr>
              <a:t>Key Focus Areas for OT Excellence</a:t>
            </a:r>
          </a:p>
        </p:txBody>
      </p:sp>
      <p:sp>
        <p:nvSpPr>
          <p:cNvPr id="3" name="Text 1"/>
          <p:cNvSpPr/>
          <p:nvPr/>
        </p:nvSpPr>
        <p:spPr>
          <a:xfrm>
            <a:off x="568525" y="1289248"/>
            <a:ext cx="11054953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4000"/>
              </a:lnSpc>
            </a:pPr>
            <a:r>
              <a:rPr lang="en-US" sz="12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following </a:t>
            </a:r>
            <a:r>
              <a:rPr lang="en-US" sz="1267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strategic pillars</a:t>
            </a:r>
            <a:r>
              <a:rPr lang="en-US" sz="12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will drive measurable improvement in OT efficiency, clinical safety, and operational performance at VPS Lakeshore Hospital. Each pillar addresses a specific systemic gap identified during the audit.</a:t>
            </a:r>
            <a:endParaRPr lang="en-US" sz="126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24" y="1929409"/>
            <a:ext cx="1158379" cy="715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8524" y="2819698"/>
            <a:ext cx="2474813" cy="253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Scheduling Optimization</a:t>
            </a:r>
            <a:endParaRPr lang="en-US" sz="1533" dirty="0"/>
          </a:p>
        </p:txBody>
      </p:sp>
      <p:sp>
        <p:nvSpPr>
          <p:cNvPr id="6" name="Text 3"/>
          <p:cNvSpPr/>
          <p:nvPr/>
        </p:nvSpPr>
        <p:spPr>
          <a:xfrm>
            <a:off x="568524" y="3157241"/>
            <a:ext cx="2632869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4000"/>
              </a:lnSpc>
            </a:pPr>
            <a:r>
              <a:rPr lang="en-US" sz="12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Ellider-based digital scheduling with mandatory case data fields and anaesthesia-led prioritization.</a:t>
            </a:r>
            <a:endParaRPr lang="en-US" sz="1267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819" y="1929408"/>
            <a:ext cx="1158479" cy="7159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75820" y="2819798"/>
            <a:ext cx="2571849" cy="253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Digitalization &amp; Reporting</a:t>
            </a:r>
            <a:endParaRPr lang="en-US" sz="1533" dirty="0"/>
          </a:p>
        </p:txBody>
      </p:sp>
      <p:sp>
        <p:nvSpPr>
          <p:cNvPr id="9" name="Text 5"/>
          <p:cNvSpPr/>
          <p:nvPr/>
        </p:nvSpPr>
        <p:spPr>
          <a:xfrm>
            <a:off x="3375819" y="3157339"/>
            <a:ext cx="2632968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4000"/>
              </a:lnSpc>
            </a:pPr>
            <a:r>
              <a:rPr lang="en-US" sz="12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 to fully digital OT records for real-time utilization tracking, NABH reporting, and audit-ready documentation.</a:t>
            </a:r>
            <a:endParaRPr lang="en-US" sz="1267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213" y="1929409"/>
            <a:ext cx="1158379" cy="715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83214" y="2819698"/>
            <a:ext cx="2456953" cy="253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Robotic Asset Utilization</a:t>
            </a:r>
            <a:endParaRPr lang="en-US" sz="1533" dirty="0"/>
          </a:p>
        </p:txBody>
      </p:sp>
      <p:sp>
        <p:nvSpPr>
          <p:cNvPr id="12" name="Text 7"/>
          <p:cNvSpPr/>
          <p:nvPr/>
        </p:nvSpPr>
        <p:spPr>
          <a:xfrm>
            <a:off x="6183214" y="3157241"/>
            <a:ext cx="2632869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4000"/>
              </a:lnSpc>
            </a:pPr>
            <a:r>
              <a:rPr lang="en-US" sz="12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dedicated robotic surgery program with targeted case development and specialist training investment.</a:t>
            </a:r>
            <a:endParaRPr lang="en-US" sz="1267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509" y="1929408"/>
            <a:ext cx="1158479" cy="7159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508" y="2819798"/>
            <a:ext cx="2468563" cy="253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Governance &amp; Follow-Up</a:t>
            </a:r>
            <a:endParaRPr lang="en-US" sz="1533" dirty="0"/>
          </a:p>
        </p:txBody>
      </p:sp>
      <p:sp>
        <p:nvSpPr>
          <p:cNvPr id="15" name="Text 9"/>
          <p:cNvSpPr/>
          <p:nvPr/>
        </p:nvSpPr>
        <p:spPr>
          <a:xfrm>
            <a:off x="8990508" y="3157339"/>
            <a:ext cx="2632968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4000"/>
              </a:lnSpc>
            </a:pPr>
            <a:r>
              <a:rPr lang="en-US" sz="12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Establish a structured OT committee with action tracking, clear ownership, and escalation pathways.</a:t>
            </a:r>
            <a:endParaRPr lang="en-US" sz="1267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524" y="4402833"/>
            <a:ext cx="1158379" cy="71586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68524" y="5293122"/>
            <a:ext cx="2105819" cy="253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dirty="0">
                <a:solidFill>
                  <a:srgbClr val="00000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Safety &amp; Compliance</a:t>
            </a:r>
            <a:endParaRPr lang="en-US" sz="1533" dirty="0"/>
          </a:p>
        </p:txBody>
      </p:sp>
      <p:sp>
        <p:nvSpPr>
          <p:cNvPr id="18" name="Text 11"/>
          <p:cNvSpPr/>
          <p:nvPr/>
        </p:nvSpPr>
        <p:spPr>
          <a:xfrm>
            <a:off x="568524" y="5630665"/>
            <a:ext cx="2632869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4000"/>
              </a:lnSpc>
            </a:pPr>
            <a:r>
              <a:rPr lang="en-US" sz="126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Reinforce WHO checklist adherence, aseptic protocols, and turnaround standards across all theatres.</a:t>
            </a:r>
            <a:endParaRPr lang="en-US" sz="126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9E7FD-2279-0BD5-B15F-5C39A4BB0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8FAC8-7B7B-5CEB-2419-47E2E3569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234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 [1780048134407]">
  <a:themeElements>
    <a:clrScheme name="Retrospec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1B8"/>
      </a:accent1>
      <a:accent2>
        <a:srgbClr val="9F003A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998E3"/>
      </a:hlink>
      <a:folHlink>
        <a:srgbClr val="8C8C8C"/>
      </a:folHlink>
    </a:clrScheme>
    <a:fontScheme name="Retrospect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2F80C0B-5D2A-6647-8B7F-9DE75CD8E68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f763094-0e0c-4eef-92b7-f257ba09b0c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2801</TotalTime>
  <Words>1303</Words>
  <Application>Microsoft Macintosh PowerPoint</Application>
  <PresentationFormat>Widescreen</PresentationFormat>
  <Paragraphs>165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Calibri</vt:lpstr>
      <vt:lpstr>Mona Sans Bold</vt:lpstr>
      <vt:lpstr>Roboto</vt:lpstr>
      <vt:lpstr>Retrospect [1780048134407]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Arora</dc:creator>
  <cp:lastModifiedBy>Abhishek Poduri</cp:lastModifiedBy>
  <cp:revision>12</cp:revision>
  <dcterms:created xsi:type="dcterms:W3CDTF">2026-05-23T17:45:59Z</dcterms:created>
  <dcterms:modified xsi:type="dcterms:W3CDTF">2026-05-30T09:34:16Z</dcterms:modified>
</cp:coreProperties>
</file>