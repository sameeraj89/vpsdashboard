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5088"/>
  <p:notesSz cx="5145088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51444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sldImg"/>
          </p:nvPr>
        </p:nvSpPr>
        <p:spPr>
          <a:xfrm>
            <a:off x="0" y="962280"/>
            <a:ext cx="5144040" cy="28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 Light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514440" y="4343400"/>
            <a:ext cx="4115160" cy="411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Click to edit the notes format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2147483056" y="2147483056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2147483056" y="2147483056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283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090A9C0-EA54-4F6A-A9B5-99C1171E0E59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2147483056" y="2147483056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2147483056" y="2147483056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286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E96BA17-4A70-4041-9C73-46611BE74A32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2147483056" y="2147483056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2147483056" y="2147483056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289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0E250DC-6BF1-437A-ABFA-5C08D9BEF446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2147483056" y="2147483056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2147483056" y="2147483056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292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1AE5DCD-4562-4505-AF5D-2FD7401488E4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2147483056" y="2147483056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2147483056" y="2147483056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295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C435C7F-EA31-49CE-8216-DB67009041ED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2147483056" y="2147483056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2147483056" y="2147483056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298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5D54B12-6804-4A11-962A-BDFF07EAD47E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2147483056" y="2147483056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2147483056" y="2147483056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301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DCD2CD4-4F36-48F5-A84E-F58F9E5A9FEE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2147483056" y="2147483056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2147483056" y="2147483056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304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F5932EE-2BA1-49F2-BB14-021969291C2F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/>
          <p:cNvSpPr/>
          <p:nvPr/>
        </p:nvSpPr>
        <p:spPr>
          <a:xfrm>
            <a:off x="0" y="0"/>
            <a:ext cx="9144000" cy="109440"/>
          </a:xfrm>
          <a:prstGeom prst="rect">
            <a:avLst/>
          </a:prstGeom>
          <a:solidFill>
            <a:srgbClr val="4CAF7D"/>
          </a:solidFill>
          <a:ln w="12600">
            <a:solidFill>
              <a:srgbClr val="4CAF7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" name="Shape 1"/>
          <p:cNvSpPr/>
          <p:nvPr/>
        </p:nvSpPr>
        <p:spPr>
          <a:xfrm>
            <a:off x="0" y="109440"/>
            <a:ext cx="136440" cy="5034240"/>
          </a:xfrm>
          <a:prstGeom prst="rect">
            <a:avLst/>
          </a:prstGeom>
          <a:solidFill>
            <a:srgbClr val="B2DFCB"/>
          </a:solidFill>
          <a:ln w="12600">
            <a:solidFill>
              <a:srgbClr val="B2DFC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" name="Text 3"/>
          <p:cNvSpPr/>
          <p:nvPr/>
        </p:nvSpPr>
        <p:spPr>
          <a:xfrm>
            <a:off x="365040" y="2365200"/>
            <a:ext cx="452448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Weekly Performance Update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" name="Text 4"/>
          <p:cNvSpPr/>
          <p:nvPr/>
        </p:nvSpPr>
        <p:spPr>
          <a:xfrm>
            <a:off x="365040" y="2835360"/>
            <a:ext cx="8413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Business Development |  Week Ending 29 May 2026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" name="Shape 5"/>
          <p:cNvSpPr/>
          <p:nvPr/>
        </p:nvSpPr>
        <p:spPr>
          <a:xfrm>
            <a:off x="0" y="4754520"/>
            <a:ext cx="9144000" cy="389160"/>
          </a:xfrm>
          <a:prstGeom prst="rect">
            <a:avLst/>
          </a:prstGeom>
          <a:solidFill>
            <a:srgbClr val="4CAF7D"/>
          </a:solidFill>
          <a:ln w="12600">
            <a:solidFill>
              <a:srgbClr val="4CAF7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65040" y="4773600"/>
            <a:ext cx="8413920" cy="3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0"/>
          <p:cNvSpPr/>
          <p:nvPr/>
        </p:nvSpPr>
        <p:spPr>
          <a:xfrm>
            <a:off x="0" y="0"/>
            <a:ext cx="9144000" cy="109440"/>
          </a:xfrm>
          <a:prstGeom prst="rect">
            <a:avLst/>
          </a:prstGeom>
          <a:solidFill>
            <a:srgbClr val="4CAF7D"/>
          </a:solidFill>
          <a:ln w="12600">
            <a:solidFill>
              <a:srgbClr val="4CAF7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" name="Shape 1"/>
          <p:cNvSpPr/>
          <p:nvPr/>
        </p:nvSpPr>
        <p:spPr>
          <a:xfrm>
            <a:off x="0" y="109440"/>
            <a:ext cx="136440" cy="5034240"/>
          </a:xfrm>
          <a:prstGeom prst="rect">
            <a:avLst/>
          </a:prstGeom>
          <a:solidFill>
            <a:srgbClr val="B2DFCB"/>
          </a:solidFill>
          <a:ln w="12600">
            <a:solidFill>
              <a:srgbClr val="B2DFC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" name="Text 2"/>
          <p:cNvSpPr/>
          <p:nvPr/>
        </p:nvSpPr>
        <p:spPr>
          <a:xfrm>
            <a:off x="365040" y="255600"/>
            <a:ext cx="84139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SUMMARY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" name="Shape 3"/>
          <p:cNvSpPr/>
          <p:nvPr/>
        </p:nvSpPr>
        <p:spPr>
          <a:xfrm>
            <a:off x="355680" y="841320"/>
            <a:ext cx="8413560" cy="841320"/>
          </a:xfrm>
          <a:prstGeom prst="rect">
            <a:avLst/>
          </a:prstGeom>
          <a:solidFill>
            <a:srgbClr val="FFFFFF"/>
          </a:solidFill>
          <a:ln w="12600">
            <a:solidFill>
              <a:srgbClr val="B2DFCB"/>
            </a:solidFill>
            <a:miter/>
          </a:ln>
          <a:effectLst>
            <a:outerShdw dist="25455" dir="8100000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" name="Shape 4"/>
          <p:cNvSpPr/>
          <p:nvPr/>
        </p:nvSpPr>
        <p:spPr>
          <a:xfrm>
            <a:off x="365040" y="841320"/>
            <a:ext cx="65160" cy="841320"/>
          </a:xfrm>
          <a:prstGeom prst="rect">
            <a:avLst/>
          </a:prstGeom>
          <a:solidFill>
            <a:srgbClr val="ED7D31"/>
          </a:solidFill>
          <a:ln w="12600">
            <a:solidFill>
              <a:srgbClr val="4CAF7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" name="Text 5"/>
          <p:cNvSpPr/>
          <p:nvPr/>
        </p:nvSpPr>
        <p:spPr>
          <a:xfrm>
            <a:off x="566640" y="895320"/>
            <a:ext cx="23781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Referral Sales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" name="Text 6"/>
          <p:cNvSpPr/>
          <p:nvPr/>
        </p:nvSpPr>
        <p:spPr>
          <a:xfrm>
            <a:off x="566640" y="1189080"/>
            <a:ext cx="8047080" cy="4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48 total referrals (IP: 29, OP: 19). Medical: 16 | Surgical: 13. Doctor: 22, Ambulance: 15, PRO: 11.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" name="Shape 7"/>
          <p:cNvSpPr/>
          <p:nvPr/>
        </p:nvSpPr>
        <p:spPr>
          <a:xfrm>
            <a:off x="365040" y="1828800"/>
            <a:ext cx="8413920" cy="841320"/>
          </a:xfrm>
          <a:prstGeom prst="rect">
            <a:avLst/>
          </a:prstGeom>
          <a:solidFill>
            <a:srgbClr val="FFFFFF"/>
          </a:solidFill>
          <a:ln w="12600">
            <a:solidFill>
              <a:srgbClr val="B2DFCB"/>
            </a:solidFill>
            <a:miter/>
          </a:ln>
          <a:effectLst>
            <a:outerShdw dist="25455" dir="8100000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" name="Shape 8"/>
          <p:cNvSpPr/>
          <p:nvPr/>
        </p:nvSpPr>
        <p:spPr>
          <a:xfrm>
            <a:off x="365040" y="1828800"/>
            <a:ext cx="65160" cy="841320"/>
          </a:xfrm>
          <a:prstGeom prst="rect">
            <a:avLst/>
          </a:prstGeom>
          <a:solidFill>
            <a:srgbClr val="FFC000"/>
          </a:solidFill>
          <a:ln w="12600">
            <a:solidFill>
              <a:srgbClr val="4CAF7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" name="Text 9"/>
          <p:cNvSpPr/>
          <p:nvPr/>
        </p:nvSpPr>
        <p:spPr>
          <a:xfrm>
            <a:off x="566640" y="1884240"/>
            <a:ext cx="2378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Corp &amp; Community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" name="Text 10"/>
          <p:cNvSpPr/>
          <p:nvPr/>
        </p:nvSpPr>
        <p:spPr>
          <a:xfrm>
            <a:off x="566640" y="2176560"/>
            <a:ext cx="8047080" cy="4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3 IP admissions, 29 OPs, 12 activities, 1 MoU closed. 11 new companies approached this week.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" name="Shape 11"/>
          <p:cNvSpPr/>
          <p:nvPr/>
        </p:nvSpPr>
        <p:spPr>
          <a:xfrm>
            <a:off x="365040" y="2816280"/>
            <a:ext cx="8413920" cy="841320"/>
          </a:xfrm>
          <a:prstGeom prst="rect">
            <a:avLst/>
          </a:prstGeom>
          <a:solidFill>
            <a:srgbClr val="FFFFFF"/>
          </a:solidFill>
          <a:ln w="12600">
            <a:solidFill>
              <a:srgbClr val="B2DFCB"/>
            </a:solidFill>
            <a:miter/>
          </a:ln>
          <a:effectLst>
            <a:outerShdw dist="25455" dir="8100000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" name="Shape 12"/>
          <p:cNvSpPr/>
          <p:nvPr/>
        </p:nvSpPr>
        <p:spPr>
          <a:xfrm>
            <a:off x="365040" y="2816280"/>
            <a:ext cx="65160" cy="841320"/>
          </a:xfrm>
          <a:prstGeom prst="rect">
            <a:avLst/>
          </a:prstGeom>
          <a:solidFill>
            <a:srgbClr val="0070C0"/>
          </a:solidFill>
          <a:ln w="12600">
            <a:solidFill>
              <a:srgbClr val="4CAF7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" name="Text 13"/>
          <p:cNvSpPr/>
          <p:nvPr/>
        </p:nvSpPr>
        <p:spPr>
          <a:xfrm>
            <a:off x="566640" y="2871720"/>
            <a:ext cx="2378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Institutional Business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" name="Text 14"/>
          <p:cNvSpPr/>
          <p:nvPr/>
        </p:nvSpPr>
        <p:spPr>
          <a:xfrm>
            <a:off x="566640" y="3164040"/>
            <a:ext cx="8047080" cy="4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Approached St. Joseph Hospital, Kothamangalam &amp; Malankara Medical Mission.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" name="Shape 15"/>
          <p:cNvSpPr/>
          <p:nvPr/>
        </p:nvSpPr>
        <p:spPr>
          <a:xfrm>
            <a:off x="365040" y="3803760"/>
            <a:ext cx="8413920" cy="841320"/>
          </a:xfrm>
          <a:prstGeom prst="rect">
            <a:avLst/>
          </a:prstGeom>
          <a:solidFill>
            <a:srgbClr val="FFFFFF"/>
          </a:solidFill>
          <a:ln w="12600">
            <a:solidFill>
              <a:srgbClr val="B2DFCB"/>
            </a:solidFill>
            <a:miter/>
          </a:ln>
          <a:effectLst>
            <a:outerShdw dist="25455" dir="8100000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" name="Shape 16"/>
          <p:cNvSpPr/>
          <p:nvPr/>
        </p:nvSpPr>
        <p:spPr>
          <a:xfrm>
            <a:off x="365040" y="3803760"/>
            <a:ext cx="65160" cy="841320"/>
          </a:xfrm>
          <a:prstGeom prst="rect">
            <a:avLst/>
          </a:prstGeom>
          <a:solidFill>
            <a:srgbClr val="7030A0"/>
          </a:solidFill>
          <a:ln w="12600">
            <a:solidFill>
              <a:srgbClr val="4CAF7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8" name="Text 17"/>
          <p:cNvSpPr/>
          <p:nvPr/>
        </p:nvSpPr>
        <p:spPr>
          <a:xfrm>
            <a:off x="566640" y="3859200"/>
            <a:ext cx="23781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Marketing &amp; Branding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9" name="Text 18"/>
          <p:cNvSpPr/>
          <p:nvPr/>
        </p:nvSpPr>
        <p:spPr>
          <a:xfrm>
            <a:off x="566640" y="4151160"/>
            <a:ext cx="8047080" cy="42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Dr. Ramnarayan campaign: 51% conversion on Rs.1,500 test budget.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Yatra launch.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0" name="Shape 19"/>
          <p:cNvSpPr/>
          <p:nvPr/>
        </p:nvSpPr>
        <p:spPr>
          <a:xfrm>
            <a:off x="0" y="4754520"/>
            <a:ext cx="9144000" cy="389160"/>
          </a:xfrm>
          <a:prstGeom prst="rect">
            <a:avLst/>
          </a:prstGeom>
          <a:solidFill>
            <a:srgbClr val="4CAF7D"/>
          </a:solidFill>
          <a:ln w="12600">
            <a:solidFill>
              <a:srgbClr val="4CAF7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" name="Text 20"/>
          <p:cNvSpPr/>
          <p:nvPr/>
        </p:nvSpPr>
        <p:spPr>
          <a:xfrm>
            <a:off x="365040" y="4773600"/>
            <a:ext cx="8413920" cy="3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Weekly Update  |  May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0" y="0"/>
            <a:ext cx="9144000" cy="658800"/>
          </a:xfrm>
          <a:prstGeom prst="rect">
            <a:avLst/>
          </a:prstGeom>
          <a:solidFill>
            <a:srgbClr val="385723"/>
          </a:solidFill>
          <a:ln w="12600">
            <a:solidFill>
              <a:srgbClr val="4CAF7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" name="Text 1"/>
          <p:cNvSpPr/>
          <p:nvPr/>
        </p:nvSpPr>
        <p:spPr>
          <a:xfrm>
            <a:off x="365040" y="0"/>
            <a:ext cx="6400800" cy="65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REFERRAL SALES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" name="Text 2"/>
          <p:cNvSpPr/>
          <p:nvPr/>
        </p:nvSpPr>
        <p:spPr>
          <a:xfrm>
            <a:off x="6765840" y="0"/>
            <a:ext cx="2013120" cy="65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1" u="none" strike="noStrike">
                <a:solidFill>
                  <a:srgbClr val="E8F5EE"/>
                </a:solidFill>
                <a:effectLst/>
                <a:uFillTx/>
                <a:latin typeface="Calibri"/>
                <a:ea typeface="Calibri"/>
              </a:rPr>
              <a:t>22 – 29 May 2026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5" name="Shape 3"/>
          <p:cNvSpPr/>
          <p:nvPr/>
        </p:nvSpPr>
        <p:spPr>
          <a:xfrm>
            <a:off x="228600" y="804960"/>
            <a:ext cx="1609560" cy="1417680"/>
          </a:xfrm>
          <a:prstGeom prst="rect">
            <a:avLst/>
          </a:prstGeom>
          <a:solidFill>
            <a:srgbClr val="E8F5EE"/>
          </a:solidFill>
          <a:ln w="12600">
            <a:solidFill>
              <a:srgbClr val="B2DFCB"/>
            </a:solidFill>
            <a:miter/>
          </a:ln>
          <a:effectLst>
            <a:outerShdw dist="25455" dir="8100000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" name="Shape 4"/>
          <p:cNvSpPr/>
          <p:nvPr/>
        </p:nvSpPr>
        <p:spPr>
          <a:xfrm>
            <a:off x="228600" y="804960"/>
            <a:ext cx="1609560" cy="54000"/>
          </a:xfrm>
          <a:prstGeom prst="rect">
            <a:avLst/>
          </a:prstGeom>
          <a:solidFill>
            <a:srgbClr val="7030A0"/>
          </a:solidFill>
          <a:ln w="12600">
            <a:solidFill>
              <a:srgbClr val="4CAF7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7200" rIns="90000" bIns="72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7" name="Text 5"/>
          <p:cNvSpPr/>
          <p:nvPr/>
        </p:nvSpPr>
        <p:spPr>
          <a:xfrm>
            <a:off x="320760" y="914400"/>
            <a:ext cx="142560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2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48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8" name="Text 6"/>
          <p:cNvSpPr/>
          <p:nvPr/>
        </p:nvSpPr>
        <p:spPr>
          <a:xfrm>
            <a:off x="274680" y="1700280"/>
            <a:ext cx="15177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1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Total Referral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9" name="Text 7"/>
          <p:cNvSpPr/>
          <p:nvPr/>
        </p:nvSpPr>
        <p:spPr>
          <a:xfrm>
            <a:off x="274680" y="1974960"/>
            <a:ext cx="1517760" cy="20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IP + OP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0" name="Shape 8"/>
          <p:cNvSpPr/>
          <p:nvPr/>
        </p:nvSpPr>
        <p:spPr>
          <a:xfrm>
            <a:off x="1928880" y="804960"/>
            <a:ext cx="1609560" cy="1417680"/>
          </a:xfrm>
          <a:prstGeom prst="rect">
            <a:avLst/>
          </a:prstGeom>
          <a:solidFill>
            <a:srgbClr val="E8F5EE"/>
          </a:solidFill>
          <a:ln w="12600">
            <a:solidFill>
              <a:srgbClr val="B2DFCB"/>
            </a:solidFill>
            <a:miter/>
          </a:ln>
          <a:effectLst>
            <a:outerShdw dist="25455" dir="8100000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1" name="Shape 9"/>
          <p:cNvSpPr/>
          <p:nvPr/>
        </p:nvSpPr>
        <p:spPr>
          <a:xfrm>
            <a:off x="1928880" y="804960"/>
            <a:ext cx="1609560" cy="54000"/>
          </a:xfrm>
          <a:prstGeom prst="rect">
            <a:avLst/>
          </a:prstGeom>
          <a:solidFill>
            <a:srgbClr val="FF0000"/>
          </a:solidFill>
          <a:ln w="12600">
            <a:solidFill>
              <a:srgbClr val="4CAF7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7200" rIns="90000" bIns="72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2" name="Text 10"/>
          <p:cNvSpPr/>
          <p:nvPr/>
        </p:nvSpPr>
        <p:spPr>
          <a:xfrm>
            <a:off x="2021040" y="914400"/>
            <a:ext cx="142704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2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29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3" name="Text 11"/>
          <p:cNvSpPr/>
          <p:nvPr/>
        </p:nvSpPr>
        <p:spPr>
          <a:xfrm>
            <a:off x="1974960" y="1700280"/>
            <a:ext cx="15174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1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IP Referral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4" name="Shape 12"/>
          <p:cNvSpPr/>
          <p:nvPr/>
        </p:nvSpPr>
        <p:spPr>
          <a:xfrm>
            <a:off x="3630600" y="804960"/>
            <a:ext cx="1608120" cy="1417680"/>
          </a:xfrm>
          <a:prstGeom prst="rect">
            <a:avLst/>
          </a:prstGeom>
          <a:solidFill>
            <a:srgbClr val="E8F5EE"/>
          </a:solidFill>
          <a:ln w="12600">
            <a:solidFill>
              <a:srgbClr val="B2DFCB"/>
            </a:solidFill>
            <a:miter/>
          </a:ln>
          <a:effectLst>
            <a:outerShdw dist="25455" dir="8100000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5" name="Shape 13"/>
          <p:cNvSpPr/>
          <p:nvPr/>
        </p:nvSpPr>
        <p:spPr>
          <a:xfrm>
            <a:off x="3630600" y="804960"/>
            <a:ext cx="1608120" cy="54000"/>
          </a:xfrm>
          <a:prstGeom prst="rect">
            <a:avLst/>
          </a:prstGeom>
          <a:solidFill>
            <a:srgbClr val="00B0F0"/>
          </a:solidFill>
          <a:ln w="12600">
            <a:solidFill>
              <a:srgbClr val="4CAF7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7200" rIns="90000" bIns="72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6" name="Text 14"/>
          <p:cNvSpPr/>
          <p:nvPr/>
        </p:nvSpPr>
        <p:spPr>
          <a:xfrm>
            <a:off x="3720960" y="914400"/>
            <a:ext cx="142740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2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7" name="Text 15"/>
          <p:cNvSpPr/>
          <p:nvPr/>
        </p:nvSpPr>
        <p:spPr>
          <a:xfrm>
            <a:off x="3676680" y="1700280"/>
            <a:ext cx="15177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1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OP Referral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8" name="Shape 16"/>
          <p:cNvSpPr/>
          <p:nvPr/>
        </p:nvSpPr>
        <p:spPr>
          <a:xfrm>
            <a:off x="5330880" y="804960"/>
            <a:ext cx="1609560" cy="1417680"/>
          </a:xfrm>
          <a:prstGeom prst="rect">
            <a:avLst/>
          </a:prstGeom>
          <a:solidFill>
            <a:srgbClr val="E8F5EE"/>
          </a:solidFill>
          <a:ln w="12600">
            <a:solidFill>
              <a:srgbClr val="B2DFCB"/>
            </a:solidFill>
            <a:miter/>
          </a:ln>
          <a:effectLst>
            <a:outerShdw dist="25455" dir="8100000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9" name="Shape 17"/>
          <p:cNvSpPr/>
          <p:nvPr/>
        </p:nvSpPr>
        <p:spPr>
          <a:xfrm>
            <a:off x="5330880" y="804960"/>
            <a:ext cx="1609560" cy="54000"/>
          </a:xfrm>
          <a:prstGeom prst="rect">
            <a:avLst/>
          </a:prstGeom>
          <a:solidFill>
            <a:srgbClr val="FFFF00"/>
          </a:solidFill>
          <a:ln w="12600">
            <a:solidFill>
              <a:srgbClr val="4CAF7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7200" rIns="90000" bIns="72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0" name="Text 18"/>
          <p:cNvSpPr/>
          <p:nvPr/>
        </p:nvSpPr>
        <p:spPr>
          <a:xfrm>
            <a:off x="5423040" y="914400"/>
            <a:ext cx="142560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2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1" name="Text 19"/>
          <p:cNvSpPr/>
          <p:nvPr/>
        </p:nvSpPr>
        <p:spPr>
          <a:xfrm>
            <a:off x="5376960" y="1700280"/>
            <a:ext cx="15174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1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Medical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2" name="Text 20"/>
          <p:cNvSpPr/>
          <p:nvPr/>
        </p:nvSpPr>
        <p:spPr>
          <a:xfrm>
            <a:off x="5376960" y="1974960"/>
            <a:ext cx="1517400" cy="20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Referral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3" name="Shape 21"/>
          <p:cNvSpPr/>
          <p:nvPr/>
        </p:nvSpPr>
        <p:spPr>
          <a:xfrm>
            <a:off x="7031160" y="804960"/>
            <a:ext cx="1609560" cy="1417680"/>
          </a:xfrm>
          <a:prstGeom prst="rect">
            <a:avLst/>
          </a:prstGeom>
          <a:solidFill>
            <a:srgbClr val="E8F5EE"/>
          </a:solidFill>
          <a:ln w="12600">
            <a:solidFill>
              <a:srgbClr val="B2DFCB"/>
            </a:solidFill>
            <a:miter/>
          </a:ln>
          <a:effectLst>
            <a:outerShdw dist="25455" dir="8100000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4" name="Shape 22"/>
          <p:cNvSpPr/>
          <p:nvPr/>
        </p:nvSpPr>
        <p:spPr>
          <a:xfrm>
            <a:off x="7031160" y="804960"/>
            <a:ext cx="1609560" cy="54000"/>
          </a:xfrm>
          <a:prstGeom prst="rect">
            <a:avLst/>
          </a:prstGeom>
          <a:solidFill>
            <a:srgbClr val="843C0C"/>
          </a:solidFill>
          <a:ln w="12600">
            <a:solidFill>
              <a:srgbClr val="4CAF7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7200" rIns="90000" bIns="72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5" name="Text 23"/>
          <p:cNvSpPr/>
          <p:nvPr/>
        </p:nvSpPr>
        <p:spPr>
          <a:xfrm>
            <a:off x="7122960" y="914400"/>
            <a:ext cx="142740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2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6" name="Text 24"/>
          <p:cNvSpPr/>
          <p:nvPr/>
        </p:nvSpPr>
        <p:spPr>
          <a:xfrm>
            <a:off x="7077240" y="1700280"/>
            <a:ext cx="15174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1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Surgical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7" name="Text 25"/>
          <p:cNvSpPr/>
          <p:nvPr/>
        </p:nvSpPr>
        <p:spPr>
          <a:xfrm>
            <a:off x="7077240" y="1974960"/>
            <a:ext cx="1517400" cy="20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Referral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8" name="Shape 26"/>
          <p:cNvSpPr/>
          <p:nvPr/>
        </p:nvSpPr>
        <p:spPr>
          <a:xfrm>
            <a:off x="228600" y="2395440"/>
            <a:ext cx="2651040" cy="1189080"/>
          </a:xfrm>
          <a:prstGeom prst="rect">
            <a:avLst/>
          </a:prstGeom>
          <a:solidFill>
            <a:srgbClr val="FFFFFF"/>
          </a:solidFill>
          <a:ln w="12600">
            <a:solidFill>
              <a:srgbClr val="B2DFCB"/>
            </a:solidFill>
            <a:miter/>
          </a:ln>
          <a:effectLst>
            <a:outerShdw dist="25455" dir="8100000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9" name="Shape 27"/>
          <p:cNvSpPr/>
          <p:nvPr/>
        </p:nvSpPr>
        <p:spPr>
          <a:xfrm>
            <a:off x="228600" y="2395440"/>
            <a:ext cx="2651040" cy="55800"/>
          </a:xfrm>
          <a:prstGeom prst="rect">
            <a:avLst/>
          </a:prstGeom>
          <a:solidFill>
            <a:srgbClr val="ED7D31"/>
          </a:solidFill>
          <a:ln w="12600">
            <a:solidFill>
              <a:srgbClr val="B2DFC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9000" rIns="90000" bIns="90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0" name="Text 28"/>
          <p:cNvSpPr/>
          <p:nvPr/>
        </p:nvSpPr>
        <p:spPr>
          <a:xfrm>
            <a:off x="320760" y="2487600"/>
            <a:ext cx="246852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8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22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1" name="Text 29"/>
          <p:cNvSpPr/>
          <p:nvPr/>
        </p:nvSpPr>
        <p:spPr>
          <a:xfrm>
            <a:off x="320760" y="3200400"/>
            <a:ext cx="24685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Doctor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2" name="Shape 30"/>
          <p:cNvSpPr/>
          <p:nvPr/>
        </p:nvSpPr>
        <p:spPr>
          <a:xfrm>
            <a:off x="3127320" y="2395440"/>
            <a:ext cx="2651040" cy="1189080"/>
          </a:xfrm>
          <a:prstGeom prst="rect">
            <a:avLst/>
          </a:prstGeom>
          <a:solidFill>
            <a:srgbClr val="FFFFFF"/>
          </a:solidFill>
          <a:ln w="12600">
            <a:solidFill>
              <a:srgbClr val="B2DFCB"/>
            </a:solidFill>
            <a:miter/>
          </a:ln>
          <a:effectLst>
            <a:outerShdw dist="25455" dir="8100000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3" name="Shape 31"/>
          <p:cNvSpPr/>
          <p:nvPr/>
        </p:nvSpPr>
        <p:spPr>
          <a:xfrm>
            <a:off x="3127320" y="2395440"/>
            <a:ext cx="2651040" cy="55800"/>
          </a:xfrm>
          <a:prstGeom prst="rect">
            <a:avLst/>
          </a:prstGeom>
          <a:solidFill>
            <a:srgbClr val="C00000"/>
          </a:solidFill>
          <a:ln w="12600">
            <a:solidFill>
              <a:srgbClr val="B2DFC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9000" rIns="90000" bIns="90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 32"/>
          <p:cNvSpPr/>
          <p:nvPr/>
        </p:nvSpPr>
        <p:spPr>
          <a:xfrm>
            <a:off x="3219480" y="2487600"/>
            <a:ext cx="246852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8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 33"/>
          <p:cNvSpPr/>
          <p:nvPr/>
        </p:nvSpPr>
        <p:spPr>
          <a:xfrm>
            <a:off x="3219480" y="3200400"/>
            <a:ext cx="24685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Ambulance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6" name="Shape 34"/>
          <p:cNvSpPr/>
          <p:nvPr/>
        </p:nvSpPr>
        <p:spPr>
          <a:xfrm>
            <a:off x="6026040" y="2395440"/>
            <a:ext cx="2651400" cy="1189080"/>
          </a:xfrm>
          <a:prstGeom prst="rect">
            <a:avLst/>
          </a:prstGeom>
          <a:solidFill>
            <a:srgbClr val="FFFFFF"/>
          </a:solidFill>
          <a:ln w="12600">
            <a:solidFill>
              <a:srgbClr val="B2DFCB"/>
            </a:solidFill>
            <a:miter/>
          </a:ln>
          <a:effectLst>
            <a:outerShdw dist="25455" dir="8100000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7" name="Shape 35"/>
          <p:cNvSpPr/>
          <p:nvPr/>
        </p:nvSpPr>
        <p:spPr>
          <a:xfrm>
            <a:off x="6026040" y="2395440"/>
            <a:ext cx="2651400" cy="55800"/>
          </a:xfrm>
          <a:prstGeom prst="rect">
            <a:avLst/>
          </a:prstGeom>
          <a:solidFill>
            <a:srgbClr val="002060"/>
          </a:solidFill>
          <a:ln w="12600">
            <a:solidFill>
              <a:srgbClr val="B2DFC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9000" rIns="90000" bIns="90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 36"/>
          <p:cNvSpPr/>
          <p:nvPr/>
        </p:nvSpPr>
        <p:spPr>
          <a:xfrm>
            <a:off x="6116760" y="2487600"/>
            <a:ext cx="246996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8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 37"/>
          <p:cNvSpPr/>
          <p:nvPr/>
        </p:nvSpPr>
        <p:spPr>
          <a:xfrm>
            <a:off x="6116760" y="3200400"/>
            <a:ext cx="2469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PRO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0" name="Shape 38"/>
          <p:cNvSpPr/>
          <p:nvPr/>
        </p:nvSpPr>
        <p:spPr>
          <a:xfrm>
            <a:off x="228600" y="3749760"/>
            <a:ext cx="8686800" cy="345960"/>
          </a:xfrm>
          <a:prstGeom prst="rect">
            <a:avLst/>
          </a:prstGeom>
          <a:solidFill>
            <a:srgbClr val="E8F5EE"/>
          </a:solidFill>
          <a:ln w="12600">
            <a:solidFill>
              <a:srgbClr val="B2DFC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 39"/>
          <p:cNvSpPr/>
          <p:nvPr/>
        </p:nvSpPr>
        <p:spPr>
          <a:xfrm>
            <a:off x="365040" y="3749760"/>
            <a:ext cx="84139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Total Referral: 48  |  Medical: 16  |  Surgical: 13  |  Doctor: 22  |  Ambulance: 15  |  PRO: 11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 41"/>
          <p:cNvSpPr/>
          <p:nvPr/>
        </p:nvSpPr>
        <p:spPr>
          <a:xfrm>
            <a:off x="365040" y="4773600"/>
            <a:ext cx="8413920" cy="3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Lakeshore Hospital  |  BD &amp; Marketing Weekly Update  |  May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0"/>
          <p:cNvSpPr/>
          <p:nvPr/>
        </p:nvSpPr>
        <p:spPr>
          <a:xfrm>
            <a:off x="0" y="0"/>
            <a:ext cx="9144000" cy="658800"/>
          </a:xfrm>
          <a:prstGeom prst="rect">
            <a:avLst/>
          </a:prstGeom>
          <a:solidFill>
            <a:srgbClr val="385723"/>
          </a:solidFill>
          <a:ln w="12600">
            <a:solidFill>
              <a:srgbClr val="4CAF7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 1"/>
          <p:cNvSpPr/>
          <p:nvPr/>
        </p:nvSpPr>
        <p:spPr>
          <a:xfrm>
            <a:off x="365040" y="0"/>
            <a:ext cx="7315200" cy="65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LOCATION-WISE REFERRAL BREAKDOWN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 2"/>
          <p:cNvSpPr/>
          <p:nvPr/>
        </p:nvSpPr>
        <p:spPr>
          <a:xfrm>
            <a:off x="7497720" y="0"/>
            <a:ext cx="1371600" cy="65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1" u="none" strike="noStrike">
                <a:solidFill>
                  <a:srgbClr val="E8F5EE"/>
                </a:solidFill>
                <a:effectLst/>
                <a:uFillTx/>
                <a:latin typeface="Calibri"/>
                <a:ea typeface="Calibri"/>
              </a:rPr>
              <a:t>All Branches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76" name="Group 118"/>
          <p:cNvGrpSpPr/>
          <p:nvPr/>
        </p:nvGrpSpPr>
        <p:grpSpPr>
          <a:xfrm>
            <a:off x="584280" y="887400"/>
            <a:ext cx="7772400" cy="3822840"/>
            <a:chOff x="584280" y="887400"/>
            <a:chExt cx="7772400" cy="3822840"/>
          </a:xfrm>
        </p:grpSpPr>
        <p:sp>
          <p:nvSpPr>
            <p:cNvPr id="77" name="Shape 3"/>
            <p:cNvSpPr/>
            <p:nvPr/>
          </p:nvSpPr>
          <p:spPr>
            <a:xfrm>
              <a:off x="584280" y="887400"/>
              <a:ext cx="2011680" cy="384120"/>
            </a:xfrm>
            <a:prstGeom prst="rect">
              <a:avLst/>
            </a:prstGeom>
            <a:solidFill>
              <a:srgbClr val="4CAF7D"/>
            </a:solidFill>
            <a:ln w="12600">
              <a:solidFill>
                <a:srgbClr val="4CAF7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8" name="Text 4"/>
            <p:cNvSpPr/>
            <p:nvPr/>
          </p:nvSpPr>
          <p:spPr>
            <a:xfrm>
              <a:off x="630000" y="887400"/>
              <a:ext cx="1920240" cy="38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100" b="1" u="none" strike="noStrik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LOCATION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9" name="Shape 5"/>
            <p:cNvSpPr/>
            <p:nvPr/>
          </p:nvSpPr>
          <p:spPr>
            <a:xfrm>
              <a:off x="2595960" y="887400"/>
              <a:ext cx="1005840" cy="384120"/>
            </a:xfrm>
            <a:prstGeom prst="rect">
              <a:avLst/>
            </a:prstGeom>
            <a:solidFill>
              <a:srgbClr val="4CAF7D"/>
            </a:solidFill>
            <a:ln w="12600">
              <a:solidFill>
                <a:srgbClr val="4CAF7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0" name="Text 6"/>
            <p:cNvSpPr/>
            <p:nvPr/>
          </p:nvSpPr>
          <p:spPr>
            <a:xfrm>
              <a:off x="2641680" y="887400"/>
              <a:ext cx="914400" cy="38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100" b="1" u="none" strike="noStrik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TOTAL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1" name="Shape 7"/>
            <p:cNvSpPr/>
            <p:nvPr/>
          </p:nvSpPr>
          <p:spPr>
            <a:xfrm>
              <a:off x="3601800" y="887400"/>
              <a:ext cx="914400" cy="384120"/>
            </a:xfrm>
            <a:prstGeom prst="rect">
              <a:avLst/>
            </a:prstGeom>
            <a:solidFill>
              <a:srgbClr val="4CAF7D"/>
            </a:solidFill>
            <a:ln w="12600">
              <a:solidFill>
                <a:srgbClr val="4CAF7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2" name="Text 8"/>
            <p:cNvSpPr/>
            <p:nvPr/>
          </p:nvSpPr>
          <p:spPr>
            <a:xfrm>
              <a:off x="3647520" y="887400"/>
              <a:ext cx="822960" cy="38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100" b="1" u="none" strike="noStrik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OP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3" name="Shape 9"/>
            <p:cNvSpPr/>
            <p:nvPr/>
          </p:nvSpPr>
          <p:spPr>
            <a:xfrm>
              <a:off x="4516200" y="887400"/>
              <a:ext cx="822960" cy="384120"/>
            </a:xfrm>
            <a:prstGeom prst="rect">
              <a:avLst/>
            </a:prstGeom>
            <a:solidFill>
              <a:srgbClr val="4CAF7D"/>
            </a:solidFill>
            <a:ln w="12600">
              <a:solidFill>
                <a:srgbClr val="4CAF7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4" name="Text 10"/>
            <p:cNvSpPr/>
            <p:nvPr/>
          </p:nvSpPr>
          <p:spPr>
            <a:xfrm>
              <a:off x="4561920" y="887400"/>
              <a:ext cx="731520" cy="38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100" b="1" u="none" strike="noStrik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ER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5" name="Shape 11"/>
            <p:cNvSpPr/>
            <p:nvPr/>
          </p:nvSpPr>
          <p:spPr>
            <a:xfrm>
              <a:off x="5339160" y="887400"/>
              <a:ext cx="822960" cy="384120"/>
            </a:xfrm>
            <a:prstGeom prst="rect">
              <a:avLst/>
            </a:prstGeom>
            <a:solidFill>
              <a:srgbClr val="4CAF7D"/>
            </a:solidFill>
            <a:ln w="12600">
              <a:solidFill>
                <a:srgbClr val="4CAF7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6" name="Text 12"/>
            <p:cNvSpPr/>
            <p:nvPr/>
          </p:nvSpPr>
          <p:spPr>
            <a:xfrm>
              <a:off x="5384880" y="887400"/>
              <a:ext cx="731520" cy="38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100" b="1" u="none" strike="noStrik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PRO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7" name="Shape 13"/>
            <p:cNvSpPr/>
            <p:nvPr/>
          </p:nvSpPr>
          <p:spPr>
            <a:xfrm>
              <a:off x="6162120" y="887400"/>
              <a:ext cx="1234440" cy="384120"/>
            </a:xfrm>
            <a:prstGeom prst="rect">
              <a:avLst/>
            </a:prstGeom>
            <a:solidFill>
              <a:srgbClr val="4CAF7D"/>
            </a:solidFill>
            <a:ln w="12600">
              <a:solidFill>
                <a:srgbClr val="4CAF7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8" name="Text 14"/>
            <p:cNvSpPr/>
            <p:nvPr/>
          </p:nvSpPr>
          <p:spPr>
            <a:xfrm>
              <a:off x="6207840" y="887400"/>
              <a:ext cx="1143000" cy="38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100" b="1" u="none" strike="noStrik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AMBULANCE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9" name="Shape 15"/>
            <p:cNvSpPr/>
            <p:nvPr/>
          </p:nvSpPr>
          <p:spPr>
            <a:xfrm>
              <a:off x="7396560" y="887400"/>
              <a:ext cx="960120" cy="384120"/>
            </a:xfrm>
            <a:prstGeom prst="rect">
              <a:avLst/>
            </a:prstGeom>
            <a:solidFill>
              <a:srgbClr val="4CAF7D"/>
            </a:solidFill>
            <a:ln w="12600">
              <a:solidFill>
                <a:srgbClr val="4CAF7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0" name="Text 16"/>
            <p:cNvSpPr/>
            <p:nvPr/>
          </p:nvSpPr>
          <p:spPr>
            <a:xfrm>
              <a:off x="7442280" y="887400"/>
              <a:ext cx="868680" cy="38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100" b="1" u="none" strike="noStrik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NEW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1" name="Shape 17"/>
            <p:cNvSpPr/>
            <p:nvPr/>
          </p:nvSpPr>
          <p:spPr>
            <a:xfrm>
              <a:off x="584280" y="1271520"/>
              <a:ext cx="2011680" cy="475560"/>
            </a:xfrm>
            <a:prstGeom prst="rect">
              <a:avLst/>
            </a:prstGeom>
            <a:solidFill>
              <a:srgbClr val="E8F5EE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2" name="Text 18"/>
            <p:cNvSpPr/>
            <p:nvPr/>
          </p:nvSpPr>
          <p:spPr>
            <a:xfrm>
              <a:off x="630000" y="1271520"/>
              <a:ext cx="1919160" cy="476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100" b="1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EDAPPALY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3" name="Shape 19"/>
            <p:cNvSpPr/>
            <p:nvPr/>
          </p:nvSpPr>
          <p:spPr>
            <a:xfrm>
              <a:off x="2595960" y="1271520"/>
              <a:ext cx="1005840" cy="475560"/>
            </a:xfrm>
            <a:prstGeom prst="rect">
              <a:avLst/>
            </a:prstGeom>
            <a:solidFill>
              <a:srgbClr val="E8F5EE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4" name="Text 20"/>
            <p:cNvSpPr/>
            <p:nvPr/>
          </p:nvSpPr>
          <p:spPr>
            <a:xfrm>
              <a:off x="2641680" y="1271520"/>
              <a:ext cx="91440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0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40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5" name="Shape 21"/>
            <p:cNvSpPr/>
            <p:nvPr/>
          </p:nvSpPr>
          <p:spPr>
            <a:xfrm>
              <a:off x="3601800" y="1271520"/>
              <a:ext cx="914400" cy="475560"/>
            </a:xfrm>
            <a:prstGeom prst="rect">
              <a:avLst/>
            </a:prstGeom>
            <a:solidFill>
              <a:srgbClr val="E8F5EE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6" name="Text 22"/>
            <p:cNvSpPr/>
            <p:nvPr/>
          </p:nvSpPr>
          <p:spPr>
            <a:xfrm>
              <a:off x="3647520" y="1271520"/>
              <a:ext cx="82296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0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30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7" name="Shape 23"/>
            <p:cNvSpPr/>
            <p:nvPr/>
          </p:nvSpPr>
          <p:spPr>
            <a:xfrm>
              <a:off x="4516200" y="1271520"/>
              <a:ext cx="822960" cy="475560"/>
            </a:xfrm>
            <a:prstGeom prst="rect">
              <a:avLst/>
            </a:prstGeom>
            <a:solidFill>
              <a:srgbClr val="E8F5EE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8" name="Text 24"/>
            <p:cNvSpPr/>
            <p:nvPr/>
          </p:nvSpPr>
          <p:spPr>
            <a:xfrm>
              <a:off x="4561920" y="1271520"/>
              <a:ext cx="73152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0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10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9" name="Shape 25"/>
            <p:cNvSpPr/>
            <p:nvPr/>
          </p:nvSpPr>
          <p:spPr>
            <a:xfrm>
              <a:off x="5339160" y="1271520"/>
              <a:ext cx="822960" cy="475560"/>
            </a:xfrm>
            <a:prstGeom prst="rect">
              <a:avLst/>
            </a:prstGeom>
            <a:solidFill>
              <a:srgbClr val="E8F5EE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0" name="Text 26"/>
            <p:cNvSpPr/>
            <p:nvPr/>
          </p:nvSpPr>
          <p:spPr>
            <a:xfrm>
              <a:off x="5384880" y="1271520"/>
              <a:ext cx="73152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0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6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1" name="Shape 27"/>
            <p:cNvSpPr/>
            <p:nvPr/>
          </p:nvSpPr>
          <p:spPr>
            <a:xfrm>
              <a:off x="6162120" y="1271520"/>
              <a:ext cx="1234440" cy="475560"/>
            </a:xfrm>
            <a:prstGeom prst="rect">
              <a:avLst/>
            </a:prstGeom>
            <a:solidFill>
              <a:srgbClr val="E8F5EE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2" name="Text 28"/>
            <p:cNvSpPr/>
            <p:nvPr/>
          </p:nvSpPr>
          <p:spPr>
            <a:xfrm>
              <a:off x="6207840" y="1271520"/>
              <a:ext cx="114300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0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8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3" name="Shape 29"/>
            <p:cNvSpPr/>
            <p:nvPr/>
          </p:nvSpPr>
          <p:spPr>
            <a:xfrm>
              <a:off x="7396560" y="1271520"/>
              <a:ext cx="960120" cy="475560"/>
            </a:xfrm>
            <a:prstGeom prst="rect">
              <a:avLst/>
            </a:prstGeom>
            <a:solidFill>
              <a:srgbClr val="E8F5EE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4" name="Text 30"/>
            <p:cNvSpPr/>
            <p:nvPr/>
          </p:nvSpPr>
          <p:spPr>
            <a:xfrm>
              <a:off x="7442280" y="1271520"/>
              <a:ext cx="86868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0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8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5" name="Shape 31"/>
            <p:cNvSpPr/>
            <p:nvPr/>
          </p:nvSpPr>
          <p:spPr>
            <a:xfrm>
              <a:off x="584280" y="1765440"/>
              <a:ext cx="2011680" cy="47556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6" name="Text 32"/>
            <p:cNvSpPr/>
            <p:nvPr/>
          </p:nvSpPr>
          <p:spPr>
            <a:xfrm>
              <a:off x="630000" y="1765080"/>
              <a:ext cx="1919160" cy="476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100" b="1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VYTILA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7" name="Shape 33"/>
            <p:cNvSpPr/>
            <p:nvPr/>
          </p:nvSpPr>
          <p:spPr>
            <a:xfrm>
              <a:off x="2595960" y="1765440"/>
              <a:ext cx="1005840" cy="47556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8" name="Text 34"/>
            <p:cNvSpPr/>
            <p:nvPr/>
          </p:nvSpPr>
          <p:spPr>
            <a:xfrm>
              <a:off x="2641680" y="1765440"/>
              <a:ext cx="91440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0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30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9" name="Shape 35"/>
            <p:cNvSpPr/>
            <p:nvPr/>
          </p:nvSpPr>
          <p:spPr>
            <a:xfrm>
              <a:off x="3601800" y="1765440"/>
              <a:ext cx="914400" cy="47556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0" name="Text 36"/>
            <p:cNvSpPr/>
            <p:nvPr/>
          </p:nvSpPr>
          <p:spPr>
            <a:xfrm>
              <a:off x="3647520" y="1765440"/>
              <a:ext cx="82296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0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26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1" name="Shape 37"/>
            <p:cNvSpPr/>
            <p:nvPr/>
          </p:nvSpPr>
          <p:spPr>
            <a:xfrm>
              <a:off x="4516200" y="1765440"/>
              <a:ext cx="822960" cy="47556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2" name="Text 38"/>
            <p:cNvSpPr/>
            <p:nvPr/>
          </p:nvSpPr>
          <p:spPr>
            <a:xfrm>
              <a:off x="4561920" y="1765440"/>
              <a:ext cx="73152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0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4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3" name="Shape 39"/>
            <p:cNvSpPr/>
            <p:nvPr/>
          </p:nvSpPr>
          <p:spPr>
            <a:xfrm>
              <a:off x="5339160" y="1765440"/>
              <a:ext cx="822960" cy="47556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4" name="Text 40"/>
            <p:cNvSpPr/>
            <p:nvPr/>
          </p:nvSpPr>
          <p:spPr>
            <a:xfrm>
              <a:off x="5384880" y="1765440"/>
              <a:ext cx="73152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0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6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5" name="Shape 41"/>
            <p:cNvSpPr/>
            <p:nvPr/>
          </p:nvSpPr>
          <p:spPr>
            <a:xfrm>
              <a:off x="6162120" y="1765440"/>
              <a:ext cx="1234440" cy="47556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6" name="Text 42"/>
            <p:cNvSpPr/>
            <p:nvPr/>
          </p:nvSpPr>
          <p:spPr>
            <a:xfrm>
              <a:off x="6207840" y="1765440"/>
              <a:ext cx="114300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0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7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7" name="Shape 43"/>
            <p:cNvSpPr/>
            <p:nvPr/>
          </p:nvSpPr>
          <p:spPr>
            <a:xfrm>
              <a:off x="7396560" y="1765440"/>
              <a:ext cx="960120" cy="47556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8" name="Text 44"/>
            <p:cNvSpPr/>
            <p:nvPr/>
          </p:nvSpPr>
          <p:spPr>
            <a:xfrm>
              <a:off x="7442280" y="1765440"/>
              <a:ext cx="86868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0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2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9" name="Shape 45"/>
            <p:cNvSpPr/>
            <p:nvPr/>
          </p:nvSpPr>
          <p:spPr>
            <a:xfrm>
              <a:off x="584280" y="2259360"/>
              <a:ext cx="2011680" cy="475560"/>
            </a:xfrm>
            <a:prstGeom prst="rect">
              <a:avLst/>
            </a:prstGeom>
            <a:solidFill>
              <a:srgbClr val="E8F5EE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0" name="Text 46"/>
            <p:cNvSpPr/>
            <p:nvPr/>
          </p:nvSpPr>
          <p:spPr>
            <a:xfrm>
              <a:off x="630000" y="2259000"/>
              <a:ext cx="1919160" cy="476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100" b="1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KOTTAYAM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1" name="Shape 47"/>
            <p:cNvSpPr/>
            <p:nvPr/>
          </p:nvSpPr>
          <p:spPr>
            <a:xfrm>
              <a:off x="2595960" y="2259360"/>
              <a:ext cx="1005840" cy="475560"/>
            </a:xfrm>
            <a:prstGeom prst="rect">
              <a:avLst/>
            </a:prstGeom>
            <a:solidFill>
              <a:srgbClr val="E8F5EE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2" name="Text 48"/>
            <p:cNvSpPr/>
            <p:nvPr/>
          </p:nvSpPr>
          <p:spPr>
            <a:xfrm>
              <a:off x="2641680" y="2259360"/>
              <a:ext cx="91440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0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47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3" name="Shape 49"/>
            <p:cNvSpPr/>
            <p:nvPr/>
          </p:nvSpPr>
          <p:spPr>
            <a:xfrm>
              <a:off x="3601800" y="2259360"/>
              <a:ext cx="914400" cy="475560"/>
            </a:xfrm>
            <a:prstGeom prst="rect">
              <a:avLst/>
            </a:prstGeom>
            <a:solidFill>
              <a:srgbClr val="E8F5EE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4" name="Text 50"/>
            <p:cNvSpPr/>
            <p:nvPr/>
          </p:nvSpPr>
          <p:spPr>
            <a:xfrm>
              <a:off x="3647520" y="2259360"/>
              <a:ext cx="82296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0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45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5" name="Shape 51"/>
            <p:cNvSpPr/>
            <p:nvPr/>
          </p:nvSpPr>
          <p:spPr>
            <a:xfrm>
              <a:off x="4516200" y="2259360"/>
              <a:ext cx="822960" cy="475560"/>
            </a:xfrm>
            <a:prstGeom prst="rect">
              <a:avLst/>
            </a:prstGeom>
            <a:solidFill>
              <a:srgbClr val="E8F5EE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6" name="Text 52"/>
            <p:cNvSpPr/>
            <p:nvPr/>
          </p:nvSpPr>
          <p:spPr>
            <a:xfrm>
              <a:off x="4561920" y="2259360"/>
              <a:ext cx="73152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0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2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7" name="Shape 53"/>
            <p:cNvSpPr/>
            <p:nvPr/>
          </p:nvSpPr>
          <p:spPr>
            <a:xfrm>
              <a:off x="5339160" y="2259360"/>
              <a:ext cx="822960" cy="475560"/>
            </a:xfrm>
            <a:prstGeom prst="rect">
              <a:avLst/>
            </a:prstGeom>
            <a:solidFill>
              <a:srgbClr val="E8F5EE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8" name="Text 54"/>
            <p:cNvSpPr/>
            <p:nvPr/>
          </p:nvSpPr>
          <p:spPr>
            <a:xfrm>
              <a:off x="5384880" y="2259360"/>
              <a:ext cx="73152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0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4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9" name="Shape 55"/>
            <p:cNvSpPr/>
            <p:nvPr/>
          </p:nvSpPr>
          <p:spPr>
            <a:xfrm>
              <a:off x="6162120" y="2259360"/>
              <a:ext cx="1234440" cy="475560"/>
            </a:xfrm>
            <a:prstGeom prst="rect">
              <a:avLst/>
            </a:prstGeom>
            <a:solidFill>
              <a:srgbClr val="E8F5EE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0" name="Text 56"/>
            <p:cNvSpPr/>
            <p:nvPr/>
          </p:nvSpPr>
          <p:spPr>
            <a:xfrm>
              <a:off x="6207840" y="2259360"/>
              <a:ext cx="114300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0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2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1" name="Shape 57"/>
            <p:cNvSpPr/>
            <p:nvPr/>
          </p:nvSpPr>
          <p:spPr>
            <a:xfrm>
              <a:off x="7396560" y="2259360"/>
              <a:ext cx="960120" cy="475560"/>
            </a:xfrm>
            <a:prstGeom prst="rect">
              <a:avLst/>
            </a:prstGeom>
            <a:solidFill>
              <a:srgbClr val="E8F5EE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2" name="Text 58"/>
            <p:cNvSpPr/>
            <p:nvPr/>
          </p:nvSpPr>
          <p:spPr>
            <a:xfrm>
              <a:off x="7442280" y="2259360"/>
              <a:ext cx="86868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0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7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3" name="Shape 59"/>
            <p:cNvSpPr/>
            <p:nvPr/>
          </p:nvSpPr>
          <p:spPr>
            <a:xfrm>
              <a:off x="584280" y="2752920"/>
              <a:ext cx="2011680" cy="47556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4" name="Text 60"/>
            <p:cNvSpPr/>
            <p:nvPr/>
          </p:nvSpPr>
          <p:spPr>
            <a:xfrm>
              <a:off x="630000" y="2752920"/>
              <a:ext cx="1919160" cy="476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100" b="1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KOLLAM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5" name="Shape 61"/>
            <p:cNvSpPr/>
            <p:nvPr/>
          </p:nvSpPr>
          <p:spPr>
            <a:xfrm>
              <a:off x="2595960" y="2752920"/>
              <a:ext cx="1005840" cy="47556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6" name="Text 62"/>
            <p:cNvSpPr/>
            <p:nvPr/>
          </p:nvSpPr>
          <p:spPr>
            <a:xfrm>
              <a:off x="2641680" y="2752920"/>
              <a:ext cx="91440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0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44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7" name="Shape 63"/>
            <p:cNvSpPr/>
            <p:nvPr/>
          </p:nvSpPr>
          <p:spPr>
            <a:xfrm>
              <a:off x="3601800" y="2752920"/>
              <a:ext cx="914400" cy="47556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8" name="Text 64"/>
            <p:cNvSpPr/>
            <p:nvPr/>
          </p:nvSpPr>
          <p:spPr>
            <a:xfrm>
              <a:off x="3647520" y="2752920"/>
              <a:ext cx="82296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0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40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9" name="Shape 65"/>
            <p:cNvSpPr/>
            <p:nvPr/>
          </p:nvSpPr>
          <p:spPr>
            <a:xfrm>
              <a:off x="4516200" y="2752920"/>
              <a:ext cx="822960" cy="47556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0" name="Text 66"/>
            <p:cNvSpPr/>
            <p:nvPr/>
          </p:nvSpPr>
          <p:spPr>
            <a:xfrm>
              <a:off x="4561920" y="2752920"/>
              <a:ext cx="73152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0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4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1" name="Shape 67"/>
            <p:cNvSpPr/>
            <p:nvPr/>
          </p:nvSpPr>
          <p:spPr>
            <a:xfrm>
              <a:off x="5339160" y="2752920"/>
              <a:ext cx="822960" cy="47556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2" name="Text 68"/>
            <p:cNvSpPr/>
            <p:nvPr/>
          </p:nvSpPr>
          <p:spPr>
            <a:xfrm>
              <a:off x="5384880" y="2752920"/>
              <a:ext cx="73152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0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5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3" name="Shape 69"/>
            <p:cNvSpPr/>
            <p:nvPr/>
          </p:nvSpPr>
          <p:spPr>
            <a:xfrm>
              <a:off x="6162120" y="2752920"/>
              <a:ext cx="1234440" cy="47556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4" name="Text 70"/>
            <p:cNvSpPr/>
            <p:nvPr/>
          </p:nvSpPr>
          <p:spPr>
            <a:xfrm>
              <a:off x="6207840" y="2752920"/>
              <a:ext cx="114300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0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6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5" name="Shape 71"/>
            <p:cNvSpPr/>
            <p:nvPr/>
          </p:nvSpPr>
          <p:spPr>
            <a:xfrm>
              <a:off x="7396560" y="2752920"/>
              <a:ext cx="960120" cy="47556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6" name="Text 72"/>
            <p:cNvSpPr/>
            <p:nvPr/>
          </p:nvSpPr>
          <p:spPr>
            <a:xfrm>
              <a:off x="7442280" y="2752920"/>
              <a:ext cx="86868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0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—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7" name="Shape 73"/>
            <p:cNvSpPr/>
            <p:nvPr/>
          </p:nvSpPr>
          <p:spPr>
            <a:xfrm>
              <a:off x="584280" y="3246840"/>
              <a:ext cx="2011680" cy="475560"/>
            </a:xfrm>
            <a:prstGeom prst="rect">
              <a:avLst/>
            </a:prstGeom>
            <a:solidFill>
              <a:srgbClr val="E8F5EE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8" name="Text 74"/>
            <p:cNvSpPr/>
            <p:nvPr/>
          </p:nvSpPr>
          <p:spPr>
            <a:xfrm>
              <a:off x="630000" y="3246480"/>
              <a:ext cx="1919160" cy="476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100" b="1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ALAPPUZHA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9" name="Shape 75"/>
            <p:cNvSpPr/>
            <p:nvPr/>
          </p:nvSpPr>
          <p:spPr>
            <a:xfrm>
              <a:off x="2595960" y="3246840"/>
              <a:ext cx="1005840" cy="475560"/>
            </a:xfrm>
            <a:prstGeom prst="rect">
              <a:avLst/>
            </a:prstGeom>
            <a:solidFill>
              <a:srgbClr val="E8F5EE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50" name="Text 76"/>
            <p:cNvSpPr/>
            <p:nvPr/>
          </p:nvSpPr>
          <p:spPr>
            <a:xfrm>
              <a:off x="2641680" y="3246840"/>
              <a:ext cx="91440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0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41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51" name="Shape 77"/>
            <p:cNvSpPr/>
            <p:nvPr/>
          </p:nvSpPr>
          <p:spPr>
            <a:xfrm>
              <a:off x="3601800" y="3246840"/>
              <a:ext cx="914400" cy="475560"/>
            </a:xfrm>
            <a:prstGeom prst="rect">
              <a:avLst/>
            </a:prstGeom>
            <a:solidFill>
              <a:srgbClr val="E8F5EE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52" name="Text 78"/>
            <p:cNvSpPr/>
            <p:nvPr/>
          </p:nvSpPr>
          <p:spPr>
            <a:xfrm>
              <a:off x="3647520" y="3246840"/>
              <a:ext cx="82296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0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35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53" name="Shape 79"/>
            <p:cNvSpPr/>
            <p:nvPr/>
          </p:nvSpPr>
          <p:spPr>
            <a:xfrm>
              <a:off x="4516200" y="3246840"/>
              <a:ext cx="822960" cy="475560"/>
            </a:xfrm>
            <a:prstGeom prst="rect">
              <a:avLst/>
            </a:prstGeom>
            <a:solidFill>
              <a:srgbClr val="E8F5EE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54" name="Text 80"/>
            <p:cNvSpPr/>
            <p:nvPr/>
          </p:nvSpPr>
          <p:spPr>
            <a:xfrm>
              <a:off x="4561920" y="3246840"/>
              <a:ext cx="73152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0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6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55" name="Shape 81"/>
            <p:cNvSpPr/>
            <p:nvPr/>
          </p:nvSpPr>
          <p:spPr>
            <a:xfrm>
              <a:off x="5339160" y="3246840"/>
              <a:ext cx="822960" cy="475560"/>
            </a:xfrm>
            <a:prstGeom prst="rect">
              <a:avLst/>
            </a:prstGeom>
            <a:solidFill>
              <a:srgbClr val="E8F5EE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56" name="Text 82"/>
            <p:cNvSpPr/>
            <p:nvPr/>
          </p:nvSpPr>
          <p:spPr>
            <a:xfrm>
              <a:off x="5384880" y="3246840"/>
              <a:ext cx="73152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0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6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57" name="Shape 83"/>
            <p:cNvSpPr/>
            <p:nvPr/>
          </p:nvSpPr>
          <p:spPr>
            <a:xfrm>
              <a:off x="6162120" y="3246840"/>
              <a:ext cx="1234440" cy="475560"/>
            </a:xfrm>
            <a:prstGeom prst="rect">
              <a:avLst/>
            </a:prstGeom>
            <a:solidFill>
              <a:srgbClr val="E8F5EE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58" name="Text 84"/>
            <p:cNvSpPr/>
            <p:nvPr/>
          </p:nvSpPr>
          <p:spPr>
            <a:xfrm>
              <a:off x="6207840" y="3246840"/>
              <a:ext cx="114300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0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14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59" name="Shape 85"/>
            <p:cNvSpPr/>
            <p:nvPr/>
          </p:nvSpPr>
          <p:spPr>
            <a:xfrm>
              <a:off x="7396560" y="3246840"/>
              <a:ext cx="960120" cy="475560"/>
            </a:xfrm>
            <a:prstGeom prst="rect">
              <a:avLst/>
            </a:prstGeom>
            <a:solidFill>
              <a:srgbClr val="E8F5EE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60" name="Text 86"/>
            <p:cNvSpPr/>
            <p:nvPr/>
          </p:nvSpPr>
          <p:spPr>
            <a:xfrm>
              <a:off x="7442280" y="3246840"/>
              <a:ext cx="86868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0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2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61" name="Shape 87"/>
            <p:cNvSpPr/>
            <p:nvPr/>
          </p:nvSpPr>
          <p:spPr>
            <a:xfrm>
              <a:off x="584280" y="3740760"/>
              <a:ext cx="2011680" cy="47556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62" name="Text 88"/>
            <p:cNvSpPr/>
            <p:nvPr/>
          </p:nvSpPr>
          <p:spPr>
            <a:xfrm>
              <a:off x="630000" y="3740400"/>
              <a:ext cx="1919160" cy="476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100" b="1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THRISSUR + PALAKKAD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63" name="Shape 89"/>
            <p:cNvSpPr/>
            <p:nvPr/>
          </p:nvSpPr>
          <p:spPr>
            <a:xfrm>
              <a:off x="2595960" y="3740760"/>
              <a:ext cx="1005840" cy="47556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64" name="Text 90"/>
            <p:cNvSpPr/>
            <p:nvPr/>
          </p:nvSpPr>
          <p:spPr>
            <a:xfrm>
              <a:off x="2641680" y="3740760"/>
              <a:ext cx="91440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0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38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65" name="Shape 91"/>
            <p:cNvSpPr/>
            <p:nvPr/>
          </p:nvSpPr>
          <p:spPr>
            <a:xfrm>
              <a:off x="3601800" y="3740760"/>
              <a:ext cx="914400" cy="47556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66" name="Text 92"/>
            <p:cNvSpPr/>
            <p:nvPr/>
          </p:nvSpPr>
          <p:spPr>
            <a:xfrm>
              <a:off x="3647520" y="3740760"/>
              <a:ext cx="82296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0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32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67" name="Shape 93"/>
            <p:cNvSpPr/>
            <p:nvPr/>
          </p:nvSpPr>
          <p:spPr>
            <a:xfrm>
              <a:off x="4516200" y="3740760"/>
              <a:ext cx="822960" cy="47556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68" name="Text 94"/>
            <p:cNvSpPr/>
            <p:nvPr/>
          </p:nvSpPr>
          <p:spPr>
            <a:xfrm>
              <a:off x="4561920" y="3740760"/>
              <a:ext cx="73152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0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6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69" name="Shape 95"/>
            <p:cNvSpPr/>
            <p:nvPr/>
          </p:nvSpPr>
          <p:spPr>
            <a:xfrm>
              <a:off x="5339160" y="3740760"/>
              <a:ext cx="822960" cy="47556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70" name="Text 96"/>
            <p:cNvSpPr/>
            <p:nvPr/>
          </p:nvSpPr>
          <p:spPr>
            <a:xfrm>
              <a:off x="5384880" y="3740760"/>
              <a:ext cx="73152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0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4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71" name="Shape 97"/>
            <p:cNvSpPr/>
            <p:nvPr/>
          </p:nvSpPr>
          <p:spPr>
            <a:xfrm>
              <a:off x="6162120" y="3740760"/>
              <a:ext cx="1234440" cy="47556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72" name="Text 98"/>
            <p:cNvSpPr/>
            <p:nvPr/>
          </p:nvSpPr>
          <p:spPr>
            <a:xfrm>
              <a:off x="6207840" y="3740760"/>
              <a:ext cx="114300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0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1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73" name="Shape 99"/>
            <p:cNvSpPr/>
            <p:nvPr/>
          </p:nvSpPr>
          <p:spPr>
            <a:xfrm>
              <a:off x="7396560" y="3740760"/>
              <a:ext cx="960120" cy="47556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74" name="Text 100"/>
            <p:cNvSpPr/>
            <p:nvPr/>
          </p:nvSpPr>
          <p:spPr>
            <a:xfrm>
              <a:off x="7442280" y="3740760"/>
              <a:ext cx="86868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0" u="none" strike="noStrike">
                  <a:solidFill>
                    <a:srgbClr val="1A3D2B"/>
                  </a:solidFill>
                  <a:effectLst/>
                  <a:uFillTx/>
                  <a:latin typeface="Calibri"/>
                  <a:ea typeface="Calibri"/>
                </a:rPr>
                <a:t>5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75" name="Shape 101"/>
            <p:cNvSpPr/>
            <p:nvPr/>
          </p:nvSpPr>
          <p:spPr>
            <a:xfrm>
              <a:off x="584280" y="4234680"/>
              <a:ext cx="2011680" cy="475560"/>
            </a:xfrm>
            <a:prstGeom prst="rect">
              <a:avLst/>
            </a:prstGeom>
            <a:solidFill>
              <a:srgbClr val="B2DFCB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76" name="Text 102"/>
            <p:cNvSpPr/>
            <p:nvPr/>
          </p:nvSpPr>
          <p:spPr>
            <a:xfrm>
              <a:off x="630000" y="4233960"/>
              <a:ext cx="1919160" cy="476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100" b="1" u="none" strike="noStrike">
                  <a:solidFill>
                    <a:srgbClr val="2E7D52"/>
                  </a:solidFill>
                  <a:effectLst/>
                  <a:uFillTx/>
                  <a:latin typeface="Calibri"/>
                  <a:ea typeface="Calibri"/>
                </a:rPr>
                <a:t>TOTAL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77" name="Shape 103"/>
            <p:cNvSpPr/>
            <p:nvPr/>
          </p:nvSpPr>
          <p:spPr>
            <a:xfrm>
              <a:off x="2595960" y="4234680"/>
              <a:ext cx="1005840" cy="475560"/>
            </a:xfrm>
            <a:prstGeom prst="rect">
              <a:avLst/>
            </a:prstGeom>
            <a:solidFill>
              <a:srgbClr val="B2DFCB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78" name="Text 104"/>
            <p:cNvSpPr/>
            <p:nvPr/>
          </p:nvSpPr>
          <p:spPr>
            <a:xfrm>
              <a:off x="2641680" y="4234680"/>
              <a:ext cx="91440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1" u="none" strike="noStrike">
                  <a:solidFill>
                    <a:srgbClr val="2E7D52"/>
                  </a:solidFill>
                  <a:effectLst/>
                  <a:uFillTx/>
                  <a:latin typeface="Calibri"/>
                  <a:ea typeface="Calibri"/>
                </a:rPr>
                <a:t>240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79" name="Shape 105"/>
            <p:cNvSpPr/>
            <p:nvPr/>
          </p:nvSpPr>
          <p:spPr>
            <a:xfrm>
              <a:off x="3601800" y="4234680"/>
              <a:ext cx="914400" cy="475560"/>
            </a:xfrm>
            <a:prstGeom prst="rect">
              <a:avLst/>
            </a:prstGeom>
            <a:solidFill>
              <a:srgbClr val="B2DFCB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80" name="Text 106"/>
            <p:cNvSpPr/>
            <p:nvPr/>
          </p:nvSpPr>
          <p:spPr>
            <a:xfrm>
              <a:off x="3647520" y="4234680"/>
              <a:ext cx="82296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1" u="none" strike="noStrike">
                  <a:solidFill>
                    <a:srgbClr val="2E7D52"/>
                  </a:solidFill>
                  <a:effectLst/>
                  <a:uFillTx/>
                  <a:latin typeface="Calibri"/>
                  <a:ea typeface="Calibri"/>
                </a:rPr>
                <a:t>208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81" name="Shape 107"/>
            <p:cNvSpPr/>
            <p:nvPr/>
          </p:nvSpPr>
          <p:spPr>
            <a:xfrm>
              <a:off x="4516200" y="4234680"/>
              <a:ext cx="822960" cy="475560"/>
            </a:xfrm>
            <a:prstGeom prst="rect">
              <a:avLst/>
            </a:prstGeom>
            <a:solidFill>
              <a:srgbClr val="B2DFCB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82" name="Text 108"/>
            <p:cNvSpPr/>
            <p:nvPr/>
          </p:nvSpPr>
          <p:spPr>
            <a:xfrm>
              <a:off x="4561920" y="4234680"/>
              <a:ext cx="73152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1" u="none" strike="noStrike">
                  <a:solidFill>
                    <a:srgbClr val="2E7D52"/>
                  </a:solidFill>
                  <a:effectLst/>
                  <a:uFillTx/>
                  <a:latin typeface="Calibri"/>
                  <a:ea typeface="Calibri"/>
                </a:rPr>
                <a:t>32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83" name="Shape 109"/>
            <p:cNvSpPr/>
            <p:nvPr/>
          </p:nvSpPr>
          <p:spPr>
            <a:xfrm>
              <a:off x="5339160" y="4234680"/>
              <a:ext cx="822960" cy="475560"/>
            </a:xfrm>
            <a:prstGeom prst="rect">
              <a:avLst/>
            </a:prstGeom>
            <a:solidFill>
              <a:srgbClr val="B2DFCB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84" name="Text 110"/>
            <p:cNvSpPr/>
            <p:nvPr/>
          </p:nvSpPr>
          <p:spPr>
            <a:xfrm>
              <a:off x="5384880" y="4234680"/>
              <a:ext cx="73152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1" u="none" strike="noStrike">
                  <a:solidFill>
                    <a:srgbClr val="2E7D52"/>
                  </a:solidFill>
                  <a:effectLst/>
                  <a:uFillTx/>
                  <a:latin typeface="Calibri"/>
                  <a:ea typeface="Calibri"/>
                </a:rPr>
                <a:t>31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85" name="Shape 111"/>
            <p:cNvSpPr/>
            <p:nvPr/>
          </p:nvSpPr>
          <p:spPr>
            <a:xfrm>
              <a:off x="6162120" y="4234680"/>
              <a:ext cx="1234440" cy="475560"/>
            </a:xfrm>
            <a:prstGeom prst="rect">
              <a:avLst/>
            </a:prstGeom>
            <a:solidFill>
              <a:srgbClr val="B2DFCB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86" name="Text 112"/>
            <p:cNvSpPr/>
            <p:nvPr/>
          </p:nvSpPr>
          <p:spPr>
            <a:xfrm>
              <a:off x="6207840" y="4234680"/>
              <a:ext cx="114300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1" u="none" strike="noStrike">
                  <a:solidFill>
                    <a:srgbClr val="2E7D52"/>
                  </a:solidFill>
                  <a:effectLst/>
                  <a:uFillTx/>
                  <a:latin typeface="Calibri"/>
                  <a:ea typeface="Calibri"/>
                </a:rPr>
                <a:t>38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87" name="Shape 113"/>
            <p:cNvSpPr/>
            <p:nvPr/>
          </p:nvSpPr>
          <p:spPr>
            <a:xfrm>
              <a:off x="7396560" y="4234680"/>
              <a:ext cx="960120" cy="475560"/>
            </a:xfrm>
            <a:prstGeom prst="rect">
              <a:avLst/>
            </a:prstGeom>
            <a:solidFill>
              <a:srgbClr val="B2DFCB"/>
            </a:solidFill>
            <a:ln w="12600">
              <a:solidFill>
                <a:srgbClr val="B2DFC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88" name="Text 114"/>
            <p:cNvSpPr/>
            <p:nvPr/>
          </p:nvSpPr>
          <p:spPr>
            <a:xfrm>
              <a:off x="7442280" y="4234680"/>
              <a:ext cx="868680" cy="47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ctr">
              <a:noAutofit/>
            </a:bodyPr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300" b="1" u="none" strike="noStrike">
                  <a:solidFill>
                    <a:srgbClr val="2E7D52"/>
                  </a:solidFill>
                  <a:effectLst/>
                  <a:uFillTx/>
                  <a:latin typeface="Calibri"/>
                  <a:ea typeface="Calibri"/>
                </a:rPr>
                <a:t>24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89" name="Text 116"/>
          <p:cNvSpPr/>
          <p:nvPr/>
        </p:nvSpPr>
        <p:spPr>
          <a:xfrm>
            <a:off x="365040" y="4773600"/>
            <a:ext cx="8413920" cy="3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Lakeshore Hospital  |  BD &amp; Marketing Weekly Update  |  May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0"/>
          <p:cNvSpPr/>
          <p:nvPr/>
        </p:nvSpPr>
        <p:spPr>
          <a:xfrm>
            <a:off x="0" y="0"/>
            <a:ext cx="9144000" cy="658800"/>
          </a:xfrm>
          <a:prstGeom prst="rect">
            <a:avLst/>
          </a:prstGeom>
          <a:solidFill>
            <a:srgbClr val="385723"/>
          </a:solidFill>
          <a:ln w="12600">
            <a:solidFill>
              <a:srgbClr val="4CAF7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1" name="Text 1"/>
          <p:cNvSpPr/>
          <p:nvPr/>
        </p:nvSpPr>
        <p:spPr>
          <a:xfrm>
            <a:off x="201600" y="0"/>
            <a:ext cx="6564240" cy="65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CORPORATE &amp; COMMUNITY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 2"/>
          <p:cNvSpPr/>
          <p:nvPr/>
        </p:nvSpPr>
        <p:spPr>
          <a:xfrm>
            <a:off x="6765840" y="0"/>
            <a:ext cx="2013120" cy="65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1" u="none" strike="noStrike">
                <a:solidFill>
                  <a:srgbClr val="E8F5EE"/>
                </a:solidFill>
                <a:effectLst/>
                <a:uFillTx/>
                <a:latin typeface="Calibri"/>
                <a:ea typeface="Calibri"/>
              </a:rPr>
              <a:t>Weekly Numbers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3" name="Shape 3"/>
          <p:cNvSpPr/>
          <p:nvPr/>
        </p:nvSpPr>
        <p:spPr>
          <a:xfrm>
            <a:off x="201600" y="804960"/>
            <a:ext cx="2011320" cy="1600200"/>
          </a:xfrm>
          <a:prstGeom prst="rect">
            <a:avLst/>
          </a:prstGeom>
          <a:solidFill>
            <a:srgbClr val="E8F5EE"/>
          </a:solidFill>
          <a:ln w="12600">
            <a:solidFill>
              <a:srgbClr val="B2DFCB"/>
            </a:solidFill>
            <a:miter/>
          </a:ln>
          <a:effectLst>
            <a:outerShdw dist="25455" dir="8100000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4" name="Shape 4"/>
          <p:cNvSpPr/>
          <p:nvPr/>
        </p:nvSpPr>
        <p:spPr>
          <a:xfrm>
            <a:off x="201600" y="804960"/>
            <a:ext cx="2011320" cy="54000"/>
          </a:xfrm>
          <a:prstGeom prst="rect">
            <a:avLst/>
          </a:prstGeom>
          <a:solidFill>
            <a:srgbClr val="4CAF7D"/>
          </a:solidFill>
          <a:ln w="12600">
            <a:solidFill>
              <a:srgbClr val="4CAF7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7200" rIns="90000" bIns="72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 5"/>
          <p:cNvSpPr/>
          <p:nvPr/>
        </p:nvSpPr>
        <p:spPr>
          <a:xfrm>
            <a:off x="291960" y="914400"/>
            <a:ext cx="1828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2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21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 6"/>
          <p:cNvSpPr/>
          <p:nvPr/>
        </p:nvSpPr>
        <p:spPr>
          <a:xfrm>
            <a:off x="247680" y="1765440"/>
            <a:ext cx="19191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Companies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Approached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7" name="Shape 7"/>
          <p:cNvSpPr/>
          <p:nvPr/>
        </p:nvSpPr>
        <p:spPr>
          <a:xfrm>
            <a:off x="2332080" y="804960"/>
            <a:ext cx="2011320" cy="1600200"/>
          </a:xfrm>
          <a:prstGeom prst="rect">
            <a:avLst/>
          </a:prstGeom>
          <a:solidFill>
            <a:srgbClr val="E8F5EE"/>
          </a:solidFill>
          <a:ln w="12600">
            <a:solidFill>
              <a:srgbClr val="B2DFCB"/>
            </a:solidFill>
            <a:miter/>
          </a:ln>
          <a:effectLst>
            <a:outerShdw dist="25455" dir="8100000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8" name="Shape 8"/>
          <p:cNvSpPr/>
          <p:nvPr/>
        </p:nvSpPr>
        <p:spPr>
          <a:xfrm>
            <a:off x="2332080" y="804960"/>
            <a:ext cx="2011320" cy="54000"/>
          </a:xfrm>
          <a:prstGeom prst="rect">
            <a:avLst/>
          </a:prstGeom>
          <a:solidFill>
            <a:srgbClr val="ED7D31"/>
          </a:solidFill>
          <a:ln w="12600">
            <a:solidFill>
              <a:srgbClr val="4CAF7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7200" rIns="90000" bIns="72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 9"/>
          <p:cNvSpPr/>
          <p:nvPr/>
        </p:nvSpPr>
        <p:spPr>
          <a:xfrm>
            <a:off x="2422440" y="914400"/>
            <a:ext cx="1828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2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 10"/>
          <p:cNvSpPr/>
          <p:nvPr/>
        </p:nvSpPr>
        <p:spPr>
          <a:xfrm>
            <a:off x="2378160" y="1765440"/>
            <a:ext cx="19191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New Companies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Approached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1" name="Shape 11"/>
          <p:cNvSpPr/>
          <p:nvPr/>
        </p:nvSpPr>
        <p:spPr>
          <a:xfrm>
            <a:off x="4462560" y="804960"/>
            <a:ext cx="2011320" cy="1600200"/>
          </a:xfrm>
          <a:prstGeom prst="rect">
            <a:avLst/>
          </a:prstGeom>
          <a:solidFill>
            <a:srgbClr val="E8F5EE"/>
          </a:solidFill>
          <a:ln w="12600">
            <a:solidFill>
              <a:srgbClr val="B2DFCB"/>
            </a:solidFill>
            <a:miter/>
          </a:ln>
          <a:effectLst>
            <a:outerShdw dist="25455" dir="8100000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2" name="Shape 12"/>
          <p:cNvSpPr/>
          <p:nvPr/>
        </p:nvSpPr>
        <p:spPr>
          <a:xfrm>
            <a:off x="4462560" y="804960"/>
            <a:ext cx="2011320" cy="54000"/>
          </a:xfrm>
          <a:prstGeom prst="rect">
            <a:avLst/>
          </a:prstGeom>
          <a:solidFill>
            <a:srgbClr val="FF0000"/>
          </a:solidFill>
          <a:ln w="12600">
            <a:solidFill>
              <a:srgbClr val="4CAF7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7200" rIns="90000" bIns="72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 13"/>
          <p:cNvSpPr/>
          <p:nvPr/>
        </p:nvSpPr>
        <p:spPr>
          <a:xfrm>
            <a:off x="4552920" y="914400"/>
            <a:ext cx="1828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2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 14"/>
          <p:cNvSpPr/>
          <p:nvPr/>
        </p:nvSpPr>
        <p:spPr>
          <a:xfrm>
            <a:off x="4508640" y="1765440"/>
            <a:ext cx="19191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IP Admissions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Generated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5" name="Shape 15"/>
          <p:cNvSpPr/>
          <p:nvPr/>
        </p:nvSpPr>
        <p:spPr>
          <a:xfrm>
            <a:off x="6593040" y="804960"/>
            <a:ext cx="2011320" cy="1600200"/>
          </a:xfrm>
          <a:prstGeom prst="rect">
            <a:avLst/>
          </a:prstGeom>
          <a:solidFill>
            <a:srgbClr val="E8F5EE"/>
          </a:solidFill>
          <a:ln w="12600">
            <a:solidFill>
              <a:srgbClr val="B2DFCB"/>
            </a:solidFill>
            <a:miter/>
          </a:ln>
          <a:effectLst>
            <a:outerShdw dist="25455" dir="8100000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6" name="Shape 16"/>
          <p:cNvSpPr/>
          <p:nvPr/>
        </p:nvSpPr>
        <p:spPr>
          <a:xfrm>
            <a:off x="6593040" y="804960"/>
            <a:ext cx="2011320" cy="54000"/>
          </a:xfrm>
          <a:prstGeom prst="rect">
            <a:avLst/>
          </a:prstGeom>
          <a:solidFill>
            <a:srgbClr val="0070C0"/>
          </a:solidFill>
          <a:ln w="12600">
            <a:solidFill>
              <a:srgbClr val="4CAF7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7200" rIns="90000" bIns="72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 17"/>
          <p:cNvSpPr/>
          <p:nvPr/>
        </p:nvSpPr>
        <p:spPr>
          <a:xfrm>
            <a:off x="6684840" y="914400"/>
            <a:ext cx="1828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2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29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 18"/>
          <p:cNvSpPr/>
          <p:nvPr/>
        </p:nvSpPr>
        <p:spPr>
          <a:xfrm>
            <a:off x="6638760" y="1765440"/>
            <a:ext cx="1919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OP Patients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Generated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9" name="Shape 19"/>
          <p:cNvSpPr/>
          <p:nvPr/>
        </p:nvSpPr>
        <p:spPr>
          <a:xfrm>
            <a:off x="201600" y="2570040"/>
            <a:ext cx="2011320" cy="1600200"/>
          </a:xfrm>
          <a:prstGeom prst="rect">
            <a:avLst/>
          </a:prstGeom>
          <a:solidFill>
            <a:srgbClr val="FFFFFF"/>
          </a:solidFill>
          <a:ln w="12600">
            <a:solidFill>
              <a:srgbClr val="B2DFCB"/>
            </a:solidFill>
            <a:miter/>
          </a:ln>
          <a:effectLst>
            <a:outerShdw dist="25455" dir="8100000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0" name="Shape 20"/>
          <p:cNvSpPr/>
          <p:nvPr/>
        </p:nvSpPr>
        <p:spPr>
          <a:xfrm>
            <a:off x="201600" y="2570040"/>
            <a:ext cx="2011320" cy="54000"/>
          </a:xfrm>
          <a:prstGeom prst="rect">
            <a:avLst/>
          </a:prstGeom>
          <a:solidFill>
            <a:srgbClr val="4CAF7D"/>
          </a:solidFill>
          <a:ln w="12600">
            <a:solidFill>
              <a:srgbClr val="4CAF7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7200" rIns="90000" bIns="72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 21"/>
          <p:cNvSpPr/>
          <p:nvPr/>
        </p:nvSpPr>
        <p:spPr>
          <a:xfrm>
            <a:off x="291960" y="2679840"/>
            <a:ext cx="1828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2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2" name="Text 22"/>
          <p:cNvSpPr/>
          <p:nvPr/>
        </p:nvSpPr>
        <p:spPr>
          <a:xfrm>
            <a:off x="247680" y="3529080"/>
            <a:ext cx="1919160" cy="54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Corporates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Approached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3" name="Shape 23"/>
          <p:cNvSpPr/>
          <p:nvPr/>
        </p:nvSpPr>
        <p:spPr>
          <a:xfrm>
            <a:off x="2332080" y="2570040"/>
            <a:ext cx="2011320" cy="1600200"/>
          </a:xfrm>
          <a:prstGeom prst="rect">
            <a:avLst/>
          </a:prstGeom>
          <a:solidFill>
            <a:srgbClr val="FFFFFF"/>
          </a:solidFill>
          <a:ln w="12600">
            <a:solidFill>
              <a:srgbClr val="B2DFCB"/>
            </a:solidFill>
            <a:miter/>
          </a:ln>
          <a:effectLst>
            <a:outerShdw dist="25455" dir="8100000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4" name="Shape 24"/>
          <p:cNvSpPr/>
          <p:nvPr/>
        </p:nvSpPr>
        <p:spPr>
          <a:xfrm>
            <a:off x="2332080" y="2570040"/>
            <a:ext cx="2011320" cy="54000"/>
          </a:xfrm>
          <a:prstGeom prst="rect">
            <a:avLst/>
          </a:prstGeom>
          <a:solidFill>
            <a:srgbClr val="ED7D31"/>
          </a:solidFill>
          <a:ln w="12600">
            <a:solidFill>
              <a:srgbClr val="4CAF7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7200" rIns="90000" bIns="72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 25"/>
          <p:cNvSpPr/>
          <p:nvPr/>
        </p:nvSpPr>
        <p:spPr>
          <a:xfrm>
            <a:off x="2422440" y="2679840"/>
            <a:ext cx="1828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2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 26"/>
          <p:cNvSpPr/>
          <p:nvPr/>
        </p:nvSpPr>
        <p:spPr>
          <a:xfrm>
            <a:off x="2378160" y="3529080"/>
            <a:ext cx="1919160" cy="54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Assoc / Institutions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7" name="Shape 27"/>
          <p:cNvSpPr/>
          <p:nvPr/>
        </p:nvSpPr>
        <p:spPr>
          <a:xfrm>
            <a:off x="4462560" y="2570040"/>
            <a:ext cx="2011320" cy="1600200"/>
          </a:xfrm>
          <a:prstGeom prst="rect">
            <a:avLst/>
          </a:prstGeom>
          <a:solidFill>
            <a:srgbClr val="FFFFFF"/>
          </a:solidFill>
          <a:ln w="12600">
            <a:solidFill>
              <a:srgbClr val="B2DFCB"/>
            </a:solidFill>
            <a:miter/>
          </a:ln>
          <a:effectLst>
            <a:outerShdw dist="25455" dir="8100000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8" name="Shape 28"/>
          <p:cNvSpPr/>
          <p:nvPr/>
        </p:nvSpPr>
        <p:spPr>
          <a:xfrm>
            <a:off x="4462560" y="2570040"/>
            <a:ext cx="2011320" cy="54000"/>
          </a:xfrm>
          <a:prstGeom prst="rect">
            <a:avLst/>
          </a:prstGeom>
          <a:solidFill>
            <a:srgbClr val="FF0000"/>
          </a:solidFill>
          <a:ln w="12600">
            <a:solidFill>
              <a:srgbClr val="4CAF7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7200" rIns="90000" bIns="72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 29"/>
          <p:cNvSpPr/>
          <p:nvPr/>
        </p:nvSpPr>
        <p:spPr>
          <a:xfrm>
            <a:off x="4552920" y="2679840"/>
            <a:ext cx="1828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2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0" name="Text 30"/>
          <p:cNvSpPr/>
          <p:nvPr/>
        </p:nvSpPr>
        <p:spPr>
          <a:xfrm>
            <a:off x="4508640" y="3529080"/>
            <a:ext cx="1919160" cy="54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MoUs Renewal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1" name="Shape 31"/>
          <p:cNvSpPr/>
          <p:nvPr/>
        </p:nvSpPr>
        <p:spPr>
          <a:xfrm>
            <a:off x="6593040" y="2570040"/>
            <a:ext cx="2011320" cy="1600200"/>
          </a:xfrm>
          <a:prstGeom prst="rect">
            <a:avLst/>
          </a:prstGeom>
          <a:solidFill>
            <a:srgbClr val="FFFFFF"/>
          </a:solidFill>
          <a:ln w="12600">
            <a:solidFill>
              <a:srgbClr val="B2DFCB"/>
            </a:solidFill>
            <a:miter/>
          </a:ln>
          <a:effectLst>
            <a:outerShdw dist="25455" dir="8100000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2" name="Shape 32"/>
          <p:cNvSpPr/>
          <p:nvPr/>
        </p:nvSpPr>
        <p:spPr>
          <a:xfrm>
            <a:off x="6593040" y="2570040"/>
            <a:ext cx="2011320" cy="54000"/>
          </a:xfrm>
          <a:prstGeom prst="rect">
            <a:avLst/>
          </a:prstGeom>
          <a:solidFill>
            <a:srgbClr val="0070C0"/>
          </a:solidFill>
          <a:ln w="12600">
            <a:solidFill>
              <a:srgbClr val="4CAF7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7200" rIns="90000" bIns="72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 33"/>
          <p:cNvSpPr/>
          <p:nvPr/>
        </p:nvSpPr>
        <p:spPr>
          <a:xfrm>
            <a:off x="6684840" y="2679840"/>
            <a:ext cx="1828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2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 34"/>
          <p:cNvSpPr/>
          <p:nvPr/>
        </p:nvSpPr>
        <p:spPr>
          <a:xfrm>
            <a:off x="6638760" y="3529080"/>
            <a:ext cx="1919520" cy="54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Health Checkups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Done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5" name="Shape 35"/>
          <p:cNvSpPr/>
          <p:nvPr/>
        </p:nvSpPr>
        <p:spPr>
          <a:xfrm>
            <a:off x="201600" y="4572000"/>
            <a:ext cx="8740800" cy="347760"/>
          </a:xfrm>
          <a:prstGeom prst="rect">
            <a:avLst/>
          </a:prstGeom>
          <a:solidFill>
            <a:srgbClr val="E8F5EE"/>
          </a:solidFill>
          <a:ln w="12600">
            <a:solidFill>
              <a:srgbClr val="B2DFC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6" name="Text 36"/>
          <p:cNvSpPr/>
          <p:nvPr/>
        </p:nvSpPr>
        <p:spPr>
          <a:xfrm>
            <a:off x="365040" y="4572000"/>
            <a:ext cx="8413920" cy="3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✔  MoUs Closed This Week: 1  |  Activities Conducted: 12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 38"/>
          <p:cNvSpPr/>
          <p:nvPr/>
        </p:nvSpPr>
        <p:spPr>
          <a:xfrm>
            <a:off x="365040" y="4773600"/>
            <a:ext cx="8413920" cy="3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Lakeshore Hospital  |  BD &amp; Marketing Weekly Update  |  May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0"/>
          <p:cNvSpPr/>
          <p:nvPr/>
        </p:nvSpPr>
        <p:spPr>
          <a:xfrm>
            <a:off x="0" y="0"/>
            <a:ext cx="9144000" cy="658800"/>
          </a:xfrm>
          <a:prstGeom prst="rect">
            <a:avLst/>
          </a:prstGeom>
          <a:solidFill>
            <a:srgbClr val="385723"/>
          </a:solidFill>
          <a:ln w="12600">
            <a:solidFill>
              <a:srgbClr val="4CAF7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 1"/>
          <p:cNvSpPr/>
          <p:nvPr/>
        </p:nvSpPr>
        <p:spPr>
          <a:xfrm>
            <a:off x="365040" y="0"/>
            <a:ext cx="6400800" cy="65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CORPORATE &amp; COMMUNITY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 2"/>
          <p:cNvSpPr/>
          <p:nvPr/>
        </p:nvSpPr>
        <p:spPr>
          <a:xfrm>
            <a:off x="6765840" y="0"/>
            <a:ext cx="2013120" cy="65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1" u="none" strike="noStrike">
                <a:solidFill>
                  <a:srgbClr val="E8F5EE"/>
                </a:solidFill>
                <a:effectLst/>
                <a:uFillTx/>
                <a:latin typeface="Calibri"/>
                <a:ea typeface="Calibri"/>
              </a:rPr>
              <a:t>Activities &amp; Pipeline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1" name="Shape 3"/>
          <p:cNvSpPr/>
          <p:nvPr/>
        </p:nvSpPr>
        <p:spPr>
          <a:xfrm>
            <a:off x="228600" y="777960"/>
            <a:ext cx="4297320" cy="345960"/>
          </a:xfrm>
          <a:prstGeom prst="rect">
            <a:avLst/>
          </a:prstGeom>
          <a:solidFill>
            <a:srgbClr val="00B050"/>
          </a:solidFill>
          <a:ln w="12600">
            <a:solidFill>
              <a:srgbClr val="4CAF7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 4"/>
          <p:cNvSpPr/>
          <p:nvPr/>
        </p:nvSpPr>
        <p:spPr>
          <a:xfrm>
            <a:off x="365040" y="777960"/>
            <a:ext cx="40244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COMPLETED THIS WEEK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3" name="Shape 5"/>
          <p:cNvSpPr/>
          <p:nvPr/>
        </p:nvSpPr>
        <p:spPr>
          <a:xfrm>
            <a:off x="228600" y="1123920"/>
            <a:ext cx="4297320" cy="3567240"/>
          </a:xfrm>
          <a:prstGeom prst="rect">
            <a:avLst/>
          </a:prstGeom>
          <a:solidFill>
            <a:srgbClr val="E8F5EE"/>
          </a:solidFill>
          <a:ln w="12600">
            <a:solidFill>
              <a:srgbClr val="B2DFCB"/>
            </a:solidFill>
            <a:miter/>
          </a:ln>
          <a:effectLst>
            <a:outerShdw dist="25455" dir="8100000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 6"/>
          <p:cNvSpPr/>
          <p:nvPr/>
        </p:nvSpPr>
        <p:spPr>
          <a:xfrm>
            <a:off x="365040" y="1189080"/>
            <a:ext cx="4024440" cy="34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marL="343080" indent="-343080">
              <a:spcAft>
                <a:spcPts val="400"/>
              </a:spcAft>
              <a:buClr>
                <a:srgbClr val="1A3D2B"/>
              </a:buClr>
              <a:buFont typeface="Calibri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Health Talk – YCWCA (Clinical Nutrition)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Aft>
                <a:spcPts val="400"/>
              </a:spcAft>
              <a:buClr>
                <a:srgbClr val="1A3D2B"/>
              </a:buClr>
              <a:buFont typeface="Calibri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BLS Training – Reliant Group of Education (×2)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Aft>
                <a:spcPts val="400"/>
              </a:spcAft>
              <a:buClr>
                <a:srgbClr val="1A3D2B"/>
              </a:buClr>
              <a:buFont typeface="Calibri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Pulmonology Webinar – Petronet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Aft>
                <a:spcPts val="400"/>
              </a:spcAft>
              <a:buClr>
                <a:srgbClr val="1A3D2B"/>
              </a:buClr>
              <a:buFont typeface="Calibri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Medical Camp – IOCL (Clinical Psychology + Nutrition)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Aft>
                <a:spcPts val="400"/>
              </a:spcAft>
              <a:buClr>
                <a:srgbClr val="1A3D2B"/>
              </a:buClr>
              <a:buFont typeface="Calibri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Medical Camp – IBS (Gen Med)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Aft>
                <a:spcPts val="400"/>
              </a:spcAft>
              <a:buClr>
                <a:srgbClr val="1A3D2B"/>
              </a:buClr>
              <a:buFont typeface="Calibri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Health Talk – Principals Association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Aft>
                <a:spcPts val="400"/>
              </a:spcAft>
              <a:buClr>
                <a:srgbClr val="1A3D2B"/>
              </a:buClr>
              <a:buFont typeface="Calibri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Medical Camp – Bhima (Gen Med)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Aft>
                <a:spcPts val="400"/>
              </a:spcAft>
              <a:buClr>
                <a:srgbClr val="1A3D2B"/>
              </a:buClr>
              <a:buFont typeface="Calibri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Dermatology Webinar – TCS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Aft>
                <a:spcPts val="400"/>
              </a:spcAft>
              <a:buClr>
                <a:srgbClr val="1A3D2B"/>
              </a:buClr>
              <a:buFont typeface="Calibri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Medical Camp – TCS (Gen Med)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Aft>
                <a:spcPts val="400"/>
              </a:spcAft>
              <a:buClr>
                <a:srgbClr val="1A3D2B"/>
              </a:buClr>
              <a:buFont typeface="Calibri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Health Talk – TNP (Psychiatry)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5" name="Shape 7"/>
          <p:cNvSpPr/>
          <p:nvPr/>
        </p:nvSpPr>
        <p:spPr>
          <a:xfrm>
            <a:off x="4708440" y="777960"/>
            <a:ext cx="4299120" cy="345960"/>
          </a:xfrm>
          <a:prstGeom prst="rect">
            <a:avLst/>
          </a:prstGeom>
          <a:solidFill>
            <a:srgbClr val="203864"/>
          </a:solidFill>
          <a:ln w="12600">
            <a:solidFill>
              <a:srgbClr val="B2DFC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 8"/>
          <p:cNvSpPr/>
          <p:nvPr/>
        </p:nvSpPr>
        <p:spPr>
          <a:xfrm>
            <a:off x="4846680" y="777960"/>
            <a:ext cx="40226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1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PLAN FOR NEXT WEEK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7" name="Shape 9"/>
          <p:cNvSpPr/>
          <p:nvPr/>
        </p:nvSpPr>
        <p:spPr>
          <a:xfrm>
            <a:off x="4708440" y="1123920"/>
            <a:ext cx="4299120" cy="3567240"/>
          </a:xfrm>
          <a:prstGeom prst="rect">
            <a:avLst/>
          </a:prstGeom>
          <a:solidFill>
            <a:srgbClr val="FFFFFF"/>
          </a:solidFill>
          <a:ln w="12600">
            <a:solidFill>
              <a:srgbClr val="B2DFCB"/>
            </a:solidFill>
            <a:miter/>
          </a:ln>
          <a:effectLst>
            <a:outerShdw dist="25455" dir="8100000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8" name="Text 10"/>
          <p:cNvSpPr/>
          <p:nvPr/>
        </p:nvSpPr>
        <p:spPr>
          <a:xfrm>
            <a:off x="4846680" y="1189080"/>
            <a:ext cx="4022640" cy="34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marL="343080" indent="-343080">
              <a:spcAft>
                <a:spcPts val="499"/>
              </a:spcAft>
              <a:buClr>
                <a:srgbClr val="1A3D2B"/>
              </a:buClr>
              <a:buFont typeface="Calibri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Liver Care Talk &amp; Camp – Alpha Care Center, Mala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Aft>
                <a:spcPts val="499"/>
              </a:spcAft>
              <a:buClr>
                <a:srgbClr val="1A3D2B"/>
              </a:buClr>
              <a:buFont typeface="Calibri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PFT Camp – KLM Axiva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Aft>
                <a:spcPts val="499"/>
              </a:spcAft>
              <a:buClr>
                <a:srgbClr val="1A3D2B"/>
              </a:buClr>
              <a:buFont typeface="Calibri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PFT Camp – Abad Builders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Aft>
                <a:spcPts val="499"/>
              </a:spcAft>
              <a:buClr>
                <a:srgbClr val="1A3D2B"/>
              </a:buClr>
              <a:buFont typeface="Calibri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Clinical Psychology Medical Camp – IOCL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Aft>
                <a:spcPts val="499"/>
              </a:spcAft>
              <a:buClr>
                <a:srgbClr val="1A3D2B"/>
              </a:buClr>
              <a:buFont typeface="Calibri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OBG Medical Camp – IBS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Aft>
                <a:spcPts val="499"/>
              </a:spcAft>
              <a:buClr>
                <a:srgbClr val="1A3D2B"/>
              </a:buClr>
              <a:buFont typeface="Calibri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Nutrition Health Talk – SBI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Aft>
                <a:spcPts val="499"/>
              </a:spcAft>
              <a:buClr>
                <a:srgbClr val="1A3D2B"/>
              </a:buClr>
              <a:buFont typeface="Calibri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PFT Camp – SIB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Aft>
                <a:spcPts val="499"/>
              </a:spcAft>
              <a:buClr>
                <a:srgbClr val="1A3D2B"/>
              </a:buClr>
              <a:buFont typeface="Calibri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Medical Support – Arsenal Kerala Supporters Club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 12"/>
          <p:cNvSpPr/>
          <p:nvPr/>
        </p:nvSpPr>
        <p:spPr>
          <a:xfrm>
            <a:off x="365040" y="4773600"/>
            <a:ext cx="8413920" cy="3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Lakeshore Hospital  |  BD &amp; Marketing Weekly Update  |  May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0"/>
          <p:cNvSpPr/>
          <p:nvPr/>
        </p:nvSpPr>
        <p:spPr>
          <a:xfrm>
            <a:off x="0" y="0"/>
            <a:ext cx="9144000" cy="658800"/>
          </a:xfrm>
          <a:prstGeom prst="rect">
            <a:avLst/>
          </a:prstGeom>
          <a:solidFill>
            <a:srgbClr val="385723"/>
          </a:solidFill>
          <a:ln w="12600">
            <a:solidFill>
              <a:srgbClr val="4CAF7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1" name="Text 1"/>
          <p:cNvSpPr/>
          <p:nvPr/>
        </p:nvSpPr>
        <p:spPr>
          <a:xfrm>
            <a:off x="365040" y="0"/>
            <a:ext cx="6400800" cy="65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INSTITUTIONAL BUSINESS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 2"/>
          <p:cNvSpPr/>
          <p:nvPr/>
        </p:nvSpPr>
        <p:spPr>
          <a:xfrm>
            <a:off x="6765840" y="0"/>
            <a:ext cx="2013120" cy="65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1" u="none" strike="noStrike">
                <a:solidFill>
                  <a:srgbClr val="E8F5EE"/>
                </a:solidFill>
                <a:effectLst/>
                <a:uFillTx/>
                <a:latin typeface="Calibri"/>
                <a:ea typeface="Calibri"/>
              </a:rPr>
              <a:t>Hospital Tie-Up Pipeline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3" name="Text 4"/>
          <p:cNvSpPr/>
          <p:nvPr/>
        </p:nvSpPr>
        <p:spPr>
          <a:xfrm>
            <a:off x="365040" y="777960"/>
            <a:ext cx="1828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1" u="none" strike="noStrike">
                <a:solidFill>
                  <a:srgbClr val="E8F5EE"/>
                </a:solidFill>
                <a:effectLst/>
                <a:uFillTx/>
                <a:latin typeface="Calibri"/>
                <a:ea typeface="Calibri"/>
              </a:rPr>
              <a:t>Hospital Visited: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4" name="Text 5"/>
          <p:cNvSpPr/>
          <p:nvPr/>
        </p:nvSpPr>
        <p:spPr>
          <a:xfrm>
            <a:off x="655560" y="1211400"/>
            <a:ext cx="72597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Approached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buClr>
                <a:srgbClr val="000000"/>
              </a:buClr>
              <a:buFont typeface="Calibri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St. Joseph Hospital, Kothamangalam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buClr>
                <a:srgbClr val="000000"/>
              </a:buClr>
              <a:buFont typeface="Calibri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Malankara Medical Mission Hospital, Kunnamkulam, Thrissur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5" name="Shape 14"/>
          <p:cNvSpPr/>
          <p:nvPr/>
        </p:nvSpPr>
        <p:spPr>
          <a:xfrm>
            <a:off x="176040" y="2193840"/>
            <a:ext cx="8686800" cy="347760"/>
          </a:xfrm>
          <a:prstGeom prst="rect">
            <a:avLst/>
          </a:prstGeom>
          <a:solidFill>
            <a:srgbClr val="E8F5EE"/>
          </a:solidFill>
          <a:ln w="12600">
            <a:solidFill>
              <a:srgbClr val="B2DFC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6" name="Text 15"/>
          <p:cNvSpPr/>
          <p:nvPr/>
        </p:nvSpPr>
        <p:spPr>
          <a:xfrm>
            <a:off x="314280" y="2193840"/>
            <a:ext cx="8412120" cy="3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OUTCOME  ▸  Positive for partnership. Next step: formal proposal with revenue-share terms.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7" name="Text 17"/>
          <p:cNvSpPr/>
          <p:nvPr/>
        </p:nvSpPr>
        <p:spPr>
          <a:xfrm>
            <a:off x="365040" y="4773600"/>
            <a:ext cx="8413920" cy="3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Lakeshore Hospital  |  BD &amp; Marketing Weekly Update  |  May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0"/>
          <p:cNvSpPr/>
          <p:nvPr/>
        </p:nvSpPr>
        <p:spPr>
          <a:xfrm>
            <a:off x="0" y="0"/>
            <a:ext cx="9144000" cy="658800"/>
          </a:xfrm>
          <a:prstGeom prst="rect">
            <a:avLst/>
          </a:prstGeom>
          <a:solidFill>
            <a:srgbClr val="385723"/>
          </a:solidFill>
          <a:ln w="12600">
            <a:solidFill>
              <a:srgbClr val="4CAF7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9" name="Text 1"/>
          <p:cNvSpPr/>
          <p:nvPr/>
        </p:nvSpPr>
        <p:spPr>
          <a:xfrm>
            <a:off x="365040" y="0"/>
            <a:ext cx="6400800" cy="65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MARKETING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0" name="Text 2"/>
          <p:cNvSpPr/>
          <p:nvPr/>
        </p:nvSpPr>
        <p:spPr>
          <a:xfrm>
            <a:off x="6765840" y="0"/>
            <a:ext cx="2013120" cy="65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1" u="none" strike="noStrike">
                <a:solidFill>
                  <a:srgbClr val="E8F5EE"/>
                </a:solidFill>
                <a:effectLst/>
                <a:uFillTx/>
                <a:latin typeface="Calibri"/>
                <a:ea typeface="Calibri"/>
              </a:rPr>
              <a:t>Campaigns &amp; Events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1" name="Shape 3"/>
          <p:cNvSpPr/>
          <p:nvPr/>
        </p:nvSpPr>
        <p:spPr>
          <a:xfrm>
            <a:off x="228600" y="777960"/>
            <a:ext cx="4206960" cy="3840120"/>
          </a:xfrm>
          <a:prstGeom prst="rect">
            <a:avLst/>
          </a:prstGeom>
          <a:solidFill>
            <a:srgbClr val="E8F5EE"/>
          </a:solidFill>
          <a:ln w="12600">
            <a:solidFill>
              <a:srgbClr val="B2DFCB"/>
            </a:solidFill>
            <a:miter/>
          </a:ln>
          <a:effectLst>
            <a:outerShdw dist="25455" dir="8100000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2" name="Shape 4"/>
          <p:cNvSpPr/>
          <p:nvPr/>
        </p:nvSpPr>
        <p:spPr>
          <a:xfrm>
            <a:off x="228600" y="777960"/>
            <a:ext cx="4206960" cy="54000"/>
          </a:xfrm>
          <a:prstGeom prst="rect">
            <a:avLst/>
          </a:prstGeom>
          <a:solidFill>
            <a:srgbClr val="4CAF7D"/>
          </a:solidFill>
          <a:ln w="12600">
            <a:solidFill>
              <a:srgbClr val="4CAF7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7200" rIns="90000" bIns="72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3" name="Text 5"/>
          <p:cNvSpPr/>
          <p:nvPr/>
        </p:nvSpPr>
        <p:spPr>
          <a:xfrm>
            <a:off x="365040" y="878040"/>
            <a:ext cx="3932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0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DR. RAMNARAYAN – LEAD GEN CAMPAIGN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4" name="Shape 6"/>
          <p:cNvSpPr/>
          <p:nvPr/>
        </p:nvSpPr>
        <p:spPr>
          <a:xfrm>
            <a:off x="320760" y="1262160"/>
            <a:ext cx="3930480" cy="658800"/>
          </a:xfrm>
          <a:prstGeom prst="rect">
            <a:avLst/>
          </a:prstGeom>
          <a:solidFill>
            <a:srgbClr val="FFFFFF"/>
          </a:solidFill>
          <a:ln w="12600">
            <a:solidFill>
              <a:srgbClr val="B2DFC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5" name="Text 7"/>
          <p:cNvSpPr/>
          <p:nvPr/>
        </p:nvSpPr>
        <p:spPr>
          <a:xfrm>
            <a:off x="457200" y="1316160"/>
            <a:ext cx="21034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Ad Spend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6" name="Text 8"/>
          <p:cNvSpPr/>
          <p:nvPr/>
        </p:nvSpPr>
        <p:spPr>
          <a:xfrm>
            <a:off x="2743200" y="1298520"/>
            <a:ext cx="1371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Rs.1,500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 9"/>
          <p:cNvSpPr/>
          <p:nvPr/>
        </p:nvSpPr>
        <p:spPr>
          <a:xfrm>
            <a:off x="457200" y="1627200"/>
            <a:ext cx="32004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Rs.250/day × 6 days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8" name="Shape 10"/>
          <p:cNvSpPr/>
          <p:nvPr/>
        </p:nvSpPr>
        <p:spPr>
          <a:xfrm>
            <a:off x="320760" y="1994040"/>
            <a:ext cx="3930480" cy="657000"/>
          </a:xfrm>
          <a:prstGeom prst="rect">
            <a:avLst/>
          </a:prstGeom>
          <a:solidFill>
            <a:srgbClr val="FFFFFF"/>
          </a:solidFill>
          <a:ln w="12600">
            <a:solidFill>
              <a:srgbClr val="B2DFC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9" name="Text 11"/>
          <p:cNvSpPr/>
          <p:nvPr/>
        </p:nvSpPr>
        <p:spPr>
          <a:xfrm>
            <a:off x="457200" y="2048040"/>
            <a:ext cx="21034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Leads Generated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0" name="Text 12"/>
          <p:cNvSpPr/>
          <p:nvPr/>
        </p:nvSpPr>
        <p:spPr>
          <a:xfrm>
            <a:off x="2743200" y="2030400"/>
            <a:ext cx="1371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35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1" name="Shape 13"/>
          <p:cNvSpPr/>
          <p:nvPr/>
        </p:nvSpPr>
        <p:spPr>
          <a:xfrm>
            <a:off x="320760" y="2724120"/>
            <a:ext cx="3930480" cy="658800"/>
          </a:xfrm>
          <a:prstGeom prst="rect">
            <a:avLst/>
          </a:prstGeom>
          <a:solidFill>
            <a:srgbClr val="FFFFFF"/>
          </a:solidFill>
          <a:ln w="12600">
            <a:solidFill>
              <a:srgbClr val="B2DFC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2" name="Text 14"/>
          <p:cNvSpPr/>
          <p:nvPr/>
        </p:nvSpPr>
        <p:spPr>
          <a:xfrm>
            <a:off x="457200" y="2779560"/>
            <a:ext cx="21034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Conversions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3" name="Text 15"/>
          <p:cNvSpPr/>
          <p:nvPr/>
        </p:nvSpPr>
        <p:spPr>
          <a:xfrm>
            <a:off x="2743200" y="2762280"/>
            <a:ext cx="1371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4" name="Shape 16"/>
          <p:cNvSpPr/>
          <p:nvPr/>
        </p:nvSpPr>
        <p:spPr>
          <a:xfrm>
            <a:off x="320760" y="3456000"/>
            <a:ext cx="3930480" cy="658800"/>
          </a:xfrm>
          <a:prstGeom prst="rect">
            <a:avLst/>
          </a:prstGeom>
          <a:solidFill>
            <a:srgbClr val="FFFFFF"/>
          </a:solidFill>
          <a:ln w="12600">
            <a:solidFill>
              <a:srgbClr val="B2DFC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5" name="Text 17"/>
          <p:cNvSpPr/>
          <p:nvPr/>
        </p:nvSpPr>
        <p:spPr>
          <a:xfrm>
            <a:off x="457200" y="3511440"/>
            <a:ext cx="21034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Conversion Rate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6" name="Text 18"/>
          <p:cNvSpPr/>
          <p:nvPr/>
        </p:nvSpPr>
        <p:spPr>
          <a:xfrm>
            <a:off x="2743200" y="3492360"/>
            <a:ext cx="137160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51%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7" name="Shape 19"/>
          <p:cNvSpPr/>
          <p:nvPr/>
        </p:nvSpPr>
        <p:spPr>
          <a:xfrm>
            <a:off x="320760" y="4206960"/>
            <a:ext cx="3930480" cy="318960"/>
          </a:xfrm>
          <a:prstGeom prst="rect">
            <a:avLst/>
          </a:prstGeom>
          <a:solidFill>
            <a:srgbClr val="B2DFCB"/>
          </a:solidFill>
          <a:ln w="12600">
            <a:solidFill>
              <a:srgbClr val="B2DFC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8" name="Text 20"/>
          <p:cNvSpPr/>
          <p:nvPr/>
        </p:nvSpPr>
        <p:spPr>
          <a:xfrm>
            <a:off x="411120" y="4206960"/>
            <a:ext cx="37497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000" b="1" i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51% conversion — recommend scaling budget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9" name="Shape 21"/>
          <p:cNvSpPr/>
          <p:nvPr/>
        </p:nvSpPr>
        <p:spPr>
          <a:xfrm>
            <a:off x="4708440" y="777960"/>
            <a:ext cx="4206960" cy="3840120"/>
          </a:xfrm>
          <a:prstGeom prst="rect">
            <a:avLst/>
          </a:prstGeom>
          <a:solidFill>
            <a:srgbClr val="FFFFFF"/>
          </a:solidFill>
          <a:ln w="12600">
            <a:solidFill>
              <a:srgbClr val="B2DFCB"/>
            </a:solidFill>
            <a:miter/>
          </a:ln>
          <a:effectLst>
            <a:outerShdw dist="25455" dir="8100000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0" name="Shape 22"/>
          <p:cNvSpPr/>
          <p:nvPr/>
        </p:nvSpPr>
        <p:spPr>
          <a:xfrm>
            <a:off x="4708440" y="777960"/>
            <a:ext cx="4206960" cy="54000"/>
          </a:xfrm>
          <a:prstGeom prst="rect">
            <a:avLst/>
          </a:prstGeom>
          <a:solidFill>
            <a:srgbClr val="4CAF7D"/>
          </a:solidFill>
          <a:ln w="12600">
            <a:solidFill>
              <a:srgbClr val="4CAF7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7200" rIns="90000" bIns="72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1" name="Text 23"/>
          <p:cNvSpPr/>
          <p:nvPr/>
        </p:nvSpPr>
        <p:spPr>
          <a:xfrm>
            <a:off x="4846680" y="878040"/>
            <a:ext cx="3932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000" b="1" u="none" strike="noStrike">
                <a:solidFill>
                  <a:srgbClr val="2E7D52"/>
                </a:solidFill>
                <a:effectLst/>
                <a:uFillTx/>
                <a:latin typeface="Calibri"/>
                <a:ea typeface="Calibri"/>
              </a:rPr>
              <a:t>EVENTS &amp; BRANDING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2" name="Shape 24"/>
          <p:cNvSpPr/>
          <p:nvPr/>
        </p:nvSpPr>
        <p:spPr>
          <a:xfrm>
            <a:off x="4754520" y="1262160"/>
            <a:ext cx="4068720" cy="311040"/>
          </a:xfrm>
          <a:prstGeom prst="rect">
            <a:avLst/>
          </a:prstGeom>
          <a:solidFill>
            <a:srgbClr val="B2DFCB"/>
          </a:solidFill>
          <a:ln w="12600">
            <a:solidFill>
              <a:srgbClr val="B2DFC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3" name="Text 25"/>
          <p:cNvSpPr/>
          <p:nvPr/>
        </p:nvSpPr>
        <p:spPr>
          <a:xfrm>
            <a:off x="4846680" y="1262160"/>
            <a:ext cx="388620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1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Yatra Initiative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4" name="Text 26"/>
          <p:cNvSpPr/>
          <p:nvPr/>
        </p:nvSpPr>
        <p:spPr>
          <a:xfrm>
            <a:off x="4846680" y="1609560"/>
            <a:ext cx="3932280" cy="3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marL="343080" indent="-343080">
              <a:buClr>
                <a:srgbClr val="1A3D2B"/>
              </a:buClr>
              <a:buFont typeface="Calibri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All creatives completed – logo, campaign, schedule, social media assets, stage backdrop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5" name="Shape 27"/>
          <p:cNvSpPr/>
          <p:nvPr/>
        </p:nvSpPr>
        <p:spPr>
          <a:xfrm>
            <a:off x="4754520" y="2157480"/>
            <a:ext cx="4068720" cy="311040"/>
          </a:xfrm>
          <a:prstGeom prst="rect">
            <a:avLst/>
          </a:prstGeom>
          <a:solidFill>
            <a:srgbClr val="B2DFCB"/>
          </a:solidFill>
          <a:ln w="12600">
            <a:solidFill>
              <a:srgbClr val="B2DFC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6" name="Text 28"/>
          <p:cNvSpPr/>
          <p:nvPr/>
        </p:nvSpPr>
        <p:spPr>
          <a:xfrm>
            <a:off x="4846680" y="2157480"/>
            <a:ext cx="388620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1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FIRST STEP – School Kit Distribution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7" name="Text 29"/>
          <p:cNvSpPr/>
          <p:nvPr/>
        </p:nvSpPr>
        <p:spPr>
          <a:xfrm>
            <a:off x="4846680" y="2505240"/>
            <a:ext cx="393228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marL="343080" indent="-343080">
              <a:buClr>
                <a:srgbClr val="1A3D2B"/>
              </a:buClr>
              <a:buFont typeface="Calibri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Event executed successfully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8" name="Text 30"/>
          <p:cNvSpPr/>
          <p:nvPr/>
        </p:nvSpPr>
        <p:spPr>
          <a:xfrm>
            <a:off x="4846680" y="2871720"/>
            <a:ext cx="3932280" cy="3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marL="343080" indent="-343080">
              <a:buClr>
                <a:srgbClr val="1A3D2B"/>
              </a:buClr>
              <a:buFont typeface="Calibri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Mayor &amp; Maradu Chairperson attended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9" name="Text 31"/>
          <p:cNvSpPr/>
          <p:nvPr/>
        </p:nvSpPr>
        <p:spPr>
          <a:xfrm>
            <a:off x="4846680" y="3236760"/>
            <a:ext cx="3932280" cy="3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marL="343080" indent="-343080">
              <a:buClr>
                <a:srgbClr val="1A3D2B"/>
              </a:buClr>
              <a:buFont typeface="Calibri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1A3D2B"/>
                </a:solidFill>
                <a:effectLst/>
                <a:uFillTx/>
                <a:latin typeface="Calibri"/>
                <a:ea typeface="Calibri"/>
              </a:rPr>
              <a:t>Branding and programme schedule completed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80" name="Text 33"/>
          <p:cNvSpPr/>
          <p:nvPr/>
        </p:nvSpPr>
        <p:spPr>
          <a:xfrm>
            <a:off x="365040" y="4773600"/>
            <a:ext cx="8413920" cy="3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Lkeshore Hospital  |  BD &amp; Marketing Weekly Update  |  May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Application>LibreOffice/26.2.2.2$Linux_AARCH64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2026-05-29T08:51:46Z</dcterms:created>
  <dc:creator>PptxGenJS</dc:creator>
  <dc:description/>
  <dc:language>en-US</dc:language>
  <cp:lastModifiedBy>Rosh Mohan</cp:lastModifiedBy>
  <dcterms:modified xsi:type="dcterms:W3CDTF">2026-05-30T06:13:21Z</dcterms:modified>
  <cp:revision>8</cp:revision>
  <dc:subject>PptxGenJS Presentation</dc:subject>
  <dc:title>Weekly Update – Lakeshore Hospital</dc:title>
</cp:coreProperties>
</file>