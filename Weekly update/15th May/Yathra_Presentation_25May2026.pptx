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F803-C816-42A9-A802-7FB7CC7E2F0A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5D9-67A1-40A7-8BED-208ECF8D41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31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F803-C816-42A9-A802-7FB7CC7E2F0A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5D9-67A1-40A7-8BED-208ECF8D41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616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F803-C816-42A9-A802-7FB7CC7E2F0A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5D9-67A1-40A7-8BED-208ECF8D41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963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F803-C816-42A9-A802-7FB7CC7E2F0A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5D9-67A1-40A7-8BED-208ECF8D41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90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F803-C816-42A9-A802-7FB7CC7E2F0A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5D9-67A1-40A7-8BED-208ECF8D41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081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F803-C816-42A9-A802-7FB7CC7E2F0A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5D9-67A1-40A7-8BED-208ECF8D41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033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F803-C816-42A9-A802-7FB7CC7E2F0A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5D9-67A1-40A7-8BED-208ECF8D41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189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F803-C816-42A9-A802-7FB7CC7E2F0A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5D9-67A1-40A7-8BED-208ECF8D41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526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F803-C816-42A9-A802-7FB7CC7E2F0A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5D9-67A1-40A7-8BED-208ECF8D41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1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F803-C816-42A9-A802-7FB7CC7E2F0A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5D9-67A1-40A7-8BED-208ECF8D41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257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F803-C816-42A9-A802-7FB7CC7E2F0A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5D9-67A1-40A7-8BED-208ECF8D41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23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0F803-C816-42A9-A802-7FB7CC7E2F0A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DC5D9-67A1-40A7-8BED-208ECF8D41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62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6616D1-8C0C-5F7A-EFF3-5A865D100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176" y="1223554"/>
            <a:ext cx="6667648" cy="404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870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A2550"/>
            </a:gs>
            <a:gs pos="100000">
              <a:srgbClr val="0D3D7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AccentBar"/>
          <p:cNvSpPr>
            <a:spLocks noGrp="1"/>
          </p:cNvSpPr>
          <p:nvPr/>
        </p:nvSpPr>
        <p:spPr>
          <a:xfrm>
            <a:off x="0" y="0"/>
            <a:ext cx="8778240" cy="54864"/>
          </a:xfrm>
          <a:prstGeom prst="rect">
            <a:avLst/>
          </a:prstGeom>
          <a:solidFill>
            <a:srgbClr val="B21E4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HeaderBg"/>
          <p:cNvSpPr>
            <a:spLocks noGrp="1"/>
          </p:cNvSpPr>
          <p:nvPr/>
        </p:nvSpPr>
        <p:spPr>
          <a:xfrm>
            <a:off x="0" y="0"/>
            <a:ext cx="8778240" cy="731520"/>
          </a:xfrm>
          <a:prstGeom prst="rect">
            <a:avLst/>
          </a:prstGeom>
          <a:solidFill>
            <a:srgbClr val="0A2550">
              <a:alpha val="6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Card0"/>
          <p:cNvSpPr>
            <a:spLocks noGrp="1"/>
          </p:cNvSpPr>
          <p:nvPr/>
        </p:nvSpPr>
        <p:spPr>
          <a:xfrm>
            <a:off x="597982" y="1581912"/>
            <a:ext cx="3146816" cy="4251960"/>
          </a:xfrm>
          <a:prstGeom prst="roundRect">
            <a:avLst>
              <a:gd name="adj" fmla="val 30000"/>
            </a:avLst>
          </a:prstGeom>
          <a:solidFill>
            <a:srgbClr val="0D3D7A">
              <a:alpha val="92000"/>
            </a:srgbClr>
          </a:solidFill>
          <a:ln w="12700">
            <a:solidFill>
              <a:srgbClr val="FFFFFF">
                <a:alpha val="92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1" name="CardAccent0"/>
          <p:cNvSpPr>
            <a:spLocks noGrp="1"/>
          </p:cNvSpPr>
          <p:nvPr/>
        </p:nvSpPr>
        <p:spPr>
          <a:xfrm>
            <a:off x="828136" y="1581912"/>
            <a:ext cx="2505456" cy="45720"/>
          </a:xfrm>
          <a:prstGeom prst="rect">
            <a:avLst/>
          </a:prstGeom>
          <a:solidFill>
            <a:srgbClr val="1B74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PillarNum0"/>
          <p:cNvSpPr>
            <a:spLocks noGrp="1"/>
          </p:cNvSpPr>
          <p:nvPr/>
        </p:nvSpPr>
        <p:spPr>
          <a:xfrm>
            <a:off x="1545336" y="1691639"/>
            <a:ext cx="329184" cy="329184"/>
          </a:xfrm>
          <a:prstGeom prst="ellipse">
            <a:avLst/>
          </a:prstGeom>
          <a:solidFill>
            <a:srgbClr val="B21E4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3" name="ImgArea0"/>
          <p:cNvSpPr>
            <a:spLocks noGrp="1"/>
          </p:cNvSpPr>
          <p:nvPr/>
        </p:nvSpPr>
        <p:spPr>
          <a:xfrm>
            <a:off x="566928" y="2084832"/>
            <a:ext cx="2286000" cy="1925320"/>
          </a:xfrm>
          <a:prstGeom prst="rect">
            <a:avLst/>
          </a:prstGeom>
          <a:noFill/>
        </p:spPr>
        <p:txBody>
          <a:bodyPr/>
          <a:lstStyle/>
          <a:p>
            <a:endParaRPr/>
          </a:p>
        </p:txBody>
      </p:sp>
      <p:sp>
        <p:nvSpPr>
          <p:cNvPr id="214" name="CardLabel0"/>
          <p:cNvSpPr>
            <a:spLocks noGrp="1"/>
          </p:cNvSpPr>
          <p:nvPr/>
        </p:nvSpPr>
        <p:spPr>
          <a:xfrm>
            <a:off x="871267" y="4074160"/>
            <a:ext cx="2505456" cy="29260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Yatra Pod</a:t>
            </a:r>
          </a:p>
        </p:txBody>
      </p:sp>
      <p:sp>
        <p:nvSpPr>
          <p:cNvPr id="215" name="CardUL0"/>
          <p:cNvSpPr>
            <a:spLocks noGrp="1"/>
          </p:cNvSpPr>
          <p:nvPr/>
        </p:nvSpPr>
        <p:spPr>
          <a:xfrm>
            <a:off x="1849675" y="4375912"/>
            <a:ext cx="548640" cy="27432"/>
          </a:xfrm>
          <a:prstGeom prst="rect">
            <a:avLst/>
          </a:prstGeom>
          <a:solidFill>
            <a:srgbClr val="1B74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6" name="CardDesc0"/>
          <p:cNvSpPr>
            <a:spLocks noGrp="1"/>
          </p:cNvSpPr>
          <p:nvPr/>
        </p:nvSpPr>
        <p:spPr>
          <a:xfrm>
            <a:off x="980995" y="4449064"/>
            <a:ext cx="2286000" cy="1266444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>
              <a:buNone/>
            </a:pPr>
            <a:r>
              <a:rPr lang="en-US" sz="1100" dirty="0">
                <a:solidFill>
                  <a:srgbClr val="C8D8F0"/>
                </a:solidFill>
                <a:latin typeface="Calibri"/>
              </a:rPr>
              <a:t>Fixed healthcare facility — diagnostics, consultations &amp; wellness under one roof</a:t>
            </a:r>
          </a:p>
        </p:txBody>
      </p:sp>
      <p:sp>
        <p:nvSpPr>
          <p:cNvPr id="220" name="Card1"/>
          <p:cNvSpPr>
            <a:spLocks noGrp="1"/>
          </p:cNvSpPr>
          <p:nvPr/>
        </p:nvSpPr>
        <p:spPr>
          <a:xfrm>
            <a:off x="4475900" y="1581912"/>
            <a:ext cx="3003201" cy="4251960"/>
          </a:xfrm>
          <a:prstGeom prst="roundRect">
            <a:avLst>
              <a:gd name="adj" fmla="val 30000"/>
            </a:avLst>
          </a:prstGeom>
          <a:solidFill>
            <a:srgbClr val="0D3D7A">
              <a:alpha val="92000"/>
            </a:srgbClr>
          </a:solidFill>
          <a:ln w="12700">
            <a:solidFill>
              <a:srgbClr val="FFFFFF">
                <a:alpha val="92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1" name="CardAccent1"/>
          <p:cNvSpPr>
            <a:spLocks noGrp="1"/>
          </p:cNvSpPr>
          <p:nvPr/>
        </p:nvSpPr>
        <p:spPr>
          <a:xfrm>
            <a:off x="4680515" y="1581912"/>
            <a:ext cx="2505456" cy="45720"/>
          </a:xfrm>
          <a:prstGeom prst="rect">
            <a:avLst/>
          </a:prstGeom>
          <a:solidFill>
            <a:srgbClr val="1B74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PillarNum1"/>
          <p:cNvSpPr>
            <a:spLocks noGrp="1"/>
          </p:cNvSpPr>
          <p:nvPr/>
        </p:nvSpPr>
        <p:spPr>
          <a:xfrm>
            <a:off x="5768651" y="1691639"/>
            <a:ext cx="329184" cy="329184"/>
          </a:xfrm>
          <a:prstGeom prst="ellipse">
            <a:avLst/>
          </a:prstGeom>
          <a:solidFill>
            <a:srgbClr val="B21E4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3" name="ImgArea1"/>
          <p:cNvSpPr>
            <a:spLocks noGrp="1"/>
          </p:cNvSpPr>
          <p:nvPr/>
        </p:nvSpPr>
        <p:spPr>
          <a:xfrm>
            <a:off x="4790243" y="2084832"/>
            <a:ext cx="2286000" cy="1925320"/>
          </a:xfrm>
          <a:prstGeom prst="rect">
            <a:avLst/>
          </a:prstGeom>
          <a:noFill/>
        </p:spPr>
        <p:txBody>
          <a:bodyPr/>
          <a:lstStyle/>
          <a:p>
            <a:endParaRPr/>
          </a:p>
        </p:txBody>
      </p:sp>
      <p:sp>
        <p:nvSpPr>
          <p:cNvPr id="224" name="CardLabel1"/>
          <p:cNvSpPr>
            <a:spLocks noGrp="1"/>
          </p:cNvSpPr>
          <p:nvPr/>
        </p:nvSpPr>
        <p:spPr>
          <a:xfrm>
            <a:off x="4680515" y="4074160"/>
            <a:ext cx="2505456" cy="29260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Yatra Camp</a:t>
            </a:r>
          </a:p>
        </p:txBody>
      </p:sp>
      <p:sp>
        <p:nvSpPr>
          <p:cNvPr id="225" name="CardUL1"/>
          <p:cNvSpPr>
            <a:spLocks noGrp="1"/>
          </p:cNvSpPr>
          <p:nvPr/>
        </p:nvSpPr>
        <p:spPr>
          <a:xfrm>
            <a:off x="5658923" y="4375912"/>
            <a:ext cx="548640" cy="27432"/>
          </a:xfrm>
          <a:prstGeom prst="rect">
            <a:avLst/>
          </a:prstGeom>
          <a:solidFill>
            <a:srgbClr val="1B74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6" name="CardDesc1"/>
          <p:cNvSpPr>
            <a:spLocks noGrp="1"/>
          </p:cNvSpPr>
          <p:nvPr/>
        </p:nvSpPr>
        <p:spPr>
          <a:xfrm>
            <a:off x="4790243" y="4449064"/>
            <a:ext cx="2286000" cy="1266444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>
              <a:buNone/>
            </a:pPr>
            <a:r>
              <a:rPr lang="en-US" sz="1100" dirty="0">
                <a:solidFill>
                  <a:srgbClr val="C8D8F0"/>
                </a:solidFill>
                <a:latin typeface="Calibri"/>
              </a:rPr>
              <a:t>Organised community health camps — screenings, awareness &amp; preventive care</a:t>
            </a:r>
          </a:p>
        </p:txBody>
      </p:sp>
      <p:sp>
        <p:nvSpPr>
          <p:cNvPr id="230" name="Card2"/>
          <p:cNvSpPr>
            <a:spLocks noGrp="1"/>
          </p:cNvSpPr>
          <p:nvPr/>
        </p:nvSpPr>
        <p:spPr>
          <a:xfrm>
            <a:off x="8412480" y="1581912"/>
            <a:ext cx="3208020" cy="4251960"/>
          </a:xfrm>
          <a:prstGeom prst="roundRect">
            <a:avLst>
              <a:gd name="adj" fmla="val 30000"/>
            </a:avLst>
          </a:prstGeom>
          <a:solidFill>
            <a:srgbClr val="0D3D7A">
              <a:alpha val="92000"/>
            </a:srgbClr>
          </a:solidFill>
          <a:ln w="12700">
            <a:solidFill>
              <a:srgbClr val="FFFFFF">
                <a:alpha val="92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CardAccent2"/>
          <p:cNvSpPr>
            <a:spLocks noGrp="1"/>
          </p:cNvSpPr>
          <p:nvPr/>
        </p:nvSpPr>
        <p:spPr>
          <a:xfrm>
            <a:off x="8808943" y="1581912"/>
            <a:ext cx="2505456" cy="45720"/>
          </a:xfrm>
          <a:prstGeom prst="rect">
            <a:avLst/>
          </a:prstGeom>
          <a:solidFill>
            <a:srgbClr val="1B74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PillarNum2"/>
          <p:cNvSpPr>
            <a:spLocks noGrp="1"/>
          </p:cNvSpPr>
          <p:nvPr/>
        </p:nvSpPr>
        <p:spPr>
          <a:xfrm>
            <a:off x="9897079" y="1691639"/>
            <a:ext cx="329184" cy="329184"/>
          </a:xfrm>
          <a:prstGeom prst="ellipse">
            <a:avLst/>
          </a:prstGeom>
          <a:solidFill>
            <a:srgbClr val="B21E4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3" name="ImgArea2"/>
          <p:cNvSpPr>
            <a:spLocks noGrp="1"/>
          </p:cNvSpPr>
          <p:nvPr/>
        </p:nvSpPr>
        <p:spPr>
          <a:xfrm>
            <a:off x="8918671" y="2084832"/>
            <a:ext cx="2286000" cy="1925320"/>
          </a:xfrm>
          <a:prstGeom prst="rect">
            <a:avLst/>
          </a:prstGeom>
          <a:noFill/>
        </p:spPr>
        <p:txBody>
          <a:bodyPr/>
          <a:lstStyle/>
          <a:p>
            <a:endParaRPr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2522" y="2082800"/>
            <a:ext cx="2927025" cy="1930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630" y="2082800"/>
            <a:ext cx="2740147" cy="1930400"/>
          </a:xfrm>
          <a:prstGeom prst="rect">
            <a:avLst/>
          </a:prstGeom>
        </p:spPr>
      </p:pic>
      <p:pic>
        <p:nvPicPr>
          <p:cNvPr id="2049" name="Picture 116916030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4" r="17003"/>
          <a:stretch>
            <a:fillRect/>
          </a:stretch>
        </p:blipFill>
        <p:spPr bwMode="auto">
          <a:xfrm>
            <a:off x="734707" y="2082800"/>
            <a:ext cx="2871183" cy="193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4" name="CardLabel2"/>
          <p:cNvSpPr>
            <a:spLocks noGrp="1"/>
          </p:cNvSpPr>
          <p:nvPr/>
        </p:nvSpPr>
        <p:spPr>
          <a:xfrm>
            <a:off x="8808943" y="4074160"/>
            <a:ext cx="2505456" cy="29260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Yatra MMU</a:t>
            </a:r>
          </a:p>
        </p:txBody>
      </p:sp>
      <p:sp>
        <p:nvSpPr>
          <p:cNvPr id="235" name="CardUL2"/>
          <p:cNvSpPr>
            <a:spLocks noGrp="1"/>
          </p:cNvSpPr>
          <p:nvPr/>
        </p:nvSpPr>
        <p:spPr>
          <a:xfrm>
            <a:off x="9787351" y="4375912"/>
            <a:ext cx="548640" cy="27432"/>
          </a:xfrm>
          <a:prstGeom prst="rect">
            <a:avLst/>
          </a:prstGeom>
          <a:solidFill>
            <a:srgbClr val="1B74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6" name="CardDesc2"/>
          <p:cNvSpPr>
            <a:spLocks noGrp="1"/>
          </p:cNvSpPr>
          <p:nvPr/>
        </p:nvSpPr>
        <p:spPr>
          <a:xfrm>
            <a:off x="8918671" y="4449064"/>
            <a:ext cx="2286000" cy="1266444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>
              <a:buNone/>
            </a:pPr>
            <a:r>
              <a:rPr lang="en-US" sz="1100" dirty="0">
                <a:solidFill>
                  <a:srgbClr val="C8D8F0"/>
                </a:solidFill>
                <a:latin typeface="Calibri"/>
              </a:rPr>
              <a:t>Mobile Medical Unit — bringing quality healthcare to remote &amp; underserved areas</a:t>
            </a:r>
          </a:p>
        </p:txBody>
      </p:sp>
      <p:sp>
        <p:nvSpPr>
          <p:cNvPr id="280" name="Star0"/>
          <p:cNvSpPr>
            <a:spLocks noGrp="1"/>
          </p:cNvSpPr>
          <p:nvPr/>
        </p:nvSpPr>
        <p:spPr>
          <a:xfrm>
            <a:off x="7955280" y="228600"/>
            <a:ext cx="36576" cy="36576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1" name="Star1"/>
          <p:cNvSpPr>
            <a:spLocks noGrp="1"/>
          </p:cNvSpPr>
          <p:nvPr/>
        </p:nvSpPr>
        <p:spPr>
          <a:xfrm>
            <a:off x="8229600" y="457200"/>
            <a:ext cx="27432" cy="27432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2" name="Star2"/>
          <p:cNvSpPr>
            <a:spLocks noGrp="1"/>
          </p:cNvSpPr>
          <p:nvPr/>
        </p:nvSpPr>
        <p:spPr>
          <a:xfrm>
            <a:off x="7772400" y="54864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3" name="Star3"/>
          <p:cNvSpPr>
            <a:spLocks noGrp="1"/>
          </p:cNvSpPr>
          <p:nvPr/>
        </p:nvSpPr>
        <p:spPr>
          <a:xfrm>
            <a:off x="8412480" y="274320"/>
            <a:ext cx="36576" cy="36576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4" name="Star4"/>
          <p:cNvSpPr>
            <a:spLocks noGrp="1"/>
          </p:cNvSpPr>
          <p:nvPr/>
        </p:nvSpPr>
        <p:spPr>
          <a:xfrm>
            <a:off x="8138160" y="640080"/>
            <a:ext cx="27432" cy="27432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5" name="Star5"/>
          <p:cNvSpPr>
            <a:spLocks noGrp="1"/>
          </p:cNvSpPr>
          <p:nvPr/>
        </p:nvSpPr>
        <p:spPr>
          <a:xfrm>
            <a:off x="365760" y="18288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6" name="Star6"/>
          <p:cNvSpPr>
            <a:spLocks noGrp="1"/>
          </p:cNvSpPr>
          <p:nvPr/>
        </p:nvSpPr>
        <p:spPr>
          <a:xfrm>
            <a:off x="640080" y="411480"/>
            <a:ext cx="36576" cy="36576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7" name="Star7"/>
          <p:cNvSpPr>
            <a:spLocks noGrp="1"/>
          </p:cNvSpPr>
          <p:nvPr/>
        </p:nvSpPr>
        <p:spPr>
          <a:xfrm>
            <a:off x="502920" y="594360"/>
            <a:ext cx="27432" cy="27432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8" name="Star8"/>
          <p:cNvSpPr>
            <a:spLocks noGrp="1"/>
          </p:cNvSpPr>
          <p:nvPr/>
        </p:nvSpPr>
        <p:spPr>
          <a:xfrm>
            <a:off x="182880" y="45720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9" name="Star9"/>
          <p:cNvSpPr>
            <a:spLocks noGrp="1"/>
          </p:cNvSpPr>
          <p:nvPr/>
        </p:nvSpPr>
        <p:spPr>
          <a:xfrm>
            <a:off x="822960" y="164592"/>
            <a:ext cx="36576" cy="36576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CardDesc0">
            <a:extLst>
              <a:ext uri="{FF2B5EF4-FFF2-40B4-BE49-F238E27FC236}">
                <a16:creationId xmlns:a16="http://schemas.microsoft.com/office/drawing/2014/main" id="{8C1DE676-6F64-094B-6B6A-E88CD9926E8A}"/>
              </a:ext>
            </a:extLst>
          </p:cNvPr>
          <p:cNvSpPr>
            <a:spLocks noGrp="1"/>
          </p:cNvSpPr>
          <p:nvPr/>
        </p:nvSpPr>
        <p:spPr>
          <a:xfrm>
            <a:off x="644738" y="394921"/>
            <a:ext cx="7675548" cy="230222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sz="2400" dirty="0">
                <a:solidFill>
                  <a:srgbClr val="C8D8F0"/>
                </a:solidFill>
                <a:latin typeface="Calibri"/>
              </a:rPr>
              <a:t>The journey begins today…</a:t>
            </a:r>
          </a:p>
        </p:txBody>
      </p:sp>
    </p:spTree>
    <p:extLst>
      <p:ext uri="{BB962C8B-B14F-4D97-AF65-F5344CB8AC3E}">
        <p14:creationId xmlns:p14="http://schemas.microsoft.com/office/powerpoint/2010/main" val="2736564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18A245E-BA1E-4F2B-9629-51DF38F4DB5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4796fb6-7d60-4046-aaf1-419ade3c2f4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49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Yathra – Healthpod Kiosk</dc:title>
  <dc:creator>PRASANTH CV</dc:creator>
  <cp:lastModifiedBy>Admin Department</cp:lastModifiedBy>
  <cp:revision>22</cp:revision>
  <dcterms:created xsi:type="dcterms:W3CDTF">2026-05-22T07:20:09Z</dcterms:created>
  <dcterms:modified xsi:type="dcterms:W3CDTF">2026-05-25T07:56:16Z</dcterms:modified>
</cp:coreProperties>
</file>