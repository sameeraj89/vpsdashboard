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6" Type="http://schemas.microsoft.com/office/2020/02/relationships/classificationlabels" Target="docMetadata/LabelInfo.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8"/>
  </p:notesMasterIdLst>
  <p:handoutMasterIdLst>
    <p:handoutMasterId r:id="rId9"/>
  </p:handoutMasterIdLst>
  <p:sldIdLst>
    <p:sldId id="2147482228" r:id="rId5"/>
    <p:sldId id="2147482229" r:id="rId6"/>
    <p:sldId id="340" r:id="rId7"/>
  </p:sldIdLst>
  <p:sldSz cx="12192000" cy="6858000"/>
  <p:notesSz cx="6858000" cy="9144000"/>
  <p:embeddedFontLst>
    <p:embeddedFont>
      <p:font typeface="Century Gothic" panose="020B0502020202020204" pitchFamily="34" charset="0"/>
      <p:regular r:id="rId10"/>
      <p:bold r:id="rId11"/>
      <p:italic r:id="rId12"/>
      <p:boldItalic r:id="rId13"/>
    </p:embeddedFont>
    <p:embeddedFont>
      <p:font typeface="KPMG Bold" panose="020B0803030202040204" pitchFamily="34" charset="0"/>
      <p:bold r:id="rId14"/>
      <p:boldItalic r:id="rId15"/>
    </p:embeddedFont>
  </p:embeddedFontLst>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EBDA"/>
    <a:srgbClr val="ACEAFF"/>
    <a:srgbClr val="E5E5E5"/>
    <a:srgbClr val="B2B2B2"/>
    <a:srgbClr val="989898"/>
    <a:srgbClr val="666666"/>
    <a:srgbClr val="333333"/>
    <a:srgbClr val="FFFFFF"/>
    <a:srgbClr val="00C0AE"/>
    <a:srgbClr val="098E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176"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 /><Relationship Id="rId13" Type="http://schemas.openxmlformats.org/officeDocument/2006/relationships/font" Target="fonts/font4.fntdata" /><Relationship Id="rId18" Type="http://schemas.openxmlformats.org/officeDocument/2006/relationships/presProps" Target="presProps.xml" /><Relationship Id="rId3" Type="http://schemas.openxmlformats.org/officeDocument/2006/relationships/customXml" Target="../customXml/item3.xml" /><Relationship Id="rId21" Type="http://schemas.openxmlformats.org/officeDocument/2006/relationships/tableStyles" Target="tableStyles.xml" /><Relationship Id="rId7" Type="http://schemas.openxmlformats.org/officeDocument/2006/relationships/slide" Target="slides/slide3.xml" /><Relationship Id="rId12" Type="http://schemas.openxmlformats.org/officeDocument/2006/relationships/font" Target="fonts/font3.fntdata" /><Relationship Id="rId17" Type="http://schemas.openxmlformats.org/officeDocument/2006/relationships/commentAuthors" Target="commentAuthors.xml" /><Relationship Id="rId2" Type="http://schemas.openxmlformats.org/officeDocument/2006/relationships/customXml" Target="../customXml/item2.xml" /><Relationship Id="rId16" Type="http://schemas.openxmlformats.org/officeDocument/2006/relationships/tags" Target="tags/tag1.xml" /><Relationship Id="rId20" Type="http://schemas.openxmlformats.org/officeDocument/2006/relationships/theme" Target="theme/theme1.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font" Target="fonts/font2.fntdata" /><Relationship Id="rId5" Type="http://schemas.openxmlformats.org/officeDocument/2006/relationships/slide" Target="slides/slide1.xml" /><Relationship Id="rId15" Type="http://schemas.openxmlformats.org/officeDocument/2006/relationships/font" Target="fonts/font6.fntdata" /><Relationship Id="rId10" Type="http://schemas.openxmlformats.org/officeDocument/2006/relationships/font" Target="fonts/font1.fntdata" /><Relationship Id="rId19" Type="http://schemas.openxmlformats.org/officeDocument/2006/relationships/viewProps" Target="viewProps.xml" /><Relationship Id="rId4" Type="http://schemas.openxmlformats.org/officeDocument/2006/relationships/slideMaster" Target="slideMasters/slideMaster1.xml" /><Relationship Id="rId9" Type="http://schemas.openxmlformats.org/officeDocument/2006/relationships/handoutMaster" Target="handoutMasters/handoutMaster1.xml" /><Relationship Id="rId14" Type="http://schemas.openxmlformats.org/officeDocument/2006/relationships/font" Target="fonts/font5.fntdata"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14/05/2026</a:t>
            </a:fld>
            <a:endParaRPr lang="en-GB" dirty="0">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dirty="0">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14/05/2026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dirty="0"/>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1</a:t>
            </a:fld>
            <a:endParaRPr lang="en-GB" dirty="0"/>
          </a:p>
        </p:txBody>
      </p:sp>
    </p:spTree>
    <p:extLst>
      <p:ext uri="{BB962C8B-B14F-4D97-AF65-F5344CB8AC3E}">
        <p14:creationId xmlns:p14="http://schemas.microsoft.com/office/powerpoint/2010/main" val="1817311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8223-8E10-97CA-61A4-077F4573E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2E330-2CA8-CF59-2B05-E6ED62181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E3104-FD9C-73B5-BF83-2482C5FB4C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144C02-CDD3-A301-3CCA-31A83581180F}"/>
              </a:ext>
            </a:extLst>
          </p:cNvPr>
          <p:cNvSpPr>
            <a:spLocks noGrp="1"/>
          </p:cNvSpPr>
          <p:nvPr>
            <p:ph type="sldNum" sz="quarter" idx="5"/>
          </p:nvPr>
        </p:nvSpPr>
        <p:spPr/>
        <p:txBody>
          <a:bodyPr/>
          <a:lstStyle/>
          <a:p>
            <a:fld id="{9B5D948F-A673-4DC7-A0E9-FA274EAF3634}" type="slidenum">
              <a:rPr lang="en-GB" smtClean="0"/>
              <a:pPr/>
              <a:t>2</a:t>
            </a:fld>
            <a:endParaRPr lang="en-GB" dirty="0"/>
          </a:p>
        </p:txBody>
      </p:sp>
    </p:spTree>
    <p:extLst>
      <p:ext uri="{BB962C8B-B14F-4D97-AF65-F5344CB8AC3E}">
        <p14:creationId xmlns:p14="http://schemas.microsoft.com/office/powerpoint/2010/main" val="15602800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 /><Relationship Id="rId1" Type="http://schemas.openxmlformats.org/officeDocument/2006/relationships/tags" Target="../tags/tag3.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 /><Relationship Id="rId1" Type="http://schemas.openxmlformats.org/officeDocument/2006/relationships/tags" Target="../tags/tag4.xml" /></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 /><Relationship Id="rId1" Type="http://schemas.openxmlformats.org/officeDocument/2006/relationships/tags" Target="../tags/tag5.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 /><Relationship Id="rId1" Type="http://schemas.openxmlformats.org/officeDocument/2006/relationships/tags" Target="../tags/tag6.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 /><Relationship Id="rId1" Type="http://schemas.openxmlformats.org/officeDocument/2006/relationships/tags" Target="../tags/tag7.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 /><Relationship Id="rId7" Type="http://schemas.openxmlformats.org/officeDocument/2006/relationships/image" Target="../media/image6.png" /><Relationship Id="rId2" Type="http://schemas.openxmlformats.org/officeDocument/2006/relationships/slideMaster" Target="../slideMasters/slideMaster1.xml" /><Relationship Id="rId1" Type="http://schemas.openxmlformats.org/officeDocument/2006/relationships/tags" Target="../tags/tag8.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9.svg" /><Relationship Id="rId3" Type="http://schemas.openxmlformats.org/officeDocument/2006/relationships/image" Target="../media/image3.png" /><Relationship Id="rId7" Type="http://schemas.openxmlformats.org/officeDocument/2006/relationships/image" Target="../media/image5.png" /><Relationship Id="rId2" Type="http://schemas.openxmlformats.org/officeDocument/2006/relationships/slideMaster" Target="../slideMasters/slideMaster1.xml" /><Relationship Id="rId1" Type="http://schemas.openxmlformats.org/officeDocument/2006/relationships/tags" Target="../tags/tag9.xml" /><Relationship Id="rId6" Type="http://schemas.openxmlformats.org/officeDocument/2006/relationships/image" Target="../media/image8.png" /><Relationship Id="rId5" Type="http://schemas.openxmlformats.org/officeDocument/2006/relationships/image" Target="../media/image4.png" /><Relationship Id="rId4" Type="http://schemas.openxmlformats.org/officeDocument/2006/relationships/image" Target="../media/image7.png"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1852717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7973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469647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9699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dirty="0"/>
              <a:t>Click icon to add picture</a:t>
            </a:r>
            <a:endParaRPr lang="en-GB" dirty="0"/>
          </a:p>
        </p:txBody>
      </p:sp>
      <p:sp>
        <p:nvSpPr>
          <p:cNvPr id="2" name="Title 1"/>
          <p:cNvSpPr>
            <a:spLocks noGrp="1"/>
          </p:cNvSpPr>
          <p:nvPr>
            <p:ph type="ctrTitle" hasCustomPrompt="1"/>
          </p:nvPr>
        </p:nvSpPr>
        <p:spPr>
          <a:xfrm>
            <a:off x="7642337"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 name="Text Placeholder 3"/>
          <p:cNvSpPr>
            <a:spLocks noGrp="1"/>
          </p:cNvSpPr>
          <p:nvPr userDrawn="1">
            <p:ph type="body" sz="quarter" idx="11"/>
          </p:nvPr>
        </p:nvSpPr>
        <p:spPr>
          <a:xfrm>
            <a:off x="7648628"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7346" y="371311"/>
            <a:ext cx="914400" cy="368346"/>
          </a:xfrm>
          <a:prstGeom prst="rect">
            <a:avLst/>
          </a:prstGeom>
        </p:spPr>
      </p:pic>
    </p:spTree>
    <p:extLst>
      <p:ext uri="{BB962C8B-B14F-4D97-AF65-F5344CB8AC3E}">
        <p14:creationId xmlns:p14="http://schemas.microsoft.com/office/powerpoint/2010/main" val="4033362024"/>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8477"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91560" y="371311"/>
            <a:ext cx="914400" cy="368346"/>
          </a:xfrm>
          <a:prstGeom prst="rect">
            <a:avLst/>
          </a:prstGeom>
        </p:spPr>
      </p:pic>
    </p:spTree>
    <p:extLst>
      <p:ext uri="{BB962C8B-B14F-4D97-AF65-F5344CB8AC3E}">
        <p14:creationId xmlns:p14="http://schemas.microsoft.com/office/powerpoint/2010/main" val="245474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8478"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8478"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82617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8478"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194820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p>
        </p:txBody>
      </p:sp>
      <p:sp>
        <p:nvSpPr>
          <p:cNvPr id="3" name="TextBox 2">
            <a:extLst>
              <a:ext uri="{FF2B5EF4-FFF2-40B4-BE49-F238E27FC236}">
                <a16:creationId xmlns:a16="http://schemas.microsoft.com/office/drawing/2014/main" id="{96F4D56C-016F-CD90-9DEE-314403A58919}"/>
              </a:ext>
              <a:ext uri="{C183D7F6-B498-43B3-948B-1728B52AA6E4}">
                <adec:decorative xmlns:adec="http://schemas.microsoft.com/office/drawing/2017/decorative" val="1"/>
              </a:ext>
            </a:extLst>
          </p:cNvPr>
          <p:cNvSpPr txBox="1"/>
          <p:nvPr userDrawn="1"/>
        </p:nvSpPr>
        <p:spPr>
          <a:xfrm>
            <a:off x="1824842" y="6202766"/>
            <a:ext cx="6806687" cy="32316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1200" noProof="0" dirty="0">
                <a:solidFill>
                  <a:schemeClr val="bg1"/>
                </a:solidFill>
                <a:latin typeface="+mn-lt"/>
                <a:ea typeface="+mn-ea"/>
                <a:cs typeface="+mn-cs"/>
              </a:rPr>
              <a:t>© 2025 KPMG Global Services Private Limited, and © 2025 KPMG Global Delivery Center Private Limited, (collectively referred to as “KGS”) are companies incorporated under the laws of India and member firms of the KPMG global organization of independent member firms affiliated with KPMG International Limited (“KPMG International”), a private English company limited by guarantee. All rights reserved. The KPMG name and logo are registered trademarks or trademarks of KPMG International.</a:t>
            </a:r>
          </a:p>
        </p:txBody>
      </p:sp>
    </p:spTree>
    <p:extLst>
      <p:ext uri="{BB962C8B-B14F-4D97-AF65-F5344CB8AC3E}">
        <p14:creationId xmlns:p14="http://schemas.microsoft.com/office/powerpoint/2010/main" val="1777057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4358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EC919669-F96A-4239-990D-B48E0AE682F3}"/>
              </a:ext>
              <a:ext uri="{C183D7F6-B498-43B3-948B-1728B52AA6E4}">
                <adec:decorative xmlns:adec="http://schemas.microsoft.com/office/drawing/2017/decorative" val="1"/>
              </a:ext>
            </a:extLst>
          </p:cNvPr>
          <p:cNvSpPr txBox="1"/>
          <p:nvPr userDrawn="1">
            <p:custDataLst>
              <p:tags r:id="rId1"/>
            </p:custDataLst>
          </p:nvPr>
        </p:nvSpPr>
        <p:spPr>
          <a:xfrm>
            <a:off x="8820154" y="6295536"/>
            <a:ext cx="201384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9" name="Straight Connector 8">
            <a:extLst>
              <a:ext uri="{FF2B5EF4-FFF2-40B4-BE49-F238E27FC236}">
                <a16:creationId xmlns:a16="http://schemas.microsoft.com/office/drawing/2014/main" id="{89D5ED2D-F17F-4481-8AE6-4D9EA0535145}"/>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p>
        </p:txBody>
      </p:sp>
      <p:sp>
        <p:nvSpPr>
          <p:cNvPr id="3" name="TextBox 2">
            <a:extLst>
              <a:ext uri="{FF2B5EF4-FFF2-40B4-BE49-F238E27FC236}">
                <a16:creationId xmlns:a16="http://schemas.microsoft.com/office/drawing/2014/main" id="{D78B9592-CAD7-DC41-7962-11100B19ABEB}"/>
              </a:ext>
              <a:ext uri="{C183D7F6-B498-43B3-948B-1728B52AA6E4}">
                <adec:decorative xmlns:adec="http://schemas.microsoft.com/office/drawing/2017/decorative" val="1"/>
              </a:ext>
            </a:extLst>
          </p:cNvPr>
          <p:cNvSpPr txBox="1"/>
          <p:nvPr userDrawn="1"/>
        </p:nvSpPr>
        <p:spPr>
          <a:xfrm>
            <a:off x="1824843" y="6202766"/>
            <a:ext cx="6796641"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1200" noProof="0" dirty="0">
                <a:solidFill>
                  <a:schemeClr val="bg1"/>
                </a:solidFill>
                <a:latin typeface="+mn-lt"/>
                <a:ea typeface="+mn-ea"/>
                <a:cs typeface="+mn-cs"/>
              </a:rPr>
              <a:t>© 2026 KPMG Global Services Private Limited, © 2026 KPMG Global Services Management Private Limited, © 2026 KPMG Resource Centre Private Limited and © 2026 KPMG Global Delivery Center Private Limited, (collectively referred to as “KGS Delivery Platform”, “KGSDP”) are companies incorporated under the laws of India and member firms of the KPMG global organization of independent member firms affiliated with KPMG International Limited (“KPMG International”), a private English company limited by guarantee. All rights reserved. The KPMG name and logo are registered trademarks or trademarks of KPMG International.</a:t>
            </a:r>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96358" y="6295536"/>
            <a:ext cx="1937636"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102012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p>
        </p:txBody>
      </p:sp>
      <p:sp>
        <p:nvSpPr>
          <p:cNvPr id="3" name="TextBox 2">
            <a:extLst>
              <a:ext uri="{FF2B5EF4-FFF2-40B4-BE49-F238E27FC236}">
                <a16:creationId xmlns:a16="http://schemas.microsoft.com/office/drawing/2014/main" id="{22811F2F-ED10-EA41-0E42-77581CBEB608}"/>
              </a:ext>
              <a:ext uri="{C183D7F6-B498-43B3-948B-1728B52AA6E4}">
                <adec:decorative xmlns:adec="http://schemas.microsoft.com/office/drawing/2017/decorative" val="1"/>
              </a:ext>
            </a:extLst>
          </p:cNvPr>
          <p:cNvSpPr txBox="1"/>
          <p:nvPr userDrawn="1"/>
        </p:nvSpPr>
        <p:spPr>
          <a:xfrm>
            <a:off x="1824843" y="6202766"/>
            <a:ext cx="6736351"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1200" noProof="0" dirty="0">
                <a:solidFill>
                  <a:schemeClr val="bg1"/>
                </a:solidFill>
                <a:latin typeface="+mn-lt"/>
                <a:ea typeface="+mn-ea"/>
                <a:cs typeface="+mn-cs"/>
              </a:rPr>
              <a:t>© 2026 KPMG Global Services Private Limited, © 2026 KPMG Global Services Management Private Limited, © 2026 KPMG Resource Centre Private Limited and © 2026 KPMG Global Delivery Center Private Limited, (collectively referred to as “KGS Delivery Platform”, “KGSDP”) are companies incorporated under the laws of India and member firms of the KPMG global organization of independent member firms affiliated with KPMG International Limited (“KPMG International”), a private English company limited by guarantee. All rights reserved. The KPMG name and logo are registered trademarks or trademarks of KPMG International.</a:t>
            </a:r>
          </a:p>
        </p:txBody>
      </p:sp>
    </p:spTree>
    <p:extLst>
      <p:ext uri="{BB962C8B-B14F-4D97-AF65-F5344CB8AC3E}">
        <p14:creationId xmlns:p14="http://schemas.microsoft.com/office/powerpoint/2010/main" val="17993720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64606" y="6295536"/>
            <a:ext cx="1969388"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1" kern="1200" noProof="0" dirty="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p>
        </p:txBody>
      </p:sp>
      <p:sp>
        <p:nvSpPr>
          <p:cNvPr id="3" name="TextBox 2">
            <a:extLst>
              <a:ext uri="{FF2B5EF4-FFF2-40B4-BE49-F238E27FC236}">
                <a16:creationId xmlns:a16="http://schemas.microsoft.com/office/drawing/2014/main" id="{7CB41ADA-7153-1713-9B7B-FFAB90837419}"/>
              </a:ext>
              <a:ext uri="{C183D7F6-B498-43B3-948B-1728B52AA6E4}">
                <adec:decorative xmlns:adec="http://schemas.microsoft.com/office/drawing/2017/decorative" val="1"/>
              </a:ext>
            </a:extLst>
          </p:cNvPr>
          <p:cNvSpPr txBox="1"/>
          <p:nvPr userDrawn="1"/>
        </p:nvSpPr>
        <p:spPr>
          <a:xfrm>
            <a:off x="1824843" y="6202766"/>
            <a:ext cx="6786590"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1200" noProof="0" dirty="0">
                <a:solidFill>
                  <a:schemeClr val="bg1"/>
                </a:solidFill>
                <a:latin typeface="+mn-lt"/>
                <a:ea typeface="+mn-ea"/>
                <a:cs typeface="+mn-cs"/>
              </a:rPr>
              <a:t>© 2026 KPMG Global Services Private Limited, © 2026 KPMG Global Services Management Private Limited, © 2026 KPMG Resource Centre Private Limited and © 2026 KPMG Global Delivery Center Private Limited, (collectively referred to as “KGS Delivery Platform”, “KGSDP”) are companies incorporated under the laws of India and member firms of the KPMG global organization of independent member firms affiliated with KPMG International Limited (“KPMG International”), a private English company limited by guarantee. All rights reserved. The KPMG name and logo are registered trademarks or trademarks of KPMG International.</a:t>
            </a:r>
          </a:p>
        </p:txBody>
      </p:sp>
    </p:spTree>
    <p:extLst>
      <p:ext uri="{BB962C8B-B14F-4D97-AF65-F5344CB8AC3E}">
        <p14:creationId xmlns:p14="http://schemas.microsoft.com/office/powerpoint/2010/main" val="53584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20800" y="1330126"/>
            <a:ext cx="4968000" cy="4546800"/>
          </a:xfrm>
        </p:spPr>
        <p:txBody>
          <a:bodyPr anchor="ctr"/>
          <a:lstStyle>
            <a:lvl1pPr algn="ctr">
              <a:defRPr/>
            </a:lvl1pPr>
          </a:lstStyle>
          <a:p>
            <a:r>
              <a:rPr lang="en-US" dirty="0"/>
              <a:t>Click icon to add chart</a:t>
            </a:r>
            <a:endParaRPr lang="en-GB" dirty="0"/>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8539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1360"/>
            <a:ext cx="10195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1003200" y="3742126"/>
            <a:ext cx="10195200" cy="2135740"/>
          </a:xfrm>
        </p:spPr>
        <p:txBody>
          <a:bodyPr anchor="ctr"/>
          <a:lstStyle>
            <a:lvl1pPr algn="ctr">
              <a:defRPr/>
            </a:lvl1pPr>
          </a:lstStyle>
          <a:p>
            <a:r>
              <a:rPr lang="en-US" dirty="0"/>
              <a:t>Click icon to add chart</a:t>
            </a:r>
            <a:endParaRPr lang="en-GB" dirty="0"/>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8661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20800" y="1330126"/>
            <a:ext cx="4968000" cy="4546800"/>
          </a:xfrm>
        </p:spPr>
        <p:txBody>
          <a:bodyPr anchor="ctr"/>
          <a:lstStyle>
            <a:lvl1pPr algn="ctr">
              <a:defRPr/>
            </a:lvl1pPr>
          </a:lstStyle>
          <a:p>
            <a:r>
              <a:rPr lang="en-US" dirty="0"/>
              <a:t>Click icon to add chart</a:t>
            </a:r>
            <a:endParaRPr lang="en-GB" dirty="0"/>
          </a:p>
        </p:txBody>
      </p:sp>
      <p:sp>
        <p:nvSpPr>
          <p:cNvPr id="6" name="Chart Placeholder 4"/>
          <p:cNvSpPr>
            <a:spLocks noGrp="1"/>
          </p:cNvSpPr>
          <p:nvPr>
            <p:ph type="chart" sz="quarter" idx="12"/>
          </p:nvPr>
        </p:nvSpPr>
        <p:spPr>
          <a:xfrm>
            <a:off x="1003200" y="1330126"/>
            <a:ext cx="4968000" cy="4546800"/>
          </a:xfrm>
        </p:spPr>
        <p:txBody>
          <a:bodyPr anchor="ctr"/>
          <a:lstStyle>
            <a:lvl1pPr algn="ctr">
              <a:defRPr/>
            </a:lvl1pPr>
          </a:lstStyle>
          <a:p>
            <a:r>
              <a:rPr lang="en-US" dirty="0"/>
              <a:t>Click icon to add chart</a:t>
            </a:r>
            <a:endParaRPr lang="en-GB" dirty="0"/>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90827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dirty="0"/>
              <a:t>Click icon to add chart</a:t>
            </a:r>
            <a:endParaRPr lang="en-GB" dirty="0"/>
          </a:p>
        </p:txBody>
      </p:sp>
      <p:sp>
        <p:nvSpPr>
          <p:cNvPr id="6" name="Chart Placeholder 4"/>
          <p:cNvSpPr>
            <a:spLocks noGrp="1"/>
          </p:cNvSpPr>
          <p:nvPr>
            <p:ph type="chart" sz="quarter" idx="12"/>
          </p:nvPr>
        </p:nvSpPr>
        <p:spPr>
          <a:xfrm>
            <a:off x="1003200" y="3742126"/>
            <a:ext cx="3187200" cy="2134800"/>
          </a:xfrm>
        </p:spPr>
        <p:txBody>
          <a:bodyPr anchor="ctr"/>
          <a:lstStyle>
            <a:lvl1pPr algn="ctr">
              <a:defRPr/>
            </a:lvl1pPr>
          </a:lstStyle>
          <a:p>
            <a:r>
              <a:rPr lang="en-US" dirty="0"/>
              <a:t>Click icon to add chart</a:t>
            </a:r>
            <a:endParaRPr lang="en-GB" dirty="0"/>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1892" y="3742126"/>
            <a:ext cx="3187200" cy="2134800"/>
          </a:xfrm>
        </p:spPr>
        <p:txBody>
          <a:bodyPr anchor="ctr"/>
          <a:lstStyle>
            <a:lvl1pPr algn="ctr">
              <a:defRPr/>
            </a:lvl1pPr>
          </a:lstStyle>
          <a:p>
            <a:r>
              <a:rPr lang="en-US" dirty="0"/>
              <a:t>Click icon to add chart</a:t>
            </a:r>
            <a:endParaRPr lang="en-GB" dirty="0"/>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413369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7759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0132584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9" name="Text Placeholder 8"/>
          <p:cNvSpPr>
            <a:spLocks noGrp="1"/>
          </p:cNvSpPr>
          <p:nvPr>
            <p:ph type="body" sz="quarter" idx="10"/>
          </p:nvPr>
        </p:nvSpPr>
        <p:spPr>
          <a:xfrm>
            <a:off x="100320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2059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994"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5391"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59018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72788"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9499126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838659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2733415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36958581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1003200" y="1720713"/>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6040" y="1720713"/>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55353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556956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11" name="Shape 8">
            <a:extLst>
              <a:ext uri="{FF2B5EF4-FFF2-40B4-BE49-F238E27FC236}">
                <a16:creationId xmlns:a16="http://schemas.microsoft.com/office/drawing/2014/main" id="{1763B05F-830B-4267-AD78-15D92D15E48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2F13A210-92DD-4299-9F1D-B2FE60EC3160}"/>
              </a:ext>
              <a:ext uri="{C183D7F6-B498-43B3-948B-1728B52AA6E4}">
                <adec:decorative xmlns:adec="http://schemas.microsoft.com/office/drawing/2017/decorative" val="1"/>
              </a:ext>
            </a:extLst>
          </p:cNvPr>
          <p:cNvSpPr txBox="1"/>
          <p:nvPr userDrawn="1">
            <p:custDataLst>
              <p:tags r:id="rId1"/>
            </p:custDataLst>
          </p:nvPr>
        </p:nvSpPr>
        <p:spPr>
          <a:xfrm>
            <a:off x="8902702" y="6295536"/>
            <a:ext cx="1931292"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sp>
        <p:nvSpPr>
          <p:cNvPr id="17" name="TextBox 16">
            <a:extLst>
              <a:ext uri="{FF2B5EF4-FFF2-40B4-BE49-F238E27FC236}">
                <a16:creationId xmlns:a16="http://schemas.microsoft.com/office/drawing/2014/main" id="{94359EB3-99CA-467E-9F82-D5B531A28A37}"/>
              </a:ext>
              <a:ext uri="{C183D7F6-B498-43B3-948B-1728B52AA6E4}">
                <adec:decorative xmlns:adec="http://schemas.microsoft.com/office/drawing/2017/decorative" val="1"/>
              </a:ext>
            </a:extLst>
          </p:cNvPr>
          <p:cNvSpPr txBox="1"/>
          <p:nvPr userDrawn="1"/>
        </p:nvSpPr>
        <p:spPr>
          <a:xfrm>
            <a:off x="1885685" y="6266997"/>
            <a:ext cx="5861594"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2026 KPMG Global Services Private Limited, © 2026 KPMG Global Services Management Private Limited, © 2026 KPMG Resource Centre Private Limited and © 2026 KPMG Global Delivery Center Private Limited, (collectively referred to as “KGS Delivery Platform”, “KGSDP”) are companies incorporated under the laws of India and member firms of the KPMG global organization of independent member firms affiliated with KPMG International Limited (“KPMG International”), a private English company limited by guarantee. All rights reserved. The KPMG name and logo are registered trademarks or trademarks of KPMG International.</a:t>
            </a:r>
          </a:p>
        </p:txBody>
      </p:sp>
      <p:cxnSp>
        <p:nvCxnSpPr>
          <p:cNvPr id="19" name="Straight Connector 18">
            <a:extLst>
              <a:ext uri="{FF2B5EF4-FFF2-40B4-BE49-F238E27FC236}">
                <a16:creationId xmlns:a16="http://schemas.microsoft.com/office/drawing/2014/main" id="{E4C51904-D930-45AA-AF92-A006847C8BF5}"/>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1003200" y="1331913"/>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6040" y="1331913"/>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1003200"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6040"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8" name="Graphic 8">
            <a:extLst>
              <a:ext uri="{FF2B5EF4-FFF2-40B4-BE49-F238E27FC236}">
                <a16:creationId xmlns:a16="http://schemas.microsoft.com/office/drawing/2014/main" id="{3FE807FD-1F53-40C0-958E-7B645C12F83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p>
        </p:txBody>
      </p:sp>
    </p:spTree>
    <p:extLst>
      <p:ext uri="{BB962C8B-B14F-4D97-AF65-F5344CB8AC3E}">
        <p14:creationId xmlns:p14="http://schemas.microsoft.com/office/powerpoint/2010/main" val="2083640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0537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23869611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05375"/>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046651"/>
            <a:ext cx="5252400" cy="507831"/>
          </a:xfrm>
        </p:spPr>
        <p:txBody>
          <a:bodyPr wrap="square" anchor="b">
            <a:sp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14256639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A87A788-0BF5-4419-BCFC-809F6D2E93AA}"/>
              </a:ext>
            </a:extLst>
          </p:cNvPr>
          <p:cNvSpPr>
            <a:spLocks noChangeAspect="1"/>
          </p:cNvSpPr>
          <p:nvPr userDrawn="1"/>
        </p:nvSpPr>
        <p:spPr>
          <a:xfrm>
            <a:off x="998476" y="971550"/>
            <a:ext cx="7061787" cy="4905375"/>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
        <p:nvSpPr>
          <p:cNvPr id="60" name="Text Placeholder 3">
            <a:extLst>
              <a:ext uri="{FF2B5EF4-FFF2-40B4-BE49-F238E27FC236}">
                <a16:creationId xmlns:a16="http://schemas.microsoft.com/office/drawing/2014/main" id="{5F7723F4-8321-43A3-962F-3DEEE5C6DEAE}"/>
              </a:ext>
            </a:extLst>
          </p:cNvPr>
          <p:cNvSpPr>
            <a:spLocks noGrp="1"/>
          </p:cNvSpPr>
          <p:nvPr>
            <p:ph type="body" sz="quarter" idx="13"/>
          </p:nvPr>
        </p:nvSpPr>
        <p:spPr>
          <a:xfrm>
            <a:off x="1289860" y="5046651"/>
            <a:ext cx="5252400" cy="507831"/>
          </a:xfrm>
        </p:spPr>
        <p:txBody>
          <a:bodyPr wrap="square" anchor="b">
            <a:sp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Tree>
    <p:extLst>
      <p:ext uri="{BB962C8B-B14F-4D97-AF65-F5344CB8AC3E}">
        <p14:creationId xmlns:p14="http://schemas.microsoft.com/office/powerpoint/2010/main" val="697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dirty="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sz="quarter" idx="14"/>
          </p:nvPr>
        </p:nvSpPr>
        <p:spPr>
          <a:xfrm>
            <a:off x="989012" y="3351965"/>
            <a:ext cx="2411738" cy="119064"/>
          </a:xfrm>
        </p:spPr>
        <p:txBody>
          <a:bodyPr/>
          <a:lstStyle>
            <a:lvl1pPr>
              <a:buFontTx/>
              <a:buNone/>
              <a:defRPr sz="12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pic>
        <p:nvPicPr>
          <p:cNvPr id="18" name="Graphic 17">
            <a:extLst>
              <a:ext uri="{FF2B5EF4-FFF2-40B4-BE49-F238E27FC236}">
                <a16:creationId xmlns:a16="http://schemas.microsoft.com/office/drawing/2014/main" id="{935A1578-15A7-4FE7-8BC2-3ADC725AE7D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0" name="Rectangle 19">
            <a:extLst>
              <a:ext uri="{FF2B5EF4-FFF2-40B4-BE49-F238E27FC236}">
                <a16:creationId xmlns:a16="http://schemas.microsoft.com/office/drawing/2014/main" id="{A93A1BFE-604B-CB77-59E5-818C22B0D6BB}"/>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1" name="Rectangle 20">
            <a:extLst>
              <a:ext uri="{FF2B5EF4-FFF2-40B4-BE49-F238E27FC236}">
                <a16:creationId xmlns:a16="http://schemas.microsoft.com/office/drawing/2014/main" id="{15D88D9F-DDAE-85BB-0F62-4C835B324867}"/>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2" name="Rectangle 21">
            <a:extLst>
              <a:ext uri="{FF2B5EF4-FFF2-40B4-BE49-F238E27FC236}">
                <a16:creationId xmlns:a16="http://schemas.microsoft.com/office/drawing/2014/main" id="{92D773C8-89B4-3B6F-BA32-87BB8A1034EC}"/>
              </a:ext>
            </a:extLst>
          </p:cNvPr>
          <p:cNvSpPr/>
          <p:nvPr userDrawn="1"/>
        </p:nvSpPr>
        <p:spPr>
          <a:xfrm>
            <a:off x="226993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pic>
        <p:nvPicPr>
          <p:cNvPr id="23" name="Picture 22">
            <a:extLst>
              <a:ext uri="{FF2B5EF4-FFF2-40B4-BE49-F238E27FC236}">
                <a16:creationId xmlns:a16="http://schemas.microsoft.com/office/drawing/2014/main" id="{FFF4607B-5707-5FC8-8906-F61EC9E2CED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822950" y="2881529"/>
            <a:ext cx="360000" cy="360000"/>
          </a:xfrm>
          <a:prstGeom prst="rect">
            <a:avLst/>
          </a:prstGeom>
        </p:spPr>
      </p:pic>
      <p:pic>
        <p:nvPicPr>
          <p:cNvPr id="24" name="Picture 23" descr="Logo&#10;&#10;Description automatically generated">
            <a:extLst>
              <a:ext uri="{FF2B5EF4-FFF2-40B4-BE49-F238E27FC236}">
                <a16:creationId xmlns:a16="http://schemas.microsoft.com/office/drawing/2014/main" id="{D4A3D395-ED75-9D53-C11D-307578B1CC97}"/>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414350" y="2889486"/>
            <a:ext cx="360000" cy="360000"/>
          </a:xfrm>
          <a:prstGeom prst="rect">
            <a:avLst/>
          </a:prstGeom>
        </p:spPr>
      </p:pic>
      <p:pic>
        <p:nvPicPr>
          <p:cNvPr id="25" name="Picture 24" descr="Icon&#10;&#10;Description automatically generated">
            <a:extLst>
              <a:ext uri="{FF2B5EF4-FFF2-40B4-BE49-F238E27FC236}">
                <a16:creationId xmlns:a16="http://schemas.microsoft.com/office/drawing/2014/main" id="{98F3A714-C3FC-37C9-5821-B3E2BE33FB58}"/>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242336" y="2881529"/>
            <a:ext cx="360000" cy="360000"/>
          </a:xfrm>
          <a:prstGeom prst="rect">
            <a:avLst/>
          </a:prstGeom>
        </p:spPr>
      </p:pic>
      <p:pic>
        <p:nvPicPr>
          <p:cNvPr id="26" name="Picture 25">
            <a:extLst>
              <a:ext uri="{FF2B5EF4-FFF2-40B4-BE49-F238E27FC236}">
                <a16:creationId xmlns:a16="http://schemas.microsoft.com/office/drawing/2014/main" id="{6ED71DD7-32EF-0584-120E-B6895BE22C68}"/>
              </a:ext>
            </a:extLst>
          </p:cNvPr>
          <p:cNvPicPr>
            <a:picLocks noChangeAspect="1"/>
          </p:cNvPicPr>
          <p:nvPr userDrawn="1"/>
        </p:nvPicPr>
        <p:blipFill>
          <a:blip r:embed="rId7"/>
          <a:stretch>
            <a:fillRect/>
          </a:stretch>
        </p:blipFill>
        <p:spPr>
          <a:xfrm>
            <a:off x="998476" y="2881529"/>
            <a:ext cx="360000" cy="360000"/>
          </a:xfrm>
          <a:prstGeom prst="rect">
            <a:avLst/>
          </a:prstGeom>
        </p:spPr>
      </p:pic>
    </p:spTree>
    <p:extLst>
      <p:ext uri="{BB962C8B-B14F-4D97-AF65-F5344CB8AC3E}">
        <p14:creationId xmlns:p14="http://schemas.microsoft.com/office/powerpoint/2010/main" val="3267273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dirty="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sp>
        <p:nvSpPr>
          <p:cNvPr id="54" name="Text Placeholder 2">
            <a:extLst>
              <a:ext uri="{FF2B5EF4-FFF2-40B4-BE49-F238E27FC236}">
                <a16:creationId xmlns:a16="http://schemas.microsoft.com/office/drawing/2014/main" id="{93B40796-98D9-465A-9944-CCD9D00EE921}"/>
              </a:ext>
            </a:extLst>
          </p:cNvPr>
          <p:cNvSpPr>
            <a:spLocks noGrp="1"/>
          </p:cNvSpPr>
          <p:nvPr>
            <p:ph type="body" sz="quarter" idx="14"/>
          </p:nvPr>
        </p:nvSpPr>
        <p:spPr>
          <a:xfrm>
            <a:off x="989012" y="3351965"/>
            <a:ext cx="2411738" cy="119064"/>
          </a:xfrm>
        </p:spPr>
        <p:txBody>
          <a:bodyPr/>
          <a:lstStyle>
            <a:lvl1pPr>
              <a:buFontTx/>
              <a:buNone/>
              <a:defRPr sz="1200" b="1">
                <a:solidFill>
                  <a:schemeClr val="accent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18" name="Group 17">
            <a:extLst>
              <a:ext uri="{FF2B5EF4-FFF2-40B4-BE49-F238E27FC236}">
                <a16:creationId xmlns:a16="http://schemas.microsoft.com/office/drawing/2014/main" id="{3AD33E6D-5377-46E3-B1FF-E91C54D03F04}"/>
              </a:ext>
            </a:extLst>
          </p:cNvPr>
          <p:cNvGrpSpPr/>
          <p:nvPr userDrawn="1"/>
        </p:nvGrpSpPr>
        <p:grpSpPr>
          <a:xfrm>
            <a:off x="998476" y="2881529"/>
            <a:ext cx="2023200" cy="367957"/>
            <a:chOff x="998476" y="2881529"/>
            <a:chExt cx="2023200" cy="367957"/>
          </a:xfrm>
        </p:grpSpPr>
        <p:sp>
          <p:nvSpPr>
            <p:cNvPr id="19" name="Rectangle 18">
              <a:extLst>
                <a:ext uri="{FF2B5EF4-FFF2-40B4-BE49-F238E27FC236}">
                  <a16:creationId xmlns:a16="http://schemas.microsoft.com/office/drawing/2014/main" id="{7F4461B7-55B7-4469-ADF0-D4A2CB8F5710}"/>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0" name="Rectangle 19">
              <a:extLst>
                <a:ext uri="{FF2B5EF4-FFF2-40B4-BE49-F238E27FC236}">
                  <a16:creationId xmlns:a16="http://schemas.microsoft.com/office/drawing/2014/main" id="{36F734C6-FA66-47AA-9466-88AC05333E29}"/>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1" name="Rectangle 20">
              <a:extLst>
                <a:ext uri="{FF2B5EF4-FFF2-40B4-BE49-F238E27FC236}">
                  <a16:creationId xmlns:a16="http://schemas.microsoft.com/office/drawing/2014/main" id="{8B928039-DB0D-4F9F-A695-D6F65A328FC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2" name="Rectangle 21">
              <a:extLst>
                <a:ext uri="{FF2B5EF4-FFF2-40B4-BE49-F238E27FC236}">
                  <a16:creationId xmlns:a16="http://schemas.microsoft.com/office/drawing/2014/main" id="{DE314CEC-778A-45F5-AF53-25973CFF2C6E}"/>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pic>
          <p:nvPicPr>
            <p:cNvPr id="23" name="Picture 22">
              <a:extLst>
                <a:ext uri="{FF2B5EF4-FFF2-40B4-BE49-F238E27FC236}">
                  <a16:creationId xmlns:a16="http://schemas.microsoft.com/office/drawing/2014/main" id="{7A5A09B0-ADE2-48D6-9500-156D9353A9A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4" name="Picture 23" descr="Icon&#10;&#10;Description automatically generated">
              <a:extLst>
                <a:ext uri="{FF2B5EF4-FFF2-40B4-BE49-F238E27FC236}">
                  <a16:creationId xmlns:a16="http://schemas.microsoft.com/office/drawing/2014/main" id="{7D51E6DF-03C0-4528-A826-C16F599ABAA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5" name="Picture 24" descr="Logo&#10;&#10;Description automatically generated">
              <a:extLst>
                <a:ext uri="{FF2B5EF4-FFF2-40B4-BE49-F238E27FC236}">
                  <a16:creationId xmlns:a16="http://schemas.microsoft.com/office/drawing/2014/main" id="{B7A09755-6B8F-4E6B-95E4-A3F59CF5D00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26" name="Picture 25" descr="Logo&#10;&#10;Description automatically generated">
              <a:extLst>
                <a:ext uri="{FF2B5EF4-FFF2-40B4-BE49-F238E27FC236}">
                  <a16:creationId xmlns:a16="http://schemas.microsoft.com/office/drawing/2014/main" id="{FF482287-E023-4BA0-BEEC-A27AF495C2F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27" name="Picture 26" descr="Icon&#10;&#10;Description automatically generated">
              <a:extLst>
                <a:ext uri="{FF2B5EF4-FFF2-40B4-BE49-F238E27FC236}">
                  <a16:creationId xmlns:a16="http://schemas.microsoft.com/office/drawing/2014/main" id="{475EF34B-0D63-4B5C-BF0F-AA0D0D345D1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4478150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30</a:t>
            </a:r>
          </a:p>
          <a:p>
            <a:pPr algn="ctr"/>
            <a:r>
              <a:rPr lang="en-GB" sz="800" dirty="0">
                <a:solidFill>
                  <a:schemeClr val="bg1"/>
                </a:solidFill>
              </a:rPr>
              <a:t>73</a:t>
            </a:r>
          </a:p>
          <a:p>
            <a:pPr algn="ctr"/>
            <a:r>
              <a:rPr lang="en-GB" sz="800" dirty="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51</a:t>
            </a:r>
          </a:p>
          <a:p>
            <a:pPr algn="ctr"/>
            <a:r>
              <a:rPr lang="en-GB" sz="800" dirty="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12</a:t>
            </a:r>
          </a:p>
          <a:p>
            <a:pPr algn="ctr"/>
            <a:r>
              <a:rPr lang="en-GB" sz="800" dirty="0">
                <a:solidFill>
                  <a:schemeClr val="bg1"/>
                </a:solidFill>
              </a:rPr>
              <a:t>35</a:t>
            </a:r>
          </a:p>
          <a:p>
            <a:pPr algn="ctr"/>
            <a:r>
              <a:rPr lang="en-GB" sz="800" dirty="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172</a:t>
            </a:r>
          </a:p>
          <a:p>
            <a:pPr algn="ctr"/>
            <a:r>
              <a:rPr lang="en-GB" sz="800" dirty="0">
                <a:solidFill>
                  <a:sysClr val="windowText" lastClr="000000"/>
                </a:solidFill>
              </a:rPr>
              <a:t>234</a:t>
            </a:r>
          </a:p>
          <a:p>
            <a:pPr algn="ctr"/>
            <a:r>
              <a:rPr lang="en-GB" sz="800" dirty="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118</a:t>
            </a:r>
          </a:p>
          <a:p>
            <a:pPr algn="ctr"/>
            <a:r>
              <a:rPr lang="en-GB" sz="800" dirty="0">
                <a:solidFill>
                  <a:sysClr val="windowText" lastClr="000000"/>
                </a:solidFill>
              </a:rPr>
              <a:t>210</a:t>
            </a:r>
          </a:p>
          <a:p>
            <a:pPr algn="ctr"/>
            <a:r>
              <a:rPr lang="en-GB" sz="800" dirty="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dirty="0">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184</a:t>
            </a:r>
          </a:p>
          <a:p>
            <a:pPr algn="ctr"/>
            <a:r>
              <a:rPr lang="en-GB" sz="800" dirty="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114</a:t>
            </a:r>
          </a:p>
          <a:p>
            <a:pPr algn="ctr"/>
            <a:r>
              <a:rPr lang="en-GB" sz="800" dirty="0">
                <a:solidFill>
                  <a:schemeClr val="bg1"/>
                </a:solidFill>
              </a:rPr>
              <a:t>19</a:t>
            </a:r>
          </a:p>
          <a:p>
            <a:pPr algn="ctr"/>
            <a:r>
              <a:rPr lang="en-GB" sz="800" dirty="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253</a:t>
            </a:r>
          </a:p>
          <a:p>
            <a:pPr algn="ctr"/>
            <a:r>
              <a:rPr lang="en-GB" sz="800" dirty="0">
                <a:solidFill>
                  <a:schemeClr val="bg1"/>
                </a:solidFill>
              </a:rPr>
              <a:t>52</a:t>
            </a:r>
          </a:p>
          <a:p>
            <a:pPr algn="ctr"/>
            <a:r>
              <a:rPr lang="en-GB" sz="800" dirty="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dirty="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dirty="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dirty="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17279"/>
            <a:ext cx="1253995" cy="237066"/>
          </a:xfrm>
          <a:prstGeom prst="rect">
            <a:avLst/>
          </a:prstGeom>
          <a:noFill/>
        </p:spPr>
        <p:txBody>
          <a:bodyPr wrap="square" lIns="54610" tIns="54610" rIns="54610" bIns="54610" rtlCol="0" anchor="ctr">
            <a:noAutofit/>
          </a:bodyPr>
          <a:lstStyle/>
          <a:p>
            <a:pPr algn="l">
              <a:spcAft>
                <a:spcPts val="600"/>
              </a:spcAft>
            </a:pPr>
            <a:r>
              <a:rPr lang="en-GB" sz="1000" dirty="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dirty="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dirty="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dirty="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dirty="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81</a:t>
            </a:r>
          </a:p>
          <a:p>
            <a:pPr algn="ctr"/>
            <a:r>
              <a:rPr lang="en-GB" sz="800" dirty="0">
                <a:solidFill>
                  <a:schemeClr val="bg1"/>
                </a:solidFill>
              </a:rPr>
              <a:t>13</a:t>
            </a:r>
          </a:p>
          <a:p>
            <a:pPr algn="ctr"/>
            <a:r>
              <a:rPr lang="en-GB" sz="800" dirty="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180</a:t>
            </a:r>
          </a:p>
          <a:p>
            <a:pPr algn="ctr"/>
            <a:r>
              <a:rPr lang="en-GB" sz="800" dirty="0">
                <a:solidFill>
                  <a:schemeClr val="bg1"/>
                </a:solidFill>
              </a:rPr>
              <a:t>151</a:t>
            </a:r>
          </a:p>
          <a:p>
            <a:pPr algn="ctr"/>
            <a:r>
              <a:rPr lang="en-GB" sz="800" dirty="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dirty="0">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171</a:t>
            </a:r>
          </a:p>
          <a:p>
            <a:pPr algn="ctr"/>
            <a:r>
              <a:rPr lang="en-GB" sz="800" dirty="0">
                <a:solidFill>
                  <a:schemeClr val="bg1"/>
                </a:solidFill>
              </a:rPr>
              <a:t>13</a:t>
            </a:r>
          </a:p>
          <a:p>
            <a:pPr algn="ctr"/>
            <a:r>
              <a:rPr lang="en-GB" sz="800" dirty="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255</a:t>
            </a:r>
          </a:p>
          <a:p>
            <a:pPr algn="ctr"/>
            <a:r>
              <a:rPr lang="en-GB" sz="800" dirty="0">
                <a:solidFill>
                  <a:sysClr val="windowText" lastClr="000000"/>
                </a:solidFill>
              </a:rPr>
              <a:t>163</a:t>
            </a:r>
          </a:p>
          <a:p>
            <a:pPr algn="ctr"/>
            <a:r>
              <a:rPr lang="en-GB" sz="800" dirty="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9</a:t>
            </a:r>
          </a:p>
          <a:p>
            <a:pPr algn="ctr"/>
            <a:r>
              <a:rPr lang="en-GB" sz="800" dirty="0">
                <a:solidFill>
                  <a:schemeClr val="bg1"/>
                </a:solidFill>
              </a:rPr>
              <a:t>142</a:t>
            </a:r>
          </a:p>
          <a:p>
            <a:pPr algn="ctr"/>
            <a:r>
              <a:rPr lang="en-GB" sz="800" dirty="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192</a:t>
            </a:r>
          </a:p>
          <a:p>
            <a:pPr algn="ctr"/>
            <a:r>
              <a:rPr lang="en-GB" sz="800" dirty="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accent3"/>
                </a:solidFill>
              </a:rPr>
              <a:t>99</a:t>
            </a:r>
          </a:p>
          <a:p>
            <a:pPr algn="ctr"/>
            <a:r>
              <a:rPr lang="en-GB" sz="800" dirty="0">
                <a:solidFill>
                  <a:schemeClr val="accent3"/>
                </a:solidFill>
              </a:rPr>
              <a:t>235</a:t>
            </a:r>
          </a:p>
          <a:p>
            <a:pPr algn="ctr"/>
            <a:r>
              <a:rPr lang="en-GB" sz="800" dirty="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dirty="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dirty="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dirty="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dirty="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dirty="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dirty="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dirty="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51</a:t>
            </a:r>
          </a:p>
          <a:p>
            <a:pPr algn="ctr"/>
            <a:r>
              <a:rPr lang="en-GB" sz="800" dirty="0">
                <a:solidFill>
                  <a:schemeClr val="bg1"/>
                </a:solidFill>
              </a:rPr>
              <a:t>51</a:t>
            </a:r>
          </a:p>
          <a:p>
            <a:pPr algn="ctr"/>
            <a:r>
              <a:rPr lang="en-GB" sz="800" dirty="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endParaRPr lang="en-GB" sz="800" dirty="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dirty="0">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152</a:t>
            </a:r>
          </a:p>
          <a:p>
            <a:pPr algn="ctr"/>
            <a:r>
              <a:rPr lang="en-GB" sz="800" dirty="0">
                <a:solidFill>
                  <a:schemeClr val="bg1"/>
                </a:solidFill>
              </a:rPr>
              <a:t>152</a:t>
            </a:r>
          </a:p>
          <a:p>
            <a:pPr algn="ctr"/>
            <a:r>
              <a:rPr lang="en-GB" sz="800" dirty="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178</a:t>
            </a:r>
          </a:p>
          <a:p>
            <a:pPr algn="ctr"/>
            <a:r>
              <a:rPr lang="en-GB" sz="800" dirty="0">
                <a:solidFill>
                  <a:sysClr val="windowText" lastClr="000000"/>
                </a:solidFill>
              </a:rPr>
              <a:t>178</a:t>
            </a:r>
          </a:p>
          <a:p>
            <a:pPr algn="ctr"/>
            <a:r>
              <a:rPr lang="en-GB" sz="800" dirty="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229</a:t>
            </a:r>
          </a:p>
          <a:p>
            <a:pPr algn="ctr"/>
            <a:r>
              <a:rPr lang="en-GB" sz="800" dirty="0">
                <a:solidFill>
                  <a:schemeClr val="tx1"/>
                </a:solidFill>
              </a:rPr>
              <a:t>229</a:t>
            </a:r>
          </a:p>
          <a:p>
            <a:pPr algn="ctr"/>
            <a:r>
              <a:rPr lang="en-GB" sz="800" dirty="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dirty="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dirty="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dirty="0"/>
              <a:t>Purple/</a:t>
            </a:r>
            <a:br>
              <a:rPr lang="en-GB" sz="1000" dirty="0"/>
            </a:br>
            <a:r>
              <a:rPr lang="en-GB" sz="1000" dirty="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dirty="0"/>
              <a:t>Pacific/</a:t>
            </a:r>
            <a:br>
              <a:rPr lang="en-GB" sz="1000" dirty="0"/>
            </a:br>
            <a:r>
              <a:rPr lang="en-GB" sz="1000" dirty="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dirty="0">
                <a:solidFill>
                  <a:sysClr val="windowText" lastClr="000000"/>
                </a:solidFill>
              </a:rPr>
              <a:t>Gradients</a:t>
            </a:r>
          </a:p>
          <a:p>
            <a:pPr marL="171450" indent="-171450" algn="l">
              <a:spcAft>
                <a:spcPts val="300"/>
              </a:spcAft>
              <a:buFont typeface="Arial" panose="020B0604020202020204" pitchFamily="34" charset="0"/>
              <a:buChar char="•"/>
            </a:pPr>
            <a:r>
              <a:rPr lang="en-GB" sz="1000" b="0" dirty="0">
                <a:solidFill>
                  <a:sysClr val="windowText" lastClr="000000"/>
                </a:solidFill>
              </a:rPr>
              <a:t>The colors are applied at both ends of the gradient, at 0% and 100% locations</a:t>
            </a:r>
          </a:p>
          <a:p>
            <a:pPr marL="171450" indent="-171450" algn="l">
              <a:spcAft>
                <a:spcPts val="300"/>
              </a:spcAft>
              <a:buFont typeface="Arial" panose="020B0604020202020204" pitchFamily="34" charset="0"/>
              <a:buChar char="•"/>
            </a:pPr>
            <a:r>
              <a:rPr lang="en-GB" sz="1000" b="0" dirty="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dirty="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dirty="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dirty="0">
                <a:solidFill>
                  <a:sysClr val="windowText" lastClr="000000"/>
                </a:solidFill>
              </a:rPr>
              <a:t>Do not create new gradients; use only the gradients shown here</a:t>
            </a:r>
            <a:endParaRPr lang="en-US" sz="1000" b="0" dirty="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255</a:t>
            </a:r>
          </a:p>
          <a:p>
            <a:pPr algn="ctr"/>
            <a:r>
              <a:rPr lang="en-GB" sz="800" dirty="0">
                <a:solidFill>
                  <a:schemeClr val="tx1"/>
                </a:solidFill>
              </a:rPr>
              <a:t>255</a:t>
            </a:r>
          </a:p>
          <a:p>
            <a:pPr algn="ctr"/>
            <a:r>
              <a:rPr lang="en-GB" sz="800" dirty="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dirty="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dirty="0">
                <a:solidFill>
                  <a:sysClr val="windowText" lastClr="000000"/>
                </a:solidFill>
              </a:rPr>
              <a:t>Traffic Light Palette</a:t>
            </a:r>
            <a:endParaRPr lang="en-US" sz="1000" b="0" dirty="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38</a:t>
            </a:r>
          </a:p>
          <a:p>
            <a:pPr algn="ctr"/>
            <a:r>
              <a:rPr lang="en-GB" sz="800" dirty="0">
                <a:solidFill>
                  <a:schemeClr val="bg1"/>
                </a:solidFill>
              </a:rPr>
              <a:t>153</a:t>
            </a:r>
          </a:p>
          <a:p>
            <a:pPr algn="ctr"/>
            <a:r>
              <a:rPr lang="en-GB" sz="800" dirty="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241</a:t>
            </a:r>
          </a:p>
          <a:p>
            <a:pPr algn="ctr"/>
            <a:r>
              <a:rPr lang="en-GB" sz="800" dirty="0">
                <a:solidFill>
                  <a:schemeClr val="bg1"/>
                </a:solidFill>
              </a:rPr>
              <a:t>196</a:t>
            </a:r>
          </a:p>
          <a:p>
            <a:pPr algn="ctr"/>
            <a:r>
              <a:rPr lang="en-GB" sz="800" dirty="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237</a:t>
            </a:r>
          </a:p>
          <a:p>
            <a:pPr algn="ctr"/>
            <a:r>
              <a:rPr lang="en-GB" sz="800" dirty="0">
                <a:solidFill>
                  <a:schemeClr val="bg1"/>
                </a:solidFill>
              </a:rPr>
              <a:t>33</a:t>
            </a:r>
          </a:p>
          <a:p>
            <a:pPr algn="ctr"/>
            <a:r>
              <a:rPr lang="en-GB" sz="800" dirty="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dirty="0">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dirty="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dirty="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30</a:t>
              </a:r>
            </a:p>
            <a:p>
              <a:pPr algn="ctr"/>
              <a:r>
                <a:rPr lang="en-GB" sz="800" dirty="0">
                  <a:solidFill>
                    <a:schemeClr val="bg1"/>
                  </a:solidFill>
                </a:rPr>
                <a:t>73</a:t>
              </a:r>
            </a:p>
            <a:p>
              <a:pPr algn="ctr"/>
              <a:r>
                <a:rPr lang="en-GB" sz="800" dirty="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51</a:t>
              </a:r>
            </a:p>
            <a:p>
              <a:pPr algn="ctr"/>
              <a:r>
                <a:rPr lang="en-GB" sz="800" dirty="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118</a:t>
              </a:r>
            </a:p>
            <a:p>
              <a:pPr algn="ctr"/>
              <a:r>
                <a:rPr lang="en-GB" sz="800" dirty="0">
                  <a:solidFill>
                    <a:sysClr val="windowText" lastClr="000000"/>
                  </a:solidFill>
                </a:rPr>
                <a:t>210</a:t>
              </a:r>
            </a:p>
            <a:p>
              <a:pPr algn="ctr"/>
              <a:r>
                <a:rPr lang="en-GB" sz="800" dirty="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180</a:t>
              </a:r>
            </a:p>
            <a:p>
              <a:pPr algn="ctr"/>
              <a:r>
                <a:rPr lang="en-GB" sz="800" dirty="0">
                  <a:solidFill>
                    <a:schemeClr val="bg1"/>
                  </a:solidFill>
                </a:rPr>
                <a:t>151</a:t>
              </a:r>
            </a:p>
            <a:p>
              <a:pPr algn="ctr"/>
              <a:r>
                <a:rPr lang="en-GB" sz="800" dirty="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253</a:t>
              </a:r>
            </a:p>
            <a:p>
              <a:pPr algn="ctr"/>
              <a:r>
                <a:rPr lang="en-GB" sz="800" dirty="0">
                  <a:solidFill>
                    <a:schemeClr val="bg1"/>
                  </a:solidFill>
                </a:rPr>
                <a:t>52</a:t>
              </a:r>
            </a:p>
            <a:p>
              <a:pPr algn="ctr"/>
              <a:r>
                <a:rPr lang="en-GB" sz="800" dirty="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114</a:t>
              </a:r>
            </a:p>
            <a:p>
              <a:pPr algn="ctr"/>
              <a:r>
                <a:rPr lang="en-GB" sz="800" dirty="0">
                  <a:solidFill>
                    <a:schemeClr val="bg1"/>
                  </a:solidFill>
                </a:rPr>
                <a:t>19</a:t>
              </a:r>
            </a:p>
            <a:p>
              <a:pPr algn="ctr"/>
              <a:r>
                <a:rPr lang="en-GB" sz="800" dirty="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255</a:t>
              </a:r>
            </a:p>
            <a:p>
              <a:pPr algn="ctr"/>
              <a:r>
                <a:rPr lang="en-GB" sz="800" dirty="0">
                  <a:solidFill>
                    <a:schemeClr val="bg1"/>
                  </a:solidFill>
                </a:rPr>
                <a:t>163</a:t>
              </a:r>
            </a:p>
            <a:p>
              <a:pPr algn="ctr"/>
              <a:r>
                <a:rPr lang="en-GB" sz="800" dirty="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192</a:t>
              </a:r>
            </a:p>
            <a:p>
              <a:pPr algn="ctr"/>
              <a:r>
                <a:rPr lang="en-GB" sz="800" dirty="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99</a:t>
              </a:r>
            </a:p>
            <a:p>
              <a:pPr algn="ctr"/>
              <a:r>
                <a:rPr lang="en-GB" sz="800" dirty="0">
                  <a:solidFill>
                    <a:sysClr val="windowText" lastClr="000000"/>
                  </a:solidFill>
                </a:rPr>
                <a:t>235</a:t>
              </a:r>
            </a:p>
            <a:p>
              <a:pPr algn="ctr"/>
              <a:r>
                <a:rPr lang="en-GB" sz="800" dirty="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184</a:t>
              </a:r>
            </a:p>
            <a:p>
              <a:pPr algn="ctr"/>
              <a:r>
                <a:rPr lang="en-GB" sz="800" dirty="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81</a:t>
              </a:r>
            </a:p>
            <a:p>
              <a:pPr algn="ctr"/>
              <a:r>
                <a:rPr lang="en-GB" sz="800" dirty="0">
                  <a:solidFill>
                    <a:schemeClr val="bg1"/>
                  </a:solidFill>
                </a:rPr>
                <a:t>13</a:t>
              </a:r>
            </a:p>
            <a:p>
              <a:pPr algn="ctr"/>
              <a:r>
                <a:rPr lang="en-GB" sz="800" dirty="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9</a:t>
              </a:r>
            </a:p>
            <a:p>
              <a:pPr algn="ctr"/>
              <a:r>
                <a:rPr lang="en-GB" sz="800" dirty="0">
                  <a:solidFill>
                    <a:schemeClr val="bg1"/>
                  </a:solidFill>
                </a:rPr>
                <a:t>142</a:t>
              </a:r>
            </a:p>
            <a:p>
              <a:pPr algn="ctr"/>
              <a:r>
                <a:rPr lang="en-GB" sz="800" dirty="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171</a:t>
              </a:r>
            </a:p>
            <a:p>
              <a:pPr algn="ctr"/>
              <a:r>
                <a:rPr lang="en-GB" sz="800" dirty="0">
                  <a:solidFill>
                    <a:schemeClr val="bg1"/>
                  </a:solidFill>
                </a:rPr>
                <a:t>13</a:t>
              </a:r>
            </a:p>
            <a:p>
              <a:pPr algn="ctr"/>
              <a:r>
                <a:rPr lang="en-GB" sz="800" dirty="0">
                  <a:solidFill>
                    <a:schemeClr val="bg1"/>
                  </a:solidFill>
                </a:rPr>
                <a:t>130</a:t>
              </a:r>
            </a:p>
          </p:txBody>
        </p:sp>
      </p:grpSp>
    </p:spTree>
    <p:extLst>
      <p:ext uri="{BB962C8B-B14F-4D97-AF65-F5344CB8AC3E}">
        <p14:creationId xmlns:p14="http://schemas.microsoft.com/office/powerpoint/2010/main" val="165694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0EF485-408C-4F66-9128-01C6E9CAA858}"/>
              </a:ext>
            </a:extLst>
          </p:cNvPr>
          <p:cNvSpPr>
            <a:spLocks noGrp="1"/>
          </p:cNvSpPr>
          <p:nvPr>
            <p:ph type="dt" sz="half" idx="10"/>
          </p:nvPr>
        </p:nvSpPr>
        <p:spPr>
          <a:xfrm>
            <a:off x="838200" y="6356350"/>
            <a:ext cx="2743200" cy="365125"/>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894AE33D-2CD1-4BE5-B936-18A6BC6CAAD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719CFDC-1BC8-47D1-8512-2427DE36C94E}"/>
              </a:ext>
            </a:extLst>
          </p:cNvPr>
          <p:cNvSpPr>
            <a:spLocks noGrp="1"/>
          </p:cNvSpPr>
          <p:nvPr>
            <p:ph type="sldNum" sz="quarter" idx="12"/>
          </p:nvPr>
        </p:nvSpPr>
        <p:spPr>
          <a:xfrm>
            <a:off x="8610600" y="6356350"/>
            <a:ext cx="2743200" cy="365125"/>
          </a:xfrm>
          <a:prstGeom prst="rect">
            <a:avLst/>
          </a:prstGeom>
        </p:spPr>
        <p:txBody>
          <a:bodyPr/>
          <a:lstStyle/>
          <a:p>
            <a:fld id="{11BCE3F9-464F-4560-9B63-DEEC2538303B}" type="slidenum">
              <a:rPr lang="en-US" smtClean="0"/>
              <a:t>‹#›</a:t>
            </a:fld>
            <a:endParaRPr lang="en-US" dirty="0"/>
          </a:p>
        </p:txBody>
      </p:sp>
      <p:cxnSp>
        <p:nvCxnSpPr>
          <p:cNvPr id="5" name="Straight Connector 4">
            <a:extLst>
              <a:ext uri="{FF2B5EF4-FFF2-40B4-BE49-F238E27FC236}">
                <a16:creationId xmlns:a16="http://schemas.microsoft.com/office/drawing/2014/main" id="{F0CB1C43-D3D4-A87B-AC74-4535FF548A0F}"/>
              </a:ext>
            </a:extLst>
          </p:cNvPr>
          <p:cNvCxnSpPr/>
          <p:nvPr userDrawn="1"/>
        </p:nvCxnSpPr>
        <p:spPr>
          <a:xfrm>
            <a:off x="11359955" y="6510174"/>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5414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1536AA"/>
                </a:solidFill>
                <a:latin typeface="KPMG Bold"/>
                <a:cs typeface="KPMG Bold"/>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600" b="0" i="0">
                <a:solidFill>
                  <a:srgbClr val="A6A6A6"/>
                </a:solidFill>
                <a:latin typeface="Arial"/>
                <a:cs typeface="Arial"/>
              </a:defRPr>
            </a:lvl1pPr>
          </a:lstStyle>
          <a:p>
            <a:pPr marL="12700" marR="5080">
              <a:lnSpc>
                <a:spcPct val="100000"/>
              </a:lnSpc>
              <a:spcBef>
                <a:spcPts val="40"/>
              </a:spcBef>
            </a:pPr>
            <a:r>
              <a:rPr dirty="0"/>
              <a:t>© </a:t>
            </a:r>
            <a:r>
              <a:rPr spc="-5" dirty="0"/>
              <a:t>2024 KPMG </a:t>
            </a:r>
            <a:r>
              <a:rPr spc="-10" dirty="0"/>
              <a:t>Assurance </a:t>
            </a:r>
            <a:r>
              <a:rPr dirty="0"/>
              <a:t>&amp; </a:t>
            </a:r>
            <a:r>
              <a:rPr spc="-5" dirty="0"/>
              <a:t>Consulting Services LLP, an Indian limited </a:t>
            </a:r>
            <a:r>
              <a:rPr dirty="0"/>
              <a:t>liability </a:t>
            </a:r>
            <a:r>
              <a:rPr spc="-5" dirty="0"/>
              <a:t>partnership and </a:t>
            </a:r>
            <a:r>
              <a:rPr dirty="0"/>
              <a:t>a </a:t>
            </a:r>
            <a:r>
              <a:rPr spc="-10" dirty="0"/>
              <a:t>member </a:t>
            </a:r>
            <a:r>
              <a:rPr spc="-5" dirty="0"/>
              <a:t>firm </a:t>
            </a:r>
            <a:r>
              <a:rPr dirty="0"/>
              <a:t>of the </a:t>
            </a:r>
            <a:r>
              <a:rPr spc="-5" dirty="0"/>
              <a:t>KPMG global organization </a:t>
            </a:r>
            <a:r>
              <a:rPr dirty="0"/>
              <a:t>of  </a:t>
            </a:r>
            <a:r>
              <a:rPr spc="-5" dirty="0"/>
              <a:t>independent </a:t>
            </a:r>
            <a:r>
              <a:rPr spc="-10" dirty="0"/>
              <a:t>member </a:t>
            </a:r>
            <a:r>
              <a:rPr spc="-5" dirty="0"/>
              <a:t>firms affiliated </a:t>
            </a:r>
            <a:r>
              <a:rPr spc="-10" dirty="0"/>
              <a:t>with </a:t>
            </a:r>
            <a:r>
              <a:rPr spc="-5" dirty="0"/>
              <a:t>KPMG International Limited, </a:t>
            </a:r>
            <a:r>
              <a:rPr dirty="0"/>
              <a:t>a </a:t>
            </a:r>
            <a:r>
              <a:rPr spc="-5" dirty="0"/>
              <a:t>private English company limited </a:t>
            </a:r>
            <a:r>
              <a:rPr dirty="0"/>
              <a:t>by </a:t>
            </a:r>
            <a:r>
              <a:rPr spc="-5" dirty="0"/>
              <a:t>guarantee. All righ</a:t>
            </a:r>
            <a:r>
              <a:rPr spc="150" dirty="0"/>
              <a:t> </a:t>
            </a:r>
            <a:r>
              <a:rPr dirty="0"/>
              <a:t>tsreserved.</a:t>
            </a:r>
          </a:p>
        </p:txBody>
      </p:sp>
      <p:sp>
        <p:nvSpPr>
          <p:cNvPr id="5" name="Holder 5"/>
          <p:cNvSpPr>
            <a:spLocks noGrp="1"/>
          </p:cNvSpPr>
          <p:nvPr>
            <p:ph type="dt" sz="half" idx="6"/>
          </p:nvPr>
        </p:nvSpPr>
        <p:spPr/>
        <p:txBody>
          <a:bodyPr lIns="0" tIns="0" rIns="0" bIns="0"/>
          <a:lstStyle>
            <a:lvl1pPr>
              <a:defRPr sz="600" b="0" i="0">
                <a:solidFill>
                  <a:srgbClr val="A6A6A6"/>
                </a:solidFill>
                <a:latin typeface="Arial"/>
                <a:cs typeface="Arial"/>
              </a:defRPr>
            </a:lvl1pPr>
          </a:lstStyle>
          <a:p>
            <a:pPr marL="12700">
              <a:lnSpc>
                <a:spcPct val="100000"/>
              </a:lnSpc>
              <a:spcBef>
                <a:spcPts val="40"/>
              </a:spcBef>
            </a:pPr>
            <a:r>
              <a:rPr spc="-10" dirty="0"/>
              <a:t>Document </a:t>
            </a:r>
            <a:r>
              <a:rPr spc="-5" dirty="0"/>
              <a:t>Classification:</a:t>
            </a:r>
            <a:r>
              <a:rPr spc="5" dirty="0"/>
              <a:t> </a:t>
            </a:r>
            <a:r>
              <a:rPr spc="-5" dirty="0"/>
              <a:t>Confidential</a:t>
            </a:r>
          </a:p>
        </p:txBody>
      </p:sp>
      <p:sp>
        <p:nvSpPr>
          <p:cNvPr id="6" name="Holder 6"/>
          <p:cNvSpPr>
            <a:spLocks noGrp="1"/>
          </p:cNvSpPr>
          <p:nvPr>
            <p:ph type="sldNum" sz="quarter" idx="7"/>
          </p:nvPr>
        </p:nvSpPr>
        <p:spPr/>
        <p:txBody>
          <a:bodyPr lIns="0" tIns="0" rIns="0" bIns="0"/>
          <a:lstStyle>
            <a:lvl1pPr>
              <a:defRPr sz="1000" b="0" i="0">
                <a:solidFill>
                  <a:srgbClr val="00338D"/>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extLst>
      <p:ext uri="{BB962C8B-B14F-4D97-AF65-F5344CB8AC3E}">
        <p14:creationId xmlns:p14="http://schemas.microsoft.com/office/powerpoint/2010/main" val="2633598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9" Type="http://schemas.openxmlformats.org/officeDocument/2006/relationships/tags" Target="../tags/tag2.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34" Type="http://schemas.openxmlformats.org/officeDocument/2006/relationships/slideLayout" Target="../slideLayouts/slideLayout34.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33" Type="http://schemas.openxmlformats.org/officeDocument/2006/relationships/slideLayout" Target="../slideLayouts/slideLayout33.xml" /><Relationship Id="rId38"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29" Type="http://schemas.openxmlformats.org/officeDocument/2006/relationships/slideLayout" Target="../slideLayouts/slideLayout29.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32" Type="http://schemas.openxmlformats.org/officeDocument/2006/relationships/slideLayout" Target="../slideLayouts/slideLayout32.xml" /><Relationship Id="rId37" Type="http://schemas.openxmlformats.org/officeDocument/2006/relationships/slideLayout" Target="../slideLayouts/slideLayout37.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slideLayout" Target="../slideLayouts/slideLayout28.xml" /><Relationship Id="rId36" Type="http://schemas.openxmlformats.org/officeDocument/2006/relationships/slideLayout" Target="../slideLayouts/slideLayout36.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31" Type="http://schemas.openxmlformats.org/officeDocument/2006/relationships/slideLayout" Target="../slideLayouts/slideLayout31.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 Id="rId30" Type="http://schemas.openxmlformats.org/officeDocument/2006/relationships/slideLayout" Target="../slideLayouts/slideLayout30.xml" /><Relationship Id="rId35" Type="http://schemas.openxmlformats.org/officeDocument/2006/relationships/slideLayout" Target="../slideLayouts/slideLayout35.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dirty="0">
              <a:solidFill>
                <a:schemeClr val="accent2"/>
              </a:solidFill>
              <a:latin typeface="+mn-lt"/>
              <a:ea typeface="Arial"/>
              <a:cs typeface="Arial" panose="020B0604020202020204" pitchFamily="34" charset="0"/>
            </a:endParaRPr>
          </a:p>
        </p:txBody>
      </p:sp>
      <p:sp>
        <p:nvSpPr>
          <p:cNvPr id="25" name="TextBox 24">
            <a:extLst>
              <a:ext uri="{C183D7F6-B498-43B3-948B-1728B52AA6E4}">
                <adec:decorative xmlns:adec="http://schemas.microsoft.com/office/drawing/2017/decorative" val="1"/>
              </a:ext>
            </a:extLst>
          </p:cNvPr>
          <p:cNvSpPr txBox="1"/>
          <p:nvPr userDrawn="1">
            <p:custDataLst>
              <p:tags r:id="rId39"/>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lumMod val="65000"/>
                  </a:schemeClr>
                </a:solidFill>
                <a:latin typeface="+mn-lt"/>
                <a:ea typeface="+mn-ea"/>
                <a:cs typeface="+mn-cs"/>
              </a:rPr>
              <a:t>Document Classification: KPMG Confidential</a:t>
            </a:r>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dirty="0"/>
          </a:p>
        </p:txBody>
      </p:sp>
      <p:sp>
        <p:nvSpPr>
          <p:cNvPr id="5" name="TextBox 4">
            <a:extLst>
              <a:ext uri="{FF2B5EF4-FFF2-40B4-BE49-F238E27FC236}">
                <a16:creationId xmlns:a16="http://schemas.microsoft.com/office/drawing/2014/main" id="{4CD71CFA-5CB5-E756-DDD3-25CA16A2F4B4}"/>
              </a:ext>
              <a:ext uri="{C183D7F6-B498-43B3-948B-1728B52AA6E4}">
                <adec:decorative xmlns:adec="http://schemas.microsoft.com/office/drawing/2017/decorative" val="1"/>
              </a:ext>
            </a:extLst>
          </p:cNvPr>
          <p:cNvSpPr txBox="1"/>
          <p:nvPr userDrawn="1"/>
        </p:nvSpPr>
        <p:spPr>
          <a:xfrm>
            <a:off x="1824843" y="6202766"/>
            <a:ext cx="6796641" cy="10772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700" kern="1200" dirty="0">
                <a:solidFill>
                  <a:schemeClr val="bg1">
                    <a:lumMod val="50000"/>
                  </a:schemeClr>
                </a:solidFill>
                <a:latin typeface="+mn-lt"/>
                <a:ea typeface="+mn-ea"/>
                <a:cs typeface="+mn-cs"/>
              </a:rPr>
              <a:t>KPMG Assurance and Consulting Services LLP</a:t>
            </a:r>
            <a:endParaRPr lang="en-US" sz="700" kern="1200" noProof="0" dirty="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3" r:id="rId1"/>
    <p:sldLayoutId id="2147483783" r:id="rId2"/>
    <p:sldLayoutId id="2147483749" r:id="rId3"/>
    <p:sldLayoutId id="2147483750" r:id="rId4"/>
    <p:sldLayoutId id="2147483767" r:id="rId5"/>
    <p:sldLayoutId id="2147483768" r:id="rId6"/>
    <p:sldLayoutId id="2147483765" r:id="rId7"/>
    <p:sldLayoutId id="2147483766" r:id="rId8"/>
    <p:sldLayoutId id="2147483666" r:id="rId9"/>
    <p:sldLayoutId id="2147483712" r:id="rId10"/>
    <p:sldLayoutId id="2147483664" r:id="rId11"/>
    <p:sldLayoutId id="2147483769" r:id="rId12"/>
    <p:sldLayoutId id="2147483770" r:id="rId13"/>
    <p:sldLayoutId id="2147483714" r:id="rId14"/>
    <p:sldLayoutId id="2147483689" r:id="rId15"/>
    <p:sldLayoutId id="2147483716" r:id="rId16"/>
    <p:sldLayoutId id="2147483690" r:id="rId17"/>
    <p:sldLayoutId id="2147483692" r:id="rId18"/>
    <p:sldLayoutId id="2147483691" r:id="rId19"/>
    <p:sldLayoutId id="2147483693" r:id="rId20"/>
    <p:sldLayoutId id="2147483701" r:id="rId21"/>
    <p:sldLayoutId id="2147483771" r:id="rId22"/>
    <p:sldLayoutId id="2147483752" r:id="rId23"/>
    <p:sldLayoutId id="2147483697" r:id="rId24"/>
    <p:sldLayoutId id="2147483772" r:id="rId25"/>
    <p:sldLayoutId id="2147483754" r:id="rId26"/>
    <p:sldLayoutId id="2147483699" r:id="rId27"/>
    <p:sldLayoutId id="2147483700" r:id="rId28"/>
    <p:sldLayoutId id="2147483722" r:id="rId29"/>
    <p:sldLayoutId id="2147483682" r:id="rId30"/>
    <p:sldLayoutId id="2147483745" r:id="rId31"/>
    <p:sldLayoutId id="2147483746" r:id="rId32"/>
    <p:sldLayoutId id="2147483667" r:id="rId33"/>
    <p:sldLayoutId id="2147483748" r:id="rId34"/>
    <p:sldLayoutId id="2147483773" r:id="rId35"/>
    <p:sldLayoutId id="2147483784" r:id="rId36"/>
    <p:sldLayoutId id="2147483785" r:id="rId37"/>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notesSlide" Target="../notesSlides/notesSlide1.xml" /><Relationship Id="rId1" Type="http://schemas.openxmlformats.org/officeDocument/2006/relationships/slideLayout" Target="../slideLayouts/slideLayout36.xml" /><Relationship Id="rId6" Type="http://schemas.openxmlformats.org/officeDocument/2006/relationships/image" Target="../media/image13.emf" /><Relationship Id="rId5" Type="http://schemas.openxmlformats.org/officeDocument/2006/relationships/image" Target="../media/image12.svg" /><Relationship Id="rId4" Type="http://schemas.openxmlformats.org/officeDocument/2006/relationships/image" Target="../media/image11.sv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1.xml" /></Relationships>
</file>

<file path=ppt/slides/_rels/slide3.xml.rels><?xml version="1.0" encoding="UTF-8" standalone="yes"?>
<Relationships xmlns="http://schemas.openxmlformats.org/package/2006/relationships"><Relationship Id="rId8" Type="http://schemas.openxmlformats.org/officeDocument/2006/relationships/image" Target="../media/image18.png" /><Relationship Id="rId3" Type="http://schemas.openxmlformats.org/officeDocument/2006/relationships/image" Target="../media/image14.jpeg" /><Relationship Id="rId7" Type="http://schemas.openxmlformats.org/officeDocument/2006/relationships/image" Target="../media/image3.png" /><Relationship Id="rId2" Type="http://schemas.openxmlformats.org/officeDocument/2006/relationships/slideLayout" Target="../slideLayouts/slideLayout37.xml" /><Relationship Id="rId1" Type="http://schemas.openxmlformats.org/officeDocument/2006/relationships/tags" Target="../tags/tag10.xml" /><Relationship Id="rId6" Type="http://schemas.openxmlformats.org/officeDocument/2006/relationships/image" Target="../media/image17.png" /><Relationship Id="rId11" Type="http://schemas.openxmlformats.org/officeDocument/2006/relationships/image" Target="../media/image5.png" /><Relationship Id="rId5" Type="http://schemas.openxmlformats.org/officeDocument/2006/relationships/image" Target="../media/image16.png" /><Relationship Id="rId10" Type="http://schemas.openxmlformats.org/officeDocument/2006/relationships/image" Target="../media/image8.png" /><Relationship Id="rId4" Type="http://schemas.openxmlformats.org/officeDocument/2006/relationships/image" Target="../media/image15.png" /><Relationship Id="rId9" Type="http://schemas.openxmlformats.org/officeDocument/2006/relationships/image" Target="../media/image4.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5FACBC-2721-7AE4-FC15-51374F6E8200}"/>
              </a:ext>
            </a:extLst>
          </p:cNvPr>
          <p:cNvSpPr/>
          <p:nvPr/>
        </p:nvSpPr>
        <p:spPr>
          <a:xfrm>
            <a:off x="0" y="0"/>
            <a:ext cx="12192000" cy="6858000"/>
          </a:xfrm>
          <a:prstGeom prst="rect">
            <a:avLst/>
          </a:prstGeom>
          <a:solidFill>
            <a:srgbClr val="023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3" name="Graphic 6">
            <a:extLst>
              <a:ext uri="{FF2B5EF4-FFF2-40B4-BE49-F238E27FC236}">
                <a16:creationId xmlns:a16="http://schemas.microsoft.com/office/drawing/2014/main" id="{A848E228-28CB-82BC-7178-67426DD53E91}"/>
              </a:ext>
            </a:extLst>
          </p:cNvPr>
          <p:cNvSpPr/>
          <p:nvPr/>
        </p:nvSpPr>
        <p:spPr>
          <a:xfrm rot="2804870">
            <a:off x="5617887" y="845149"/>
            <a:ext cx="5980204" cy="5435413"/>
          </a:xfrm>
          <a:custGeom>
            <a:avLst/>
            <a:gdLst>
              <a:gd name="connsiteX0" fmla="*/ 3935177 w 5873456"/>
              <a:gd name="connsiteY0" fmla="*/ 0 h 5338390"/>
              <a:gd name="connsiteX1" fmla="*/ 1938280 w 5873456"/>
              <a:gd name="connsiteY1" fmla="*/ 0 h 5338390"/>
              <a:gd name="connsiteX2" fmla="*/ 1124358 w 5873456"/>
              <a:gd name="connsiteY2" fmla="*/ 469917 h 5338390"/>
              <a:gd name="connsiteX3" fmla="*/ 125910 w 5873456"/>
              <a:gd name="connsiteY3" fmla="*/ 2199278 h 5338390"/>
              <a:gd name="connsiteX4" fmla="*/ 125910 w 5873456"/>
              <a:gd name="connsiteY4" fmla="*/ 3139113 h 5338390"/>
              <a:gd name="connsiteX5" fmla="*/ 1124358 w 5873456"/>
              <a:gd name="connsiteY5" fmla="*/ 4868473 h 5338390"/>
              <a:gd name="connsiteX6" fmla="*/ 1938280 w 5873456"/>
              <a:gd name="connsiteY6" fmla="*/ 5338391 h 5338390"/>
              <a:gd name="connsiteX7" fmla="*/ 3935177 w 5873456"/>
              <a:gd name="connsiteY7" fmla="*/ 5338391 h 5338390"/>
              <a:gd name="connsiteX8" fmla="*/ 4749099 w 5873456"/>
              <a:gd name="connsiteY8" fmla="*/ 4868473 h 5338390"/>
              <a:gd name="connsiteX9" fmla="*/ 5747547 w 5873456"/>
              <a:gd name="connsiteY9" fmla="*/ 3139113 h 5338390"/>
              <a:gd name="connsiteX10" fmla="*/ 5747547 w 5873456"/>
              <a:gd name="connsiteY10" fmla="*/ 2199278 h 5338390"/>
              <a:gd name="connsiteX11" fmla="*/ 4749099 w 5873456"/>
              <a:gd name="connsiteY11" fmla="*/ 469917 h 5338390"/>
              <a:gd name="connsiteX12" fmla="*/ 3935177 w 5873456"/>
              <a:gd name="connsiteY12" fmla="*/ 0 h 533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73456" h="5338390">
                <a:moveTo>
                  <a:pt x="3935177" y="0"/>
                </a:moveTo>
                <a:lnTo>
                  <a:pt x="1938280" y="0"/>
                </a:lnTo>
                <a:cubicBezTo>
                  <a:pt x="1602507" y="0"/>
                  <a:pt x="1292252" y="179134"/>
                  <a:pt x="1124358" y="469917"/>
                </a:cubicBezTo>
                <a:lnTo>
                  <a:pt x="125910" y="2199278"/>
                </a:lnTo>
                <a:cubicBezTo>
                  <a:pt x="-41970" y="2490062"/>
                  <a:pt x="-41970" y="2848329"/>
                  <a:pt x="125910" y="3139113"/>
                </a:cubicBezTo>
                <a:lnTo>
                  <a:pt x="1124358" y="4868473"/>
                </a:lnTo>
                <a:cubicBezTo>
                  <a:pt x="1292237" y="5159257"/>
                  <a:pt x="1602507" y="5338391"/>
                  <a:pt x="1938280" y="5338391"/>
                </a:cubicBezTo>
                <a:lnTo>
                  <a:pt x="3935177" y="5338391"/>
                </a:lnTo>
                <a:cubicBezTo>
                  <a:pt x="4270950" y="5338391"/>
                  <a:pt x="4581205" y="5159257"/>
                  <a:pt x="4749099" y="4868473"/>
                </a:cubicBezTo>
                <a:lnTo>
                  <a:pt x="5747547" y="3139113"/>
                </a:lnTo>
                <a:cubicBezTo>
                  <a:pt x="5915427" y="2848329"/>
                  <a:pt x="5915427" y="2490062"/>
                  <a:pt x="5747547" y="2199278"/>
                </a:cubicBezTo>
                <a:lnTo>
                  <a:pt x="4749099" y="469917"/>
                </a:lnTo>
                <a:cubicBezTo>
                  <a:pt x="4581205" y="179134"/>
                  <a:pt x="4270950" y="0"/>
                  <a:pt x="3935177" y="0"/>
                </a:cubicBezTo>
                <a:close/>
              </a:path>
            </a:pathLst>
          </a:custGeom>
          <a:solidFill>
            <a:srgbClr val="00B0F0"/>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Graphic 6">
            <a:extLst>
              <a:ext uri="{FF2B5EF4-FFF2-40B4-BE49-F238E27FC236}">
                <a16:creationId xmlns:a16="http://schemas.microsoft.com/office/drawing/2014/main" id="{635F6E85-86A6-81B8-6E9A-BF3E4700BFEB}"/>
              </a:ext>
            </a:extLst>
          </p:cNvPr>
          <p:cNvSpPr/>
          <p:nvPr/>
        </p:nvSpPr>
        <p:spPr>
          <a:xfrm rot="1268511">
            <a:off x="5692215" y="879551"/>
            <a:ext cx="5873456" cy="5338390"/>
          </a:xfrm>
          <a:custGeom>
            <a:avLst/>
            <a:gdLst>
              <a:gd name="connsiteX0" fmla="*/ 3935177 w 5873456"/>
              <a:gd name="connsiteY0" fmla="*/ 0 h 5338390"/>
              <a:gd name="connsiteX1" fmla="*/ 1938280 w 5873456"/>
              <a:gd name="connsiteY1" fmla="*/ 0 h 5338390"/>
              <a:gd name="connsiteX2" fmla="*/ 1124358 w 5873456"/>
              <a:gd name="connsiteY2" fmla="*/ 469917 h 5338390"/>
              <a:gd name="connsiteX3" fmla="*/ 125910 w 5873456"/>
              <a:gd name="connsiteY3" fmla="*/ 2199278 h 5338390"/>
              <a:gd name="connsiteX4" fmla="*/ 125910 w 5873456"/>
              <a:gd name="connsiteY4" fmla="*/ 3139113 h 5338390"/>
              <a:gd name="connsiteX5" fmla="*/ 1124358 w 5873456"/>
              <a:gd name="connsiteY5" fmla="*/ 4868473 h 5338390"/>
              <a:gd name="connsiteX6" fmla="*/ 1938280 w 5873456"/>
              <a:gd name="connsiteY6" fmla="*/ 5338391 h 5338390"/>
              <a:gd name="connsiteX7" fmla="*/ 3935177 w 5873456"/>
              <a:gd name="connsiteY7" fmla="*/ 5338391 h 5338390"/>
              <a:gd name="connsiteX8" fmla="*/ 4749099 w 5873456"/>
              <a:gd name="connsiteY8" fmla="*/ 4868473 h 5338390"/>
              <a:gd name="connsiteX9" fmla="*/ 5747547 w 5873456"/>
              <a:gd name="connsiteY9" fmla="*/ 3139113 h 5338390"/>
              <a:gd name="connsiteX10" fmla="*/ 5747547 w 5873456"/>
              <a:gd name="connsiteY10" fmla="*/ 2199278 h 5338390"/>
              <a:gd name="connsiteX11" fmla="*/ 4749099 w 5873456"/>
              <a:gd name="connsiteY11" fmla="*/ 469917 h 5338390"/>
              <a:gd name="connsiteX12" fmla="*/ 3935177 w 5873456"/>
              <a:gd name="connsiteY12" fmla="*/ 0 h 533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73456" h="5338390">
                <a:moveTo>
                  <a:pt x="3935177" y="0"/>
                </a:moveTo>
                <a:lnTo>
                  <a:pt x="1938280" y="0"/>
                </a:lnTo>
                <a:cubicBezTo>
                  <a:pt x="1602507" y="0"/>
                  <a:pt x="1292252" y="179134"/>
                  <a:pt x="1124358" y="469917"/>
                </a:cubicBezTo>
                <a:lnTo>
                  <a:pt x="125910" y="2199278"/>
                </a:lnTo>
                <a:cubicBezTo>
                  <a:pt x="-41970" y="2490062"/>
                  <a:pt x="-41970" y="2848329"/>
                  <a:pt x="125910" y="3139113"/>
                </a:cubicBezTo>
                <a:lnTo>
                  <a:pt x="1124358" y="4868473"/>
                </a:lnTo>
                <a:cubicBezTo>
                  <a:pt x="1292237" y="5159257"/>
                  <a:pt x="1602507" y="5338391"/>
                  <a:pt x="1938280" y="5338391"/>
                </a:cubicBezTo>
                <a:lnTo>
                  <a:pt x="3935177" y="5338391"/>
                </a:lnTo>
                <a:cubicBezTo>
                  <a:pt x="4270950" y="5338391"/>
                  <a:pt x="4581205" y="5159257"/>
                  <a:pt x="4749099" y="4868473"/>
                </a:cubicBezTo>
                <a:lnTo>
                  <a:pt x="5747547" y="3139113"/>
                </a:lnTo>
                <a:cubicBezTo>
                  <a:pt x="5915427" y="2848329"/>
                  <a:pt x="5915427" y="2490062"/>
                  <a:pt x="5747547" y="2199278"/>
                </a:cubicBezTo>
                <a:lnTo>
                  <a:pt x="4749099" y="469917"/>
                </a:lnTo>
                <a:cubicBezTo>
                  <a:pt x="4581205" y="179134"/>
                  <a:pt x="4270950" y="0"/>
                  <a:pt x="3935177" y="0"/>
                </a:cubicBezTo>
                <a:close/>
              </a:path>
            </a:pathLst>
          </a:custGeom>
          <a:blipFill dpi="0" rotWithShape="1">
            <a:blip r:embed="rId3" cstate="email">
              <a:extLst>
                <a:ext uri="{28A0092B-C50C-407E-A947-70E740481C1C}">
                  <a14:useLocalDpi xmlns:a14="http://schemas.microsoft.com/office/drawing/2010/main"/>
                </a:ext>
              </a:extLst>
            </a:blip>
            <a:srcRect/>
            <a:stretch>
              <a:fillRect/>
            </a:stretch>
          </a:blipFill>
          <a:ln w="63500" cap="flat">
            <a:solidFill>
              <a:schemeClr val="bg1"/>
            </a:solidFill>
            <a:prstDash val="solid"/>
            <a:miter/>
          </a:ln>
          <a:effectLst>
            <a:glow rad="101600">
              <a:schemeClr val="tx1">
                <a:lumMod val="95000"/>
                <a:lumOff val="5000"/>
                <a:alpha val="29000"/>
              </a:schemeClr>
            </a:glo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5" name="Graphic 6">
            <a:extLst>
              <a:ext uri="{FF2B5EF4-FFF2-40B4-BE49-F238E27FC236}">
                <a16:creationId xmlns:a16="http://schemas.microsoft.com/office/drawing/2014/main" id="{145D99FB-A7F0-AFE1-A23E-A1418AC805E8}"/>
              </a:ext>
            </a:extLst>
          </p:cNvPr>
          <p:cNvSpPr/>
          <p:nvPr/>
        </p:nvSpPr>
        <p:spPr>
          <a:xfrm rot="7200000">
            <a:off x="5285591" y="2051677"/>
            <a:ext cx="1189302" cy="1080958"/>
          </a:xfrm>
          <a:custGeom>
            <a:avLst/>
            <a:gdLst>
              <a:gd name="connsiteX0" fmla="*/ 3935177 w 5873456"/>
              <a:gd name="connsiteY0" fmla="*/ 0 h 5338390"/>
              <a:gd name="connsiteX1" fmla="*/ 1938280 w 5873456"/>
              <a:gd name="connsiteY1" fmla="*/ 0 h 5338390"/>
              <a:gd name="connsiteX2" fmla="*/ 1124358 w 5873456"/>
              <a:gd name="connsiteY2" fmla="*/ 469917 h 5338390"/>
              <a:gd name="connsiteX3" fmla="*/ 125910 w 5873456"/>
              <a:gd name="connsiteY3" fmla="*/ 2199278 h 5338390"/>
              <a:gd name="connsiteX4" fmla="*/ 125910 w 5873456"/>
              <a:gd name="connsiteY4" fmla="*/ 3139113 h 5338390"/>
              <a:gd name="connsiteX5" fmla="*/ 1124358 w 5873456"/>
              <a:gd name="connsiteY5" fmla="*/ 4868473 h 5338390"/>
              <a:gd name="connsiteX6" fmla="*/ 1938280 w 5873456"/>
              <a:gd name="connsiteY6" fmla="*/ 5338391 h 5338390"/>
              <a:gd name="connsiteX7" fmla="*/ 3935177 w 5873456"/>
              <a:gd name="connsiteY7" fmla="*/ 5338391 h 5338390"/>
              <a:gd name="connsiteX8" fmla="*/ 4749099 w 5873456"/>
              <a:gd name="connsiteY8" fmla="*/ 4868473 h 5338390"/>
              <a:gd name="connsiteX9" fmla="*/ 5747547 w 5873456"/>
              <a:gd name="connsiteY9" fmla="*/ 3139113 h 5338390"/>
              <a:gd name="connsiteX10" fmla="*/ 5747547 w 5873456"/>
              <a:gd name="connsiteY10" fmla="*/ 2199278 h 5338390"/>
              <a:gd name="connsiteX11" fmla="*/ 4749099 w 5873456"/>
              <a:gd name="connsiteY11" fmla="*/ 469917 h 5338390"/>
              <a:gd name="connsiteX12" fmla="*/ 3935177 w 5873456"/>
              <a:gd name="connsiteY12" fmla="*/ 0 h 533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73456" h="5338390">
                <a:moveTo>
                  <a:pt x="3935177" y="0"/>
                </a:moveTo>
                <a:lnTo>
                  <a:pt x="1938280" y="0"/>
                </a:lnTo>
                <a:cubicBezTo>
                  <a:pt x="1602507" y="0"/>
                  <a:pt x="1292252" y="179134"/>
                  <a:pt x="1124358" y="469917"/>
                </a:cubicBezTo>
                <a:lnTo>
                  <a:pt x="125910" y="2199278"/>
                </a:lnTo>
                <a:cubicBezTo>
                  <a:pt x="-41970" y="2490062"/>
                  <a:pt x="-41970" y="2848329"/>
                  <a:pt x="125910" y="3139113"/>
                </a:cubicBezTo>
                <a:lnTo>
                  <a:pt x="1124358" y="4868473"/>
                </a:lnTo>
                <a:cubicBezTo>
                  <a:pt x="1292237" y="5159257"/>
                  <a:pt x="1602507" y="5338391"/>
                  <a:pt x="1938280" y="5338391"/>
                </a:cubicBezTo>
                <a:lnTo>
                  <a:pt x="3935177" y="5338391"/>
                </a:lnTo>
                <a:cubicBezTo>
                  <a:pt x="4270950" y="5338391"/>
                  <a:pt x="4581205" y="5159257"/>
                  <a:pt x="4749099" y="4868473"/>
                </a:cubicBezTo>
                <a:lnTo>
                  <a:pt x="5747547" y="3139113"/>
                </a:lnTo>
                <a:cubicBezTo>
                  <a:pt x="5915427" y="2848329"/>
                  <a:pt x="5915427" y="2490062"/>
                  <a:pt x="5747547" y="2199278"/>
                </a:cubicBezTo>
                <a:lnTo>
                  <a:pt x="4749099" y="469917"/>
                </a:lnTo>
                <a:cubicBezTo>
                  <a:pt x="4581205" y="179134"/>
                  <a:pt x="4270950" y="0"/>
                  <a:pt x="3935177" y="0"/>
                </a:cubicBezTo>
                <a:close/>
              </a:path>
            </a:pathLst>
          </a:custGeom>
          <a:solidFill>
            <a:srgbClr val="00B0F0">
              <a:alpha val="62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6" name="Graphic 6">
            <a:extLst>
              <a:ext uri="{FF2B5EF4-FFF2-40B4-BE49-F238E27FC236}">
                <a16:creationId xmlns:a16="http://schemas.microsoft.com/office/drawing/2014/main" id="{507D62A5-73CA-167C-E1EA-08FB69E6DA7A}"/>
              </a:ext>
            </a:extLst>
          </p:cNvPr>
          <p:cNvSpPr/>
          <p:nvPr/>
        </p:nvSpPr>
        <p:spPr>
          <a:xfrm rot="8416678">
            <a:off x="10794570" y="4016834"/>
            <a:ext cx="1189302" cy="1080958"/>
          </a:xfrm>
          <a:custGeom>
            <a:avLst/>
            <a:gdLst>
              <a:gd name="connsiteX0" fmla="*/ 3935177 w 5873456"/>
              <a:gd name="connsiteY0" fmla="*/ 0 h 5338390"/>
              <a:gd name="connsiteX1" fmla="*/ 1938280 w 5873456"/>
              <a:gd name="connsiteY1" fmla="*/ 0 h 5338390"/>
              <a:gd name="connsiteX2" fmla="*/ 1124358 w 5873456"/>
              <a:gd name="connsiteY2" fmla="*/ 469917 h 5338390"/>
              <a:gd name="connsiteX3" fmla="*/ 125910 w 5873456"/>
              <a:gd name="connsiteY3" fmla="*/ 2199278 h 5338390"/>
              <a:gd name="connsiteX4" fmla="*/ 125910 w 5873456"/>
              <a:gd name="connsiteY4" fmla="*/ 3139113 h 5338390"/>
              <a:gd name="connsiteX5" fmla="*/ 1124358 w 5873456"/>
              <a:gd name="connsiteY5" fmla="*/ 4868473 h 5338390"/>
              <a:gd name="connsiteX6" fmla="*/ 1938280 w 5873456"/>
              <a:gd name="connsiteY6" fmla="*/ 5338391 h 5338390"/>
              <a:gd name="connsiteX7" fmla="*/ 3935177 w 5873456"/>
              <a:gd name="connsiteY7" fmla="*/ 5338391 h 5338390"/>
              <a:gd name="connsiteX8" fmla="*/ 4749099 w 5873456"/>
              <a:gd name="connsiteY8" fmla="*/ 4868473 h 5338390"/>
              <a:gd name="connsiteX9" fmla="*/ 5747547 w 5873456"/>
              <a:gd name="connsiteY9" fmla="*/ 3139113 h 5338390"/>
              <a:gd name="connsiteX10" fmla="*/ 5747547 w 5873456"/>
              <a:gd name="connsiteY10" fmla="*/ 2199278 h 5338390"/>
              <a:gd name="connsiteX11" fmla="*/ 4749099 w 5873456"/>
              <a:gd name="connsiteY11" fmla="*/ 469917 h 5338390"/>
              <a:gd name="connsiteX12" fmla="*/ 3935177 w 5873456"/>
              <a:gd name="connsiteY12" fmla="*/ 0 h 533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73456" h="5338390">
                <a:moveTo>
                  <a:pt x="3935177" y="0"/>
                </a:moveTo>
                <a:lnTo>
                  <a:pt x="1938280" y="0"/>
                </a:lnTo>
                <a:cubicBezTo>
                  <a:pt x="1602507" y="0"/>
                  <a:pt x="1292252" y="179134"/>
                  <a:pt x="1124358" y="469917"/>
                </a:cubicBezTo>
                <a:lnTo>
                  <a:pt x="125910" y="2199278"/>
                </a:lnTo>
                <a:cubicBezTo>
                  <a:pt x="-41970" y="2490062"/>
                  <a:pt x="-41970" y="2848329"/>
                  <a:pt x="125910" y="3139113"/>
                </a:cubicBezTo>
                <a:lnTo>
                  <a:pt x="1124358" y="4868473"/>
                </a:lnTo>
                <a:cubicBezTo>
                  <a:pt x="1292237" y="5159257"/>
                  <a:pt x="1602507" y="5338391"/>
                  <a:pt x="1938280" y="5338391"/>
                </a:cubicBezTo>
                <a:lnTo>
                  <a:pt x="3935177" y="5338391"/>
                </a:lnTo>
                <a:cubicBezTo>
                  <a:pt x="4270950" y="5338391"/>
                  <a:pt x="4581205" y="5159257"/>
                  <a:pt x="4749099" y="4868473"/>
                </a:cubicBezTo>
                <a:lnTo>
                  <a:pt x="5747547" y="3139113"/>
                </a:lnTo>
                <a:cubicBezTo>
                  <a:pt x="5915427" y="2848329"/>
                  <a:pt x="5915427" y="2490062"/>
                  <a:pt x="5747547" y="2199278"/>
                </a:cubicBezTo>
                <a:lnTo>
                  <a:pt x="4749099" y="469917"/>
                </a:lnTo>
                <a:cubicBezTo>
                  <a:pt x="4581205" y="179134"/>
                  <a:pt x="4270950" y="0"/>
                  <a:pt x="3935177" y="0"/>
                </a:cubicBezTo>
                <a:close/>
              </a:path>
            </a:pathLst>
          </a:custGeom>
          <a:solidFill>
            <a:srgbClr val="00B0F0">
              <a:alpha val="62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9" name="Graphic 6">
            <a:extLst>
              <a:ext uri="{FF2B5EF4-FFF2-40B4-BE49-F238E27FC236}">
                <a16:creationId xmlns:a16="http://schemas.microsoft.com/office/drawing/2014/main" id="{75E74BE7-C7A3-B6DD-C47A-A134D97622B4}"/>
              </a:ext>
            </a:extLst>
          </p:cNvPr>
          <p:cNvSpPr/>
          <p:nvPr/>
        </p:nvSpPr>
        <p:spPr>
          <a:xfrm rot="5400000">
            <a:off x="11328577" y="41205"/>
            <a:ext cx="904627" cy="822217"/>
          </a:xfrm>
          <a:custGeom>
            <a:avLst/>
            <a:gdLst>
              <a:gd name="connsiteX0" fmla="*/ 3935177 w 5873456"/>
              <a:gd name="connsiteY0" fmla="*/ 0 h 5338390"/>
              <a:gd name="connsiteX1" fmla="*/ 1938280 w 5873456"/>
              <a:gd name="connsiteY1" fmla="*/ 0 h 5338390"/>
              <a:gd name="connsiteX2" fmla="*/ 1124358 w 5873456"/>
              <a:gd name="connsiteY2" fmla="*/ 469917 h 5338390"/>
              <a:gd name="connsiteX3" fmla="*/ 125910 w 5873456"/>
              <a:gd name="connsiteY3" fmla="*/ 2199278 h 5338390"/>
              <a:gd name="connsiteX4" fmla="*/ 125910 w 5873456"/>
              <a:gd name="connsiteY4" fmla="*/ 3139113 h 5338390"/>
              <a:gd name="connsiteX5" fmla="*/ 1124358 w 5873456"/>
              <a:gd name="connsiteY5" fmla="*/ 4868473 h 5338390"/>
              <a:gd name="connsiteX6" fmla="*/ 1938280 w 5873456"/>
              <a:gd name="connsiteY6" fmla="*/ 5338391 h 5338390"/>
              <a:gd name="connsiteX7" fmla="*/ 3935177 w 5873456"/>
              <a:gd name="connsiteY7" fmla="*/ 5338391 h 5338390"/>
              <a:gd name="connsiteX8" fmla="*/ 4749099 w 5873456"/>
              <a:gd name="connsiteY8" fmla="*/ 4868473 h 5338390"/>
              <a:gd name="connsiteX9" fmla="*/ 5747547 w 5873456"/>
              <a:gd name="connsiteY9" fmla="*/ 3139113 h 5338390"/>
              <a:gd name="connsiteX10" fmla="*/ 5747547 w 5873456"/>
              <a:gd name="connsiteY10" fmla="*/ 2199278 h 5338390"/>
              <a:gd name="connsiteX11" fmla="*/ 4749099 w 5873456"/>
              <a:gd name="connsiteY11" fmla="*/ 469917 h 5338390"/>
              <a:gd name="connsiteX12" fmla="*/ 3935177 w 5873456"/>
              <a:gd name="connsiteY12" fmla="*/ 0 h 533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73456" h="5338390">
                <a:moveTo>
                  <a:pt x="3935177" y="0"/>
                </a:moveTo>
                <a:lnTo>
                  <a:pt x="1938280" y="0"/>
                </a:lnTo>
                <a:cubicBezTo>
                  <a:pt x="1602507" y="0"/>
                  <a:pt x="1292252" y="179134"/>
                  <a:pt x="1124358" y="469917"/>
                </a:cubicBezTo>
                <a:lnTo>
                  <a:pt x="125910" y="2199278"/>
                </a:lnTo>
                <a:cubicBezTo>
                  <a:pt x="-41970" y="2490062"/>
                  <a:pt x="-41970" y="2848329"/>
                  <a:pt x="125910" y="3139113"/>
                </a:cubicBezTo>
                <a:lnTo>
                  <a:pt x="1124358" y="4868473"/>
                </a:lnTo>
                <a:cubicBezTo>
                  <a:pt x="1292237" y="5159257"/>
                  <a:pt x="1602507" y="5338391"/>
                  <a:pt x="1938280" y="5338391"/>
                </a:cubicBezTo>
                <a:lnTo>
                  <a:pt x="3935177" y="5338391"/>
                </a:lnTo>
                <a:cubicBezTo>
                  <a:pt x="4270950" y="5338391"/>
                  <a:pt x="4581205" y="5159257"/>
                  <a:pt x="4749099" y="4868473"/>
                </a:cubicBezTo>
                <a:lnTo>
                  <a:pt x="5747547" y="3139113"/>
                </a:lnTo>
                <a:cubicBezTo>
                  <a:pt x="5915427" y="2848329"/>
                  <a:pt x="5915427" y="2490062"/>
                  <a:pt x="5747547" y="2199278"/>
                </a:cubicBezTo>
                <a:lnTo>
                  <a:pt x="4749099" y="469917"/>
                </a:lnTo>
                <a:cubicBezTo>
                  <a:pt x="4581205" y="179134"/>
                  <a:pt x="4270950" y="0"/>
                  <a:pt x="3935177" y="0"/>
                </a:cubicBezTo>
                <a:close/>
              </a:path>
            </a:pathLst>
          </a:custGeom>
          <a:noFill/>
          <a:ln w="25400" cap="flat">
            <a:solidFill>
              <a:srgbClr val="00B0F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 name="Graphic 6">
            <a:extLst>
              <a:ext uri="{FF2B5EF4-FFF2-40B4-BE49-F238E27FC236}">
                <a16:creationId xmlns:a16="http://schemas.microsoft.com/office/drawing/2014/main" id="{01B17FD4-49B5-D15C-0FE8-B384808369BA}"/>
              </a:ext>
            </a:extLst>
          </p:cNvPr>
          <p:cNvSpPr/>
          <p:nvPr/>
        </p:nvSpPr>
        <p:spPr>
          <a:xfrm rot="5400000">
            <a:off x="11194025" y="782269"/>
            <a:ext cx="529113" cy="480911"/>
          </a:xfrm>
          <a:custGeom>
            <a:avLst/>
            <a:gdLst>
              <a:gd name="connsiteX0" fmla="*/ 3935177 w 5873456"/>
              <a:gd name="connsiteY0" fmla="*/ 0 h 5338390"/>
              <a:gd name="connsiteX1" fmla="*/ 1938280 w 5873456"/>
              <a:gd name="connsiteY1" fmla="*/ 0 h 5338390"/>
              <a:gd name="connsiteX2" fmla="*/ 1124358 w 5873456"/>
              <a:gd name="connsiteY2" fmla="*/ 469917 h 5338390"/>
              <a:gd name="connsiteX3" fmla="*/ 125910 w 5873456"/>
              <a:gd name="connsiteY3" fmla="*/ 2199278 h 5338390"/>
              <a:gd name="connsiteX4" fmla="*/ 125910 w 5873456"/>
              <a:gd name="connsiteY4" fmla="*/ 3139113 h 5338390"/>
              <a:gd name="connsiteX5" fmla="*/ 1124358 w 5873456"/>
              <a:gd name="connsiteY5" fmla="*/ 4868473 h 5338390"/>
              <a:gd name="connsiteX6" fmla="*/ 1938280 w 5873456"/>
              <a:gd name="connsiteY6" fmla="*/ 5338391 h 5338390"/>
              <a:gd name="connsiteX7" fmla="*/ 3935177 w 5873456"/>
              <a:gd name="connsiteY7" fmla="*/ 5338391 h 5338390"/>
              <a:gd name="connsiteX8" fmla="*/ 4749099 w 5873456"/>
              <a:gd name="connsiteY8" fmla="*/ 4868473 h 5338390"/>
              <a:gd name="connsiteX9" fmla="*/ 5747547 w 5873456"/>
              <a:gd name="connsiteY9" fmla="*/ 3139113 h 5338390"/>
              <a:gd name="connsiteX10" fmla="*/ 5747547 w 5873456"/>
              <a:gd name="connsiteY10" fmla="*/ 2199278 h 5338390"/>
              <a:gd name="connsiteX11" fmla="*/ 4749099 w 5873456"/>
              <a:gd name="connsiteY11" fmla="*/ 469917 h 5338390"/>
              <a:gd name="connsiteX12" fmla="*/ 3935177 w 5873456"/>
              <a:gd name="connsiteY12" fmla="*/ 0 h 533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73456" h="5338390">
                <a:moveTo>
                  <a:pt x="3935177" y="0"/>
                </a:moveTo>
                <a:lnTo>
                  <a:pt x="1938280" y="0"/>
                </a:lnTo>
                <a:cubicBezTo>
                  <a:pt x="1602507" y="0"/>
                  <a:pt x="1292252" y="179134"/>
                  <a:pt x="1124358" y="469917"/>
                </a:cubicBezTo>
                <a:lnTo>
                  <a:pt x="125910" y="2199278"/>
                </a:lnTo>
                <a:cubicBezTo>
                  <a:pt x="-41970" y="2490062"/>
                  <a:pt x="-41970" y="2848329"/>
                  <a:pt x="125910" y="3139113"/>
                </a:cubicBezTo>
                <a:lnTo>
                  <a:pt x="1124358" y="4868473"/>
                </a:lnTo>
                <a:cubicBezTo>
                  <a:pt x="1292237" y="5159257"/>
                  <a:pt x="1602507" y="5338391"/>
                  <a:pt x="1938280" y="5338391"/>
                </a:cubicBezTo>
                <a:lnTo>
                  <a:pt x="3935177" y="5338391"/>
                </a:lnTo>
                <a:cubicBezTo>
                  <a:pt x="4270950" y="5338391"/>
                  <a:pt x="4581205" y="5159257"/>
                  <a:pt x="4749099" y="4868473"/>
                </a:cubicBezTo>
                <a:lnTo>
                  <a:pt x="5747547" y="3139113"/>
                </a:lnTo>
                <a:cubicBezTo>
                  <a:pt x="5915427" y="2848329"/>
                  <a:pt x="5915427" y="2490062"/>
                  <a:pt x="5747547" y="2199278"/>
                </a:cubicBezTo>
                <a:lnTo>
                  <a:pt x="4749099" y="469917"/>
                </a:lnTo>
                <a:cubicBezTo>
                  <a:pt x="4581205" y="179134"/>
                  <a:pt x="4270950" y="0"/>
                  <a:pt x="3935177" y="0"/>
                </a:cubicBezTo>
                <a:close/>
              </a:path>
            </a:pathLst>
          </a:custGeom>
          <a:noFill/>
          <a:ln w="25400" cap="flat">
            <a:solidFill>
              <a:srgbClr val="00B0F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 name="Graphic 6">
            <a:extLst>
              <a:ext uri="{FF2B5EF4-FFF2-40B4-BE49-F238E27FC236}">
                <a16:creationId xmlns:a16="http://schemas.microsoft.com/office/drawing/2014/main" id="{13F65454-BB81-5CBD-D445-C0333D8C9939}"/>
              </a:ext>
            </a:extLst>
          </p:cNvPr>
          <p:cNvSpPr/>
          <p:nvPr/>
        </p:nvSpPr>
        <p:spPr>
          <a:xfrm rot="5400000">
            <a:off x="11047573" y="323582"/>
            <a:ext cx="529113" cy="480911"/>
          </a:xfrm>
          <a:custGeom>
            <a:avLst/>
            <a:gdLst>
              <a:gd name="connsiteX0" fmla="*/ 3935177 w 5873456"/>
              <a:gd name="connsiteY0" fmla="*/ 0 h 5338390"/>
              <a:gd name="connsiteX1" fmla="*/ 1938280 w 5873456"/>
              <a:gd name="connsiteY1" fmla="*/ 0 h 5338390"/>
              <a:gd name="connsiteX2" fmla="*/ 1124358 w 5873456"/>
              <a:gd name="connsiteY2" fmla="*/ 469917 h 5338390"/>
              <a:gd name="connsiteX3" fmla="*/ 125910 w 5873456"/>
              <a:gd name="connsiteY3" fmla="*/ 2199278 h 5338390"/>
              <a:gd name="connsiteX4" fmla="*/ 125910 w 5873456"/>
              <a:gd name="connsiteY4" fmla="*/ 3139113 h 5338390"/>
              <a:gd name="connsiteX5" fmla="*/ 1124358 w 5873456"/>
              <a:gd name="connsiteY5" fmla="*/ 4868473 h 5338390"/>
              <a:gd name="connsiteX6" fmla="*/ 1938280 w 5873456"/>
              <a:gd name="connsiteY6" fmla="*/ 5338391 h 5338390"/>
              <a:gd name="connsiteX7" fmla="*/ 3935177 w 5873456"/>
              <a:gd name="connsiteY7" fmla="*/ 5338391 h 5338390"/>
              <a:gd name="connsiteX8" fmla="*/ 4749099 w 5873456"/>
              <a:gd name="connsiteY8" fmla="*/ 4868473 h 5338390"/>
              <a:gd name="connsiteX9" fmla="*/ 5747547 w 5873456"/>
              <a:gd name="connsiteY9" fmla="*/ 3139113 h 5338390"/>
              <a:gd name="connsiteX10" fmla="*/ 5747547 w 5873456"/>
              <a:gd name="connsiteY10" fmla="*/ 2199278 h 5338390"/>
              <a:gd name="connsiteX11" fmla="*/ 4749099 w 5873456"/>
              <a:gd name="connsiteY11" fmla="*/ 469917 h 5338390"/>
              <a:gd name="connsiteX12" fmla="*/ 3935177 w 5873456"/>
              <a:gd name="connsiteY12" fmla="*/ 0 h 533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73456" h="5338390">
                <a:moveTo>
                  <a:pt x="3935177" y="0"/>
                </a:moveTo>
                <a:lnTo>
                  <a:pt x="1938280" y="0"/>
                </a:lnTo>
                <a:cubicBezTo>
                  <a:pt x="1602507" y="0"/>
                  <a:pt x="1292252" y="179134"/>
                  <a:pt x="1124358" y="469917"/>
                </a:cubicBezTo>
                <a:lnTo>
                  <a:pt x="125910" y="2199278"/>
                </a:lnTo>
                <a:cubicBezTo>
                  <a:pt x="-41970" y="2490062"/>
                  <a:pt x="-41970" y="2848329"/>
                  <a:pt x="125910" y="3139113"/>
                </a:cubicBezTo>
                <a:lnTo>
                  <a:pt x="1124358" y="4868473"/>
                </a:lnTo>
                <a:cubicBezTo>
                  <a:pt x="1292237" y="5159257"/>
                  <a:pt x="1602507" y="5338391"/>
                  <a:pt x="1938280" y="5338391"/>
                </a:cubicBezTo>
                <a:lnTo>
                  <a:pt x="3935177" y="5338391"/>
                </a:lnTo>
                <a:cubicBezTo>
                  <a:pt x="4270950" y="5338391"/>
                  <a:pt x="4581205" y="5159257"/>
                  <a:pt x="4749099" y="4868473"/>
                </a:cubicBezTo>
                <a:lnTo>
                  <a:pt x="5747547" y="3139113"/>
                </a:lnTo>
                <a:cubicBezTo>
                  <a:pt x="5915427" y="2848329"/>
                  <a:pt x="5915427" y="2490062"/>
                  <a:pt x="5747547" y="2199278"/>
                </a:cubicBezTo>
                <a:lnTo>
                  <a:pt x="4749099" y="469917"/>
                </a:lnTo>
                <a:cubicBezTo>
                  <a:pt x="4581205" y="179134"/>
                  <a:pt x="4270950" y="0"/>
                  <a:pt x="3935177" y="0"/>
                </a:cubicBezTo>
                <a:close/>
              </a:path>
            </a:pathLst>
          </a:custGeom>
          <a:solidFill>
            <a:srgbClr val="00B8F5">
              <a:alpha val="68000"/>
            </a:srgbClr>
          </a:solidFill>
          <a:ln w="25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 name="Graphic 6">
            <a:extLst>
              <a:ext uri="{FF2B5EF4-FFF2-40B4-BE49-F238E27FC236}">
                <a16:creationId xmlns:a16="http://schemas.microsoft.com/office/drawing/2014/main" id="{7D6C5918-30C6-8C65-0FB9-9C3160F8B5EA}"/>
              </a:ext>
            </a:extLst>
          </p:cNvPr>
          <p:cNvSpPr/>
          <p:nvPr/>
        </p:nvSpPr>
        <p:spPr>
          <a:xfrm rot="5400000">
            <a:off x="11521128" y="1011241"/>
            <a:ext cx="529113" cy="480911"/>
          </a:xfrm>
          <a:custGeom>
            <a:avLst/>
            <a:gdLst>
              <a:gd name="connsiteX0" fmla="*/ 3935177 w 5873456"/>
              <a:gd name="connsiteY0" fmla="*/ 0 h 5338390"/>
              <a:gd name="connsiteX1" fmla="*/ 1938280 w 5873456"/>
              <a:gd name="connsiteY1" fmla="*/ 0 h 5338390"/>
              <a:gd name="connsiteX2" fmla="*/ 1124358 w 5873456"/>
              <a:gd name="connsiteY2" fmla="*/ 469917 h 5338390"/>
              <a:gd name="connsiteX3" fmla="*/ 125910 w 5873456"/>
              <a:gd name="connsiteY3" fmla="*/ 2199278 h 5338390"/>
              <a:gd name="connsiteX4" fmla="*/ 125910 w 5873456"/>
              <a:gd name="connsiteY4" fmla="*/ 3139113 h 5338390"/>
              <a:gd name="connsiteX5" fmla="*/ 1124358 w 5873456"/>
              <a:gd name="connsiteY5" fmla="*/ 4868473 h 5338390"/>
              <a:gd name="connsiteX6" fmla="*/ 1938280 w 5873456"/>
              <a:gd name="connsiteY6" fmla="*/ 5338391 h 5338390"/>
              <a:gd name="connsiteX7" fmla="*/ 3935177 w 5873456"/>
              <a:gd name="connsiteY7" fmla="*/ 5338391 h 5338390"/>
              <a:gd name="connsiteX8" fmla="*/ 4749099 w 5873456"/>
              <a:gd name="connsiteY8" fmla="*/ 4868473 h 5338390"/>
              <a:gd name="connsiteX9" fmla="*/ 5747547 w 5873456"/>
              <a:gd name="connsiteY9" fmla="*/ 3139113 h 5338390"/>
              <a:gd name="connsiteX10" fmla="*/ 5747547 w 5873456"/>
              <a:gd name="connsiteY10" fmla="*/ 2199278 h 5338390"/>
              <a:gd name="connsiteX11" fmla="*/ 4749099 w 5873456"/>
              <a:gd name="connsiteY11" fmla="*/ 469917 h 5338390"/>
              <a:gd name="connsiteX12" fmla="*/ 3935177 w 5873456"/>
              <a:gd name="connsiteY12" fmla="*/ 0 h 533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73456" h="5338390">
                <a:moveTo>
                  <a:pt x="3935177" y="0"/>
                </a:moveTo>
                <a:lnTo>
                  <a:pt x="1938280" y="0"/>
                </a:lnTo>
                <a:cubicBezTo>
                  <a:pt x="1602507" y="0"/>
                  <a:pt x="1292252" y="179134"/>
                  <a:pt x="1124358" y="469917"/>
                </a:cubicBezTo>
                <a:lnTo>
                  <a:pt x="125910" y="2199278"/>
                </a:lnTo>
                <a:cubicBezTo>
                  <a:pt x="-41970" y="2490062"/>
                  <a:pt x="-41970" y="2848329"/>
                  <a:pt x="125910" y="3139113"/>
                </a:cubicBezTo>
                <a:lnTo>
                  <a:pt x="1124358" y="4868473"/>
                </a:lnTo>
                <a:cubicBezTo>
                  <a:pt x="1292237" y="5159257"/>
                  <a:pt x="1602507" y="5338391"/>
                  <a:pt x="1938280" y="5338391"/>
                </a:cubicBezTo>
                <a:lnTo>
                  <a:pt x="3935177" y="5338391"/>
                </a:lnTo>
                <a:cubicBezTo>
                  <a:pt x="4270950" y="5338391"/>
                  <a:pt x="4581205" y="5159257"/>
                  <a:pt x="4749099" y="4868473"/>
                </a:cubicBezTo>
                <a:lnTo>
                  <a:pt x="5747547" y="3139113"/>
                </a:lnTo>
                <a:cubicBezTo>
                  <a:pt x="5915427" y="2848329"/>
                  <a:pt x="5915427" y="2490062"/>
                  <a:pt x="5747547" y="2199278"/>
                </a:cubicBezTo>
                <a:lnTo>
                  <a:pt x="4749099" y="469917"/>
                </a:lnTo>
                <a:cubicBezTo>
                  <a:pt x="4581205" y="179134"/>
                  <a:pt x="4270950" y="0"/>
                  <a:pt x="3935177" y="0"/>
                </a:cubicBezTo>
                <a:close/>
              </a:path>
            </a:pathLst>
          </a:custGeom>
          <a:solidFill>
            <a:srgbClr val="00B8F5">
              <a:alpha val="68000"/>
            </a:srgbClr>
          </a:solidFill>
          <a:ln w="25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34" name="Graphic 33">
            <a:extLst>
              <a:ext uri="{FF2B5EF4-FFF2-40B4-BE49-F238E27FC236}">
                <a16:creationId xmlns:a16="http://schemas.microsoft.com/office/drawing/2014/main" id="{454DF95F-A1F6-F10B-69FF-189B37E8E220}"/>
              </a:ext>
            </a:extLst>
          </p:cNvPr>
          <p:cNvPicPr>
            <a:picLocks noChangeAspect="1"/>
          </p:cNvPicPr>
          <p:nvPr/>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t="47707"/>
          <a:stretch/>
        </p:blipFill>
        <p:spPr>
          <a:xfrm>
            <a:off x="3312694" y="0"/>
            <a:ext cx="2133600" cy="1006141"/>
          </a:xfrm>
          <a:prstGeom prst="rect">
            <a:avLst/>
          </a:prstGeom>
        </p:spPr>
      </p:pic>
      <p:pic>
        <p:nvPicPr>
          <p:cNvPr id="35" name="Graphic 34">
            <a:extLst>
              <a:ext uri="{FF2B5EF4-FFF2-40B4-BE49-F238E27FC236}">
                <a16:creationId xmlns:a16="http://schemas.microsoft.com/office/drawing/2014/main" id="{AD88DDD9-ABB2-1A65-4815-839F9B4F2ECB}"/>
              </a:ext>
            </a:extLst>
          </p:cNvPr>
          <p:cNvPicPr>
            <a:picLocks noChangeAspect="1"/>
          </p:cNvPicPr>
          <p:nvPr/>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t="47707"/>
          <a:stretch/>
        </p:blipFill>
        <p:spPr>
          <a:xfrm rot="10800000">
            <a:off x="5582653" y="6199848"/>
            <a:ext cx="1395663" cy="658152"/>
          </a:xfrm>
          <a:prstGeom prst="rect">
            <a:avLst/>
          </a:prstGeom>
        </p:spPr>
      </p:pic>
      <p:pic>
        <p:nvPicPr>
          <p:cNvPr id="36" name="Graphic 35">
            <a:extLst>
              <a:ext uri="{FF2B5EF4-FFF2-40B4-BE49-F238E27FC236}">
                <a16:creationId xmlns:a16="http://schemas.microsoft.com/office/drawing/2014/main" id="{1269107B-B435-FC63-6A68-A4FFA4B2C580}"/>
              </a:ext>
            </a:extLst>
          </p:cNvPr>
          <p:cNvPicPr>
            <a:picLocks noChangeAspect="1"/>
          </p:cNvPicPr>
          <p:nvPr/>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t="60158"/>
          <a:stretch/>
        </p:blipFill>
        <p:spPr>
          <a:xfrm rot="10800000">
            <a:off x="0" y="5959641"/>
            <a:ext cx="2500362" cy="898359"/>
          </a:xfrm>
          <a:prstGeom prst="rect">
            <a:avLst/>
          </a:prstGeom>
        </p:spPr>
      </p:pic>
      <p:sp>
        <p:nvSpPr>
          <p:cNvPr id="37" name="Graphic 6">
            <a:extLst>
              <a:ext uri="{FF2B5EF4-FFF2-40B4-BE49-F238E27FC236}">
                <a16:creationId xmlns:a16="http://schemas.microsoft.com/office/drawing/2014/main" id="{8ECB10D3-7F54-33F6-18BC-F2D4B5349646}"/>
              </a:ext>
            </a:extLst>
          </p:cNvPr>
          <p:cNvSpPr/>
          <p:nvPr/>
        </p:nvSpPr>
        <p:spPr>
          <a:xfrm rot="7200000">
            <a:off x="1847777" y="6005513"/>
            <a:ext cx="764775" cy="695105"/>
          </a:xfrm>
          <a:custGeom>
            <a:avLst/>
            <a:gdLst>
              <a:gd name="connsiteX0" fmla="*/ 3935177 w 5873456"/>
              <a:gd name="connsiteY0" fmla="*/ 0 h 5338390"/>
              <a:gd name="connsiteX1" fmla="*/ 1938280 w 5873456"/>
              <a:gd name="connsiteY1" fmla="*/ 0 h 5338390"/>
              <a:gd name="connsiteX2" fmla="*/ 1124358 w 5873456"/>
              <a:gd name="connsiteY2" fmla="*/ 469917 h 5338390"/>
              <a:gd name="connsiteX3" fmla="*/ 125910 w 5873456"/>
              <a:gd name="connsiteY3" fmla="*/ 2199278 h 5338390"/>
              <a:gd name="connsiteX4" fmla="*/ 125910 w 5873456"/>
              <a:gd name="connsiteY4" fmla="*/ 3139113 h 5338390"/>
              <a:gd name="connsiteX5" fmla="*/ 1124358 w 5873456"/>
              <a:gd name="connsiteY5" fmla="*/ 4868473 h 5338390"/>
              <a:gd name="connsiteX6" fmla="*/ 1938280 w 5873456"/>
              <a:gd name="connsiteY6" fmla="*/ 5338391 h 5338390"/>
              <a:gd name="connsiteX7" fmla="*/ 3935177 w 5873456"/>
              <a:gd name="connsiteY7" fmla="*/ 5338391 h 5338390"/>
              <a:gd name="connsiteX8" fmla="*/ 4749099 w 5873456"/>
              <a:gd name="connsiteY8" fmla="*/ 4868473 h 5338390"/>
              <a:gd name="connsiteX9" fmla="*/ 5747547 w 5873456"/>
              <a:gd name="connsiteY9" fmla="*/ 3139113 h 5338390"/>
              <a:gd name="connsiteX10" fmla="*/ 5747547 w 5873456"/>
              <a:gd name="connsiteY10" fmla="*/ 2199278 h 5338390"/>
              <a:gd name="connsiteX11" fmla="*/ 4749099 w 5873456"/>
              <a:gd name="connsiteY11" fmla="*/ 469917 h 5338390"/>
              <a:gd name="connsiteX12" fmla="*/ 3935177 w 5873456"/>
              <a:gd name="connsiteY12" fmla="*/ 0 h 533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73456" h="5338390">
                <a:moveTo>
                  <a:pt x="3935177" y="0"/>
                </a:moveTo>
                <a:lnTo>
                  <a:pt x="1938280" y="0"/>
                </a:lnTo>
                <a:cubicBezTo>
                  <a:pt x="1602507" y="0"/>
                  <a:pt x="1292252" y="179134"/>
                  <a:pt x="1124358" y="469917"/>
                </a:cubicBezTo>
                <a:lnTo>
                  <a:pt x="125910" y="2199278"/>
                </a:lnTo>
                <a:cubicBezTo>
                  <a:pt x="-41970" y="2490062"/>
                  <a:pt x="-41970" y="2848329"/>
                  <a:pt x="125910" y="3139113"/>
                </a:cubicBezTo>
                <a:lnTo>
                  <a:pt x="1124358" y="4868473"/>
                </a:lnTo>
                <a:cubicBezTo>
                  <a:pt x="1292237" y="5159257"/>
                  <a:pt x="1602507" y="5338391"/>
                  <a:pt x="1938280" y="5338391"/>
                </a:cubicBezTo>
                <a:lnTo>
                  <a:pt x="3935177" y="5338391"/>
                </a:lnTo>
                <a:cubicBezTo>
                  <a:pt x="4270950" y="5338391"/>
                  <a:pt x="4581205" y="5159257"/>
                  <a:pt x="4749099" y="4868473"/>
                </a:cubicBezTo>
                <a:lnTo>
                  <a:pt x="5747547" y="3139113"/>
                </a:lnTo>
                <a:cubicBezTo>
                  <a:pt x="5915427" y="2848329"/>
                  <a:pt x="5915427" y="2490062"/>
                  <a:pt x="5747547" y="2199278"/>
                </a:cubicBezTo>
                <a:lnTo>
                  <a:pt x="4749099" y="469917"/>
                </a:lnTo>
                <a:cubicBezTo>
                  <a:pt x="4581205" y="179134"/>
                  <a:pt x="4270950" y="0"/>
                  <a:pt x="3935177" y="0"/>
                </a:cubicBezTo>
                <a:close/>
              </a:path>
            </a:pathLst>
          </a:custGeom>
          <a:solidFill>
            <a:srgbClr val="00B0F0">
              <a:alpha val="28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6" name="Picture 5" descr="KPMG_NoCP_white_US_283_6780.eps">
            <a:extLst>
              <a:ext uri="{FF2B5EF4-FFF2-40B4-BE49-F238E27FC236}">
                <a16:creationId xmlns:a16="http://schemas.microsoft.com/office/drawing/2014/main" id="{BB930D69-5DDD-9176-9F40-CCE086D7964E}"/>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l="7816" t="22176" r="7816" b="22176"/>
          <a:stretch/>
        </p:blipFill>
        <p:spPr>
          <a:xfrm>
            <a:off x="153709" y="548121"/>
            <a:ext cx="1217901" cy="524876"/>
          </a:xfrm>
          <a:prstGeom prst="rect">
            <a:avLst/>
          </a:prstGeom>
        </p:spPr>
      </p:pic>
      <p:sp>
        <p:nvSpPr>
          <p:cNvPr id="2" name="Title 3">
            <a:extLst>
              <a:ext uri="{FF2B5EF4-FFF2-40B4-BE49-F238E27FC236}">
                <a16:creationId xmlns:a16="http://schemas.microsoft.com/office/drawing/2014/main" id="{DC900EAC-DDB5-080B-217E-81DAC3D07040}"/>
              </a:ext>
            </a:extLst>
          </p:cNvPr>
          <p:cNvSpPr txBox="1">
            <a:spLocks/>
          </p:cNvSpPr>
          <p:nvPr/>
        </p:nvSpPr>
        <p:spPr>
          <a:xfrm>
            <a:off x="177277" y="1298428"/>
            <a:ext cx="6678166" cy="1938708"/>
          </a:xfrm>
          <a:prstGeom prst="rect">
            <a:avLst/>
          </a:prstGeom>
        </p:spPr>
        <p:txBody>
          <a:bodyPr lIns="0" tIns="0" rIns="0" bIns="0"/>
          <a:lstStyle>
            <a:lvl1pPr algn="l" defTabSz="914400" rtl="0" eaLnBrk="1" latinLnBrk="0" hangingPunct="1">
              <a:lnSpc>
                <a:spcPct val="70000"/>
              </a:lnSpc>
              <a:spcBef>
                <a:spcPct val="0"/>
              </a:spcBef>
              <a:buNone/>
              <a:defRPr lang="en-US" sz="8400" kern="1200" baseline="0" dirty="0">
                <a:solidFill>
                  <a:schemeClr val="bg1"/>
                </a:solidFill>
                <a:latin typeface="KPMG Extralight" panose="020B0303030202040204" pitchFamily="34" charset="0"/>
                <a:ea typeface="+mj-ea"/>
                <a:cs typeface="+mj-cs"/>
              </a:defRPr>
            </a:lvl1pPr>
          </a:lstStyle>
          <a:p>
            <a:pPr>
              <a:lnSpc>
                <a:spcPct val="100000"/>
              </a:lnSpc>
            </a:pPr>
            <a:r>
              <a:rPr lang="en-US" sz="6000" b="1" dirty="0">
                <a:latin typeface="+mn-lt"/>
              </a:rPr>
              <a:t>VPS Lakeshore</a:t>
            </a:r>
          </a:p>
          <a:p>
            <a:pPr>
              <a:lnSpc>
                <a:spcPct val="100000"/>
              </a:lnSpc>
            </a:pPr>
            <a:r>
              <a:rPr lang="en-US" sz="6000" b="1" dirty="0">
                <a:latin typeface="+mn-lt"/>
              </a:rPr>
              <a:t>Hospital</a:t>
            </a:r>
          </a:p>
        </p:txBody>
      </p:sp>
      <p:sp>
        <p:nvSpPr>
          <p:cNvPr id="7" name="Title 3">
            <a:extLst>
              <a:ext uri="{FF2B5EF4-FFF2-40B4-BE49-F238E27FC236}">
                <a16:creationId xmlns:a16="http://schemas.microsoft.com/office/drawing/2014/main" id="{3E7F1DC9-020B-FA67-2C2C-7D472FAE58A8}"/>
              </a:ext>
            </a:extLst>
          </p:cNvPr>
          <p:cNvSpPr txBox="1">
            <a:spLocks/>
          </p:cNvSpPr>
          <p:nvPr/>
        </p:nvSpPr>
        <p:spPr>
          <a:xfrm>
            <a:off x="175819" y="4439258"/>
            <a:ext cx="5174192" cy="147764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1000"/>
              </a:spcBef>
            </a:pPr>
            <a:r>
              <a:rPr lang="en-US" sz="1800" b="1" dirty="0">
                <a:solidFill>
                  <a:schemeClr val="bg1"/>
                </a:solidFill>
                <a:latin typeface="+mn-lt"/>
              </a:rPr>
              <a:t>Process and Controls Transformation Review- Status Update</a:t>
            </a:r>
            <a:endParaRPr lang="en-US" sz="1600" b="1" dirty="0">
              <a:solidFill>
                <a:schemeClr val="bg1"/>
              </a:solidFill>
              <a:latin typeface="+mn-lt"/>
            </a:endParaRPr>
          </a:p>
          <a:p>
            <a:pPr>
              <a:lnSpc>
                <a:spcPct val="100000"/>
              </a:lnSpc>
              <a:spcBef>
                <a:spcPts val="1000"/>
              </a:spcBef>
            </a:pPr>
            <a:endParaRPr lang="en-US" sz="1600" b="1" dirty="0">
              <a:solidFill>
                <a:schemeClr val="bg1"/>
              </a:solidFill>
              <a:latin typeface="+mn-lt"/>
            </a:endParaRPr>
          </a:p>
          <a:p>
            <a:pPr>
              <a:lnSpc>
                <a:spcPct val="100000"/>
              </a:lnSpc>
              <a:spcBef>
                <a:spcPts val="1000"/>
              </a:spcBef>
            </a:pPr>
            <a:endParaRPr lang="en-US" sz="1600" b="1" dirty="0">
              <a:solidFill>
                <a:schemeClr val="bg1"/>
              </a:solidFill>
              <a:latin typeface="+mn-lt"/>
            </a:endParaRPr>
          </a:p>
          <a:p>
            <a:pPr>
              <a:lnSpc>
                <a:spcPct val="100000"/>
              </a:lnSpc>
              <a:spcBef>
                <a:spcPts val="1000"/>
              </a:spcBef>
            </a:pPr>
            <a:endParaRPr lang="en-US" sz="1600" b="1" dirty="0">
              <a:solidFill>
                <a:schemeClr val="bg1"/>
              </a:solidFill>
              <a:latin typeface="+mn-lt"/>
            </a:endParaRPr>
          </a:p>
          <a:p>
            <a:pPr>
              <a:lnSpc>
                <a:spcPct val="100000"/>
              </a:lnSpc>
              <a:spcBef>
                <a:spcPts val="1000"/>
              </a:spcBef>
            </a:pPr>
            <a:r>
              <a:rPr lang="en-US" sz="1600" b="1" dirty="0">
                <a:solidFill>
                  <a:schemeClr val="bg1"/>
                </a:solidFill>
                <a:latin typeface="+mn-lt"/>
              </a:rPr>
              <a:t>kpmg.com/in</a:t>
            </a:r>
            <a:endParaRPr lang="LID4096" sz="1600" b="1">
              <a:solidFill>
                <a:schemeClr val="bg1"/>
              </a:solidFill>
              <a:latin typeface="+mn-lt"/>
            </a:endParaRPr>
          </a:p>
          <a:p>
            <a:pPr>
              <a:lnSpc>
                <a:spcPct val="100000"/>
              </a:lnSpc>
              <a:spcBef>
                <a:spcPts val="1000"/>
              </a:spcBef>
            </a:pPr>
            <a:endParaRPr lang="en-US" sz="1600" b="1" dirty="0">
              <a:solidFill>
                <a:schemeClr val="bg1"/>
              </a:solidFill>
              <a:latin typeface="+mn-lt"/>
            </a:endParaRPr>
          </a:p>
        </p:txBody>
      </p:sp>
    </p:spTree>
    <p:extLst>
      <p:ext uri="{BB962C8B-B14F-4D97-AF65-F5344CB8AC3E}">
        <p14:creationId xmlns:p14="http://schemas.microsoft.com/office/powerpoint/2010/main" val="3816610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D0841-DD1D-4DD5-9FFE-2AE0EF15EC3C}"/>
            </a:ext>
          </a:extLst>
        </p:cNvPr>
        <p:cNvGrpSpPr/>
        <p:nvPr/>
      </p:nvGrpSpPr>
      <p:grpSpPr>
        <a:xfrm>
          <a:off x="0" y="0"/>
          <a:ext cx="0" cy="0"/>
          <a:chOff x="0" y="0"/>
          <a:chExt cx="0" cy="0"/>
        </a:xfrm>
      </p:grpSpPr>
      <p:sp>
        <p:nvSpPr>
          <p:cNvPr id="502" name="object 2">
            <a:extLst>
              <a:ext uri="{FF2B5EF4-FFF2-40B4-BE49-F238E27FC236}">
                <a16:creationId xmlns:a16="http://schemas.microsoft.com/office/drawing/2014/main" id="{A5DF048C-9174-8B41-FAE7-906E2E8F4417}"/>
              </a:ext>
            </a:extLst>
          </p:cNvPr>
          <p:cNvSpPr/>
          <p:nvPr/>
        </p:nvSpPr>
        <p:spPr>
          <a:xfrm>
            <a:off x="0" y="0"/>
            <a:ext cx="12191999" cy="809469"/>
          </a:xfrm>
          <a:custGeom>
            <a:avLst/>
            <a:gdLst/>
            <a:ahLst/>
            <a:cxnLst/>
            <a:rect l="l" t="t" r="r" b="b"/>
            <a:pathLst>
              <a:path w="12192000" h="1188720">
                <a:moveTo>
                  <a:pt x="0" y="1188212"/>
                </a:moveTo>
                <a:lnTo>
                  <a:pt x="12192000" y="1188212"/>
                </a:lnTo>
                <a:lnTo>
                  <a:pt x="12192000" y="0"/>
                </a:lnTo>
                <a:lnTo>
                  <a:pt x="0" y="0"/>
                </a:lnTo>
                <a:lnTo>
                  <a:pt x="0" y="1188212"/>
                </a:lnTo>
                <a:close/>
              </a:path>
            </a:pathLst>
          </a:custGeom>
          <a:solidFill>
            <a:srgbClr val="00338D"/>
          </a:solidFill>
        </p:spPr>
        <p:txBody>
          <a:bodyPr wrap="square" lIns="0" tIns="0" rIns="0" bIns="0" rtlCol="0"/>
          <a:lstStyle/>
          <a:p>
            <a:endParaRPr dirty="0"/>
          </a:p>
        </p:txBody>
      </p:sp>
      <p:sp>
        <p:nvSpPr>
          <p:cNvPr id="503" name="object 4">
            <a:extLst>
              <a:ext uri="{FF2B5EF4-FFF2-40B4-BE49-F238E27FC236}">
                <a16:creationId xmlns:a16="http://schemas.microsoft.com/office/drawing/2014/main" id="{73ECDCE1-D5D8-256D-ADFF-490BD0A317A6}"/>
              </a:ext>
            </a:extLst>
          </p:cNvPr>
          <p:cNvSpPr txBox="1">
            <a:spLocks/>
          </p:cNvSpPr>
          <p:nvPr/>
        </p:nvSpPr>
        <p:spPr>
          <a:xfrm>
            <a:off x="0" y="0"/>
            <a:ext cx="13185647" cy="688650"/>
          </a:xfrm>
          <a:prstGeom prst="rect">
            <a:avLst/>
          </a:prstGeom>
        </p:spPr>
        <p:txBody>
          <a:bodyPr vert="horz" wrap="square" lIns="0" tIns="11430" rIns="0" bIns="0" rtlCol="0" anchor="t" anchorCtr="0">
            <a:sp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pPr marL="12700">
              <a:lnSpc>
                <a:spcPct val="100000"/>
              </a:lnSpc>
              <a:spcBef>
                <a:spcPts val="90"/>
              </a:spcBef>
            </a:pPr>
            <a:r>
              <a:rPr lang="en-US" b="1" spc="5" dirty="0">
                <a:solidFill>
                  <a:schemeClr val="bg1"/>
                </a:solidFill>
                <a:latin typeface="+mn-lt"/>
              </a:rPr>
              <a:t>Status Update as on 14th May 2026</a:t>
            </a:r>
            <a:endParaRPr lang="en-US" b="1" spc="5" baseline="30000" dirty="0">
              <a:solidFill>
                <a:schemeClr val="bg1"/>
              </a:solidFill>
              <a:latin typeface="+mn-lt"/>
            </a:endParaRPr>
          </a:p>
        </p:txBody>
      </p:sp>
      <p:graphicFrame>
        <p:nvGraphicFramePr>
          <p:cNvPr id="2" name="Table 1">
            <a:extLst>
              <a:ext uri="{FF2B5EF4-FFF2-40B4-BE49-F238E27FC236}">
                <a16:creationId xmlns:a16="http://schemas.microsoft.com/office/drawing/2014/main" id="{C49041CE-FFD9-BA0D-034C-1FBB0FF16864}"/>
              </a:ext>
            </a:extLst>
          </p:cNvPr>
          <p:cNvGraphicFramePr>
            <a:graphicFrameLocks noGrp="1"/>
          </p:cNvGraphicFramePr>
          <p:nvPr>
            <p:extLst>
              <p:ext uri="{D42A27DB-BD31-4B8C-83A1-F6EECF244321}">
                <p14:modId xmlns:p14="http://schemas.microsoft.com/office/powerpoint/2010/main" val="371359811"/>
              </p:ext>
            </p:extLst>
          </p:nvPr>
        </p:nvGraphicFramePr>
        <p:xfrm>
          <a:off x="174568" y="965660"/>
          <a:ext cx="11804072" cy="5030679"/>
        </p:xfrm>
        <a:graphic>
          <a:graphicData uri="http://schemas.openxmlformats.org/drawingml/2006/table">
            <a:tbl>
              <a:tblPr firstRow="1" bandRow="1">
                <a:tableStyleId>{69012ECD-51FC-41F1-AA8D-1B2483CD663E}</a:tableStyleId>
              </a:tblPr>
              <a:tblGrid>
                <a:gridCol w="1441589">
                  <a:extLst>
                    <a:ext uri="{9D8B030D-6E8A-4147-A177-3AD203B41FA5}">
                      <a16:colId xmlns:a16="http://schemas.microsoft.com/office/drawing/2014/main" val="3211311532"/>
                    </a:ext>
                  </a:extLst>
                </a:gridCol>
                <a:gridCol w="10362483">
                  <a:extLst>
                    <a:ext uri="{9D8B030D-6E8A-4147-A177-3AD203B41FA5}">
                      <a16:colId xmlns:a16="http://schemas.microsoft.com/office/drawing/2014/main" val="3692324488"/>
                    </a:ext>
                  </a:extLst>
                </a:gridCol>
              </a:tblGrid>
              <a:tr h="390136">
                <a:tc>
                  <a:txBody>
                    <a:bodyPr/>
                    <a:lstStyle/>
                    <a:p>
                      <a:pPr algn="ctr"/>
                      <a:r>
                        <a:rPr lang="en-US" sz="1400" dirty="0"/>
                        <a:t>Area</a:t>
                      </a:r>
                      <a:endParaRPr lang="en-US" sz="1400"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38D"/>
                    </a:solidFill>
                  </a:tcPr>
                </a:tc>
                <a:tc>
                  <a:txBody>
                    <a:bodyPr/>
                    <a:lstStyle/>
                    <a:p>
                      <a:pPr algn="ctr"/>
                      <a:r>
                        <a:rPr lang="en-US" sz="1400" dirty="0"/>
                        <a:t>Issue Noted</a:t>
                      </a:r>
                      <a:endParaRPr lang="en-US" sz="1400"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38D"/>
                    </a:solidFill>
                  </a:tcPr>
                </a:tc>
                <a:extLst>
                  <a:ext uri="{0D108BD9-81ED-4DB2-BD59-A6C34878D82A}">
                    <a16:rowId xmlns:a16="http://schemas.microsoft.com/office/drawing/2014/main" val="2854301825"/>
                  </a:ext>
                </a:extLst>
              </a:tr>
              <a:tr h="2661475">
                <a:tc>
                  <a:txBody>
                    <a:bodyPr/>
                    <a:lstStyle/>
                    <a:p>
                      <a:r>
                        <a:rPr lang="en-US" sz="1200" b="1" dirty="0"/>
                        <a:t>Master data management</a:t>
                      </a:r>
                      <a:endParaRPr lang="en-US" sz="12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ctr"/>
                      <a:r>
                        <a:rPr lang="en-US" sz="1100" b="1" kern="1200" dirty="0">
                          <a:solidFill>
                            <a:schemeClr val="dk1"/>
                          </a:solidFill>
                          <a:effectLst/>
                        </a:rPr>
                        <a:t>Asset Register:</a:t>
                      </a:r>
                      <a:endParaRPr lang="en-US" sz="1100" kern="1200" dirty="0">
                        <a:solidFill>
                          <a:schemeClr val="dk1"/>
                        </a:solidFill>
                        <a:effectLst/>
                      </a:endParaRPr>
                    </a:p>
                    <a:p>
                      <a:pPr marL="171450" lvl="0" indent="-171450" rtl="0" fontAlgn="ctr">
                        <a:buFont typeface="Arial" panose="020B0604020202020204" pitchFamily="34" charset="0"/>
                        <a:buChar char="•"/>
                      </a:pPr>
                      <a:r>
                        <a:rPr lang="en-US" sz="1100" kern="1200" dirty="0">
                          <a:solidFill>
                            <a:schemeClr val="dk1"/>
                          </a:solidFill>
                          <a:effectLst/>
                        </a:rPr>
                        <a:t>Instances of duplicate and missing serial numbers were observed.</a:t>
                      </a:r>
                    </a:p>
                    <a:p>
                      <a:pPr marL="171450" lvl="0" indent="-171450" rtl="0" fontAlgn="ctr">
                        <a:buFont typeface="Arial" panose="020B0604020202020204" pitchFamily="34" charset="0"/>
                        <a:buChar char="•"/>
                      </a:pPr>
                      <a:r>
                        <a:rPr lang="en-US" sz="1100" kern="1200" dirty="0">
                          <a:solidFill>
                            <a:schemeClr val="dk1"/>
                          </a:solidFill>
                          <a:effectLst/>
                        </a:rPr>
                        <a:t>Custodian/user details for computers are not maintained in several cases.</a:t>
                      </a:r>
                    </a:p>
                    <a:p>
                      <a:pPr marL="171450" lvl="0" indent="-171450" rtl="0" fontAlgn="ctr">
                        <a:buFont typeface="Arial" panose="020B0604020202020204" pitchFamily="34" charset="0"/>
                        <a:buChar char="•"/>
                      </a:pPr>
                      <a:r>
                        <a:rPr lang="en-US" sz="1100" kern="1200" dirty="0">
                          <a:solidFill>
                            <a:schemeClr val="dk1"/>
                          </a:solidFill>
                          <a:effectLst/>
                        </a:rPr>
                        <a:t>Key location details such as department, floor, and location are incomplete, resulting in unclear ownership and limited physical traceability.</a:t>
                      </a:r>
                    </a:p>
                    <a:p>
                      <a:pPr marL="171450" lvl="0" indent="-171450" rtl="0" fontAlgn="ctr">
                        <a:buFont typeface="Arial" panose="020B0604020202020204" pitchFamily="34" charset="0"/>
                        <a:buChar char="•"/>
                      </a:pPr>
                      <a:r>
                        <a:rPr lang="en-US" sz="1100" kern="1200" dirty="0">
                          <a:solidFill>
                            <a:schemeClr val="dk1"/>
                          </a:solidFill>
                          <a:effectLst/>
                        </a:rPr>
                        <a:t>Critical data fields including asset quantity, cost, capitalization date, useful life, depreciation method, accumulated depreciation, net book value, and residual value are not consistently captured.</a:t>
                      </a:r>
                    </a:p>
                    <a:p>
                      <a:pPr rtl="0" fontAlgn="ctr"/>
                      <a:r>
                        <a:rPr lang="en-US" sz="1100" b="1" kern="1200" dirty="0">
                          <a:solidFill>
                            <a:schemeClr val="dk1"/>
                          </a:solidFill>
                          <a:effectLst/>
                        </a:rPr>
                        <a:t>Employee Master:</a:t>
                      </a:r>
                      <a:endParaRPr lang="en-US" sz="1100" kern="1200" dirty="0">
                        <a:solidFill>
                          <a:schemeClr val="dk1"/>
                        </a:solidFill>
                        <a:effectLst/>
                      </a:endParaRPr>
                    </a:p>
                    <a:p>
                      <a:pPr marL="171450" lvl="0" indent="-171450" rtl="0" fontAlgn="ctr">
                        <a:buFont typeface="Arial" panose="020B0604020202020204" pitchFamily="34" charset="0"/>
                        <a:buChar char="•"/>
                      </a:pPr>
                      <a:r>
                        <a:rPr lang="en-US" sz="1100" kern="1200" dirty="0">
                          <a:solidFill>
                            <a:schemeClr val="dk1"/>
                          </a:solidFill>
                          <a:effectLst/>
                        </a:rPr>
                        <a:t>Missing and incorrect PAN and National ID details were observed.</a:t>
                      </a:r>
                    </a:p>
                    <a:p>
                      <a:pPr marL="171450" lvl="0" indent="-171450" rtl="0" fontAlgn="ctr">
                        <a:buFont typeface="Arial" panose="020B0604020202020204" pitchFamily="34" charset="0"/>
                        <a:buChar char="•"/>
                      </a:pPr>
                      <a:r>
                        <a:rPr lang="en-US" sz="1100" kern="1200" dirty="0">
                          <a:solidFill>
                            <a:schemeClr val="dk1"/>
                          </a:solidFill>
                          <a:effectLst/>
                        </a:rPr>
                        <a:t>Cases identified where the reporting manager and employee are recorded as the same individual.</a:t>
                      </a:r>
                    </a:p>
                    <a:p>
                      <a:pPr marL="171450" lvl="0" indent="-171450" rtl="0" fontAlgn="ctr">
                        <a:buFont typeface="Arial" panose="020B0604020202020204" pitchFamily="34" charset="0"/>
                        <a:buChar char="•"/>
                      </a:pPr>
                      <a:r>
                        <a:rPr lang="en-US" sz="1100" kern="1200" dirty="0">
                          <a:solidFill>
                            <a:schemeClr val="dk1"/>
                          </a:solidFill>
                          <a:effectLst/>
                        </a:rPr>
                        <a:t>Instances noted where contract/training end dates have lapsed; however, salaries continue to be reflected as payable (e.g., March 2026 payroll).</a:t>
                      </a:r>
                    </a:p>
                    <a:p>
                      <a:pPr marL="171450" lvl="0" indent="-171450" rtl="0" fontAlgn="ctr">
                        <a:buFont typeface="Arial" panose="020B0604020202020204" pitchFamily="34" charset="0"/>
                        <a:buChar char="•"/>
                      </a:pPr>
                      <a:r>
                        <a:rPr lang="en-US" sz="1100" kern="1200" dirty="0">
                          <a:solidFill>
                            <a:schemeClr val="dk1"/>
                          </a:solidFill>
                          <a:effectLst/>
                        </a:rPr>
                        <a:t>Several key fields such as bank details, UAN number, emergency contact, nationality, employee status, and confirmation/exit/resignation dates are either missing or incomplete, impacting data reliability.</a:t>
                      </a:r>
                    </a:p>
                    <a:p>
                      <a:pPr rtl="0" fontAlgn="ctr"/>
                      <a:r>
                        <a:rPr lang="en-US" sz="1100" b="1" kern="1200" dirty="0">
                          <a:solidFill>
                            <a:schemeClr val="dk1"/>
                          </a:solidFill>
                          <a:effectLst/>
                        </a:rPr>
                        <a:t>Item Master:</a:t>
                      </a:r>
                      <a:endParaRPr lang="en-US" sz="1100" kern="1200" dirty="0">
                        <a:solidFill>
                          <a:schemeClr val="dk1"/>
                        </a:solidFill>
                        <a:effectLst/>
                      </a:endParaRPr>
                    </a:p>
                    <a:p>
                      <a:pPr marL="171450" lvl="0" indent="-171450" rtl="0" fontAlgn="ctr">
                        <a:buFont typeface="Arial" panose="020B0604020202020204" pitchFamily="34" charset="0"/>
                        <a:buChar char="•"/>
                      </a:pPr>
                      <a:r>
                        <a:rPr lang="en-US" sz="1100" kern="1200" dirty="0">
                          <a:solidFill>
                            <a:schemeClr val="dk1"/>
                          </a:solidFill>
                          <a:effectLst/>
                        </a:rPr>
                        <a:t>Same items are categorized under multiple categories.</a:t>
                      </a:r>
                    </a:p>
                    <a:p>
                      <a:pPr marL="171450" lvl="0" indent="-171450" rtl="0" fontAlgn="ctr">
                        <a:buFont typeface="Arial" panose="020B0604020202020204" pitchFamily="34" charset="0"/>
                        <a:buChar char="•"/>
                      </a:pPr>
                      <a:r>
                        <a:rPr lang="en-US" sz="1100" kern="1200" dirty="0">
                          <a:solidFill>
                            <a:schemeClr val="dk1"/>
                          </a:solidFill>
                          <a:effectLst/>
                        </a:rPr>
                        <a:t>Certain items are incorrectly tagged as both consumables and assets.</a:t>
                      </a:r>
                    </a:p>
                    <a:p>
                      <a:endParaRPr lang="en-US" sz="1100"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2993860"/>
                  </a:ext>
                </a:extLst>
              </a:tr>
              <a:tr h="1090243">
                <a:tc>
                  <a:txBody>
                    <a:bodyPr/>
                    <a:lstStyle/>
                    <a:p>
                      <a:pPr marL="0" algn="l" defTabSz="914400" rtl="0" eaLnBrk="1" latinLnBrk="0" hangingPunct="1"/>
                      <a:r>
                        <a:rPr lang="en-US" sz="1200" b="1" kern="1200" dirty="0">
                          <a:solidFill>
                            <a:schemeClr val="dk1"/>
                          </a:solidFill>
                        </a:rPr>
                        <a:t>Revenue and receivable</a:t>
                      </a:r>
                      <a:endParaRPr lang="en-US" sz="1200" b="1" kern="1200" dirty="0">
                        <a:solidFill>
                          <a:schemeClr val="dk1"/>
                        </a:solidFill>
                        <a:latin typeface="Century Gothic" panose="020B0502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100" b="1" kern="1200" dirty="0">
                          <a:solidFill>
                            <a:schemeClr val="dk1"/>
                          </a:solidFill>
                          <a:effectLst/>
                        </a:rPr>
                        <a:t>Treating Doctor’s report(billing data)</a:t>
                      </a:r>
                      <a:endParaRPr lang="en-US" sz="1100" kern="1200" dirty="0">
                        <a:solidFill>
                          <a:schemeClr val="dk1"/>
                        </a:solidFill>
                        <a:effectLst/>
                      </a:endParaRPr>
                    </a:p>
                    <a:p>
                      <a:pPr marL="171450" lvl="0" indent="-171450" algn="l" defTabSz="914400" rtl="0" eaLnBrk="1" fontAlgn="ctr" latinLnBrk="0" hangingPunct="1">
                        <a:buFont typeface="Arial" panose="020B0604020202020204" pitchFamily="34" charset="0"/>
                        <a:buChar char="•"/>
                      </a:pPr>
                      <a:r>
                        <a:rPr lang="en-US" sz="1100" kern="1200" dirty="0">
                          <a:solidFill>
                            <a:schemeClr val="dk1"/>
                          </a:solidFill>
                          <a:effectLst/>
                        </a:rPr>
                        <a:t>Duplicate bill numbers were identified.</a:t>
                      </a:r>
                    </a:p>
                    <a:p>
                      <a:pPr marL="171450" lvl="0" indent="-171450" algn="l" defTabSz="914400" rtl="0" eaLnBrk="1" fontAlgn="ctr" latinLnBrk="0" hangingPunct="1">
                        <a:buFont typeface="Arial" panose="020B0604020202020204" pitchFamily="34" charset="0"/>
                        <a:buChar char="•"/>
                      </a:pPr>
                      <a:r>
                        <a:rPr lang="en-US" sz="1100" kern="1200" dirty="0">
                          <a:solidFill>
                            <a:schemeClr val="dk1"/>
                          </a:solidFill>
                          <a:effectLst/>
                        </a:rPr>
                        <a:t>Critical information such as admission number, admission date, discharge date, service code, company name, room category, and bed number (for IP patients) is missing in several cases.</a:t>
                      </a:r>
                    </a:p>
                    <a:p>
                      <a:pPr marL="171450" lvl="0" indent="-171450" algn="l" defTabSz="914400" rtl="0" eaLnBrk="1" fontAlgn="ctr" latinLnBrk="0" hangingPunct="1">
                        <a:buFont typeface="Arial" panose="020B0604020202020204" pitchFamily="34" charset="0"/>
                        <a:buChar char="•"/>
                      </a:pPr>
                      <a:r>
                        <a:rPr lang="en-US" sz="1100" kern="1200" dirty="0">
                          <a:solidFill>
                            <a:schemeClr val="dk1"/>
                          </a:solidFill>
                          <a:effectLst/>
                        </a:rPr>
                        <a:t>A common HIS ID is being used for processing approvals related to refunds and IP bill cancellations, limiting accountability and audit traceability.</a:t>
                      </a:r>
                    </a:p>
                    <a:p>
                      <a:endParaRPr lang="en-US" sz="1100"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38447"/>
                  </a:ext>
                </a:extLst>
              </a:tr>
              <a:tr h="769583">
                <a:tc>
                  <a:txBody>
                    <a:bodyPr/>
                    <a:lstStyle/>
                    <a:p>
                      <a:pPr marL="0" algn="l" defTabSz="914400" rtl="0" eaLnBrk="1" latinLnBrk="0" hangingPunct="1"/>
                      <a:r>
                        <a:rPr lang="en-US" sz="1200" b="1" kern="1200" dirty="0">
                          <a:solidFill>
                            <a:schemeClr val="dk1"/>
                          </a:solidFill>
                        </a:rPr>
                        <a:t>Material and stores</a:t>
                      </a:r>
                      <a:endParaRPr lang="en-US" sz="1200" b="1" kern="1200" dirty="0">
                        <a:solidFill>
                          <a:schemeClr val="dk1"/>
                        </a:solidFill>
                        <a:latin typeface="Century Gothic" panose="020B0502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lvl="0" indent="-171450" algn="l" defTabSz="914400" rtl="0" eaLnBrk="1" fontAlgn="ctr" latinLnBrk="0" hangingPunct="1">
                        <a:buFont typeface="Arial" panose="020B0604020202020204" pitchFamily="34" charset="0"/>
                        <a:buChar char="•"/>
                      </a:pPr>
                      <a:r>
                        <a:rPr lang="en-US" sz="1100" kern="1200" dirty="0">
                          <a:solidFill>
                            <a:schemeClr val="dk1"/>
                          </a:solidFill>
                          <a:effectLst/>
                        </a:rPr>
                        <a:t>Same purchase order (PO) numbers are assigned to multiple vendors.</a:t>
                      </a:r>
                    </a:p>
                    <a:p>
                      <a:pPr marL="171450" lvl="0" indent="-171450" algn="l" defTabSz="914400" rtl="0" eaLnBrk="1" fontAlgn="ctr" latinLnBrk="0" hangingPunct="1">
                        <a:buFont typeface="Arial" panose="020B0604020202020204" pitchFamily="34" charset="0"/>
                        <a:buChar char="•"/>
                      </a:pPr>
                      <a:r>
                        <a:rPr lang="en-US" sz="1100" kern="1200" dirty="0">
                          <a:solidFill>
                            <a:schemeClr val="dk1"/>
                          </a:solidFill>
                          <a:effectLst/>
                        </a:rPr>
                        <a:t>Open purchase orders with expired validity were observed.</a:t>
                      </a:r>
                    </a:p>
                    <a:p>
                      <a:pPr marL="171450" lvl="0" indent="-171450" algn="l" defTabSz="914400" rtl="0" eaLnBrk="1" fontAlgn="ctr" latinLnBrk="0" hangingPunct="1">
                        <a:buFont typeface="Arial" panose="020B0604020202020204" pitchFamily="34" charset="0"/>
                        <a:buChar char="•"/>
                      </a:pPr>
                      <a:r>
                        <a:rPr lang="en-US" sz="1100" kern="1200" dirty="0">
                          <a:solidFill>
                            <a:schemeClr val="dk1"/>
                          </a:solidFill>
                          <a:effectLst/>
                        </a:rPr>
                        <a:t>Same Goods Receipt Note (GRN) numbers are being used across multiple vendors.</a:t>
                      </a:r>
                    </a:p>
                    <a:p>
                      <a:endParaRPr lang="en-US" sz="1100"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5126721"/>
                  </a:ext>
                </a:extLst>
              </a:tr>
            </a:tbl>
          </a:graphicData>
        </a:graphic>
      </p:graphicFrame>
    </p:spTree>
    <p:extLst>
      <p:ext uri="{BB962C8B-B14F-4D97-AF65-F5344CB8AC3E}">
        <p14:creationId xmlns:p14="http://schemas.microsoft.com/office/powerpoint/2010/main" val="4082101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1999" cy="6857999"/>
          </a:xfrm>
          <a:prstGeom prst="rect">
            <a:avLst/>
          </a:prstGeom>
          <a:blipFill>
            <a:blip r:embed="rId3" cstate="email">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3" name="object 3"/>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7012EA">
              <a:alpha val="43920"/>
            </a:srgbClr>
          </a:solidFill>
        </p:spPr>
        <p:txBody>
          <a:bodyPr wrap="square" lIns="0" tIns="0" rIns="0" bIns="0" rtlCol="0"/>
          <a:lstStyle/>
          <a:p>
            <a:endParaRPr dirty="0"/>
          </a:p>
        </p:txBody>
      </p:sp>
      <p:sp>
        <p:nvSpPr>
          <p:cNvPr id="4" name="object 4"/>
          <p:cNvSpPr txBox="1">
            <a:spLocks noGrp="1"/>
          </p:cNvSpPr>
          <p:nvPr>
            <p:ph type="title"/>
          </p:nvPr>
        </p:nvSpPr>
        <p:spPr>
          <a:xfrm>
            <a:off x="1025397" y="1377391"/>
            <a:ext cx="6655563" cy="1090042"/>
          </a:xfrm>
          <a:prstGeom prst="rect">
            <a:avLst/>
          </a:prstGeom>
        </p:spPr>
        <p:txBody>
          <a:bodyPr vert="horz" wrap="square" lIns="0" tIns="12700" rIns="0" bIns="0" rtlCol="0">
            <a:spAutoFit/>
          </a:bodyPr>
          <a:lstStyle/>
          <a:p>
            <a:pPr marL="12700">
              <a:lnSpc>
                <a:spcPct val="100000"/>
              </a:lnSpc>
              <a:spcBef>
                <a:spcPts val="100"/>
              </a:spcBef>
            </a:pPr>
            <a:r>
              <a:rPr sz="7000" dirty="0">
                <a:solidFill>
                  <a:srgbClr val="FFFFFF"/>
                </a:solidFill>
                <a:latin typeface="+mn-lt"/>
              </a:rPr>
              <a:t>Thank</a:t>
            </a:r>
            <a:r>
              <a:rPr sz="7000" spc="-170" dirty="0">
                <a:solidFill>
                  <a:srgbClr val="FFFFFF"/>
                </a:solidFill>
                <a:latin typeface="+mn-lt"/>
              </a:rPr>
              <a:t> </a:t>
            </a:r>
            <a:r>
              <a:rPr sz="7000" dirty="0">
                <a:solidFill>
                  <a:srgbClr val="FFFFFF"/>
                </a:solidFill>
                <a:latin typeface="+mn-lt"/>
              </a:rPr>
              <a:t>You</a:t>
            </a:r>
            <a:endParaRPr sz="7000" dirty="0">
              <a:latin typeface="+mn-lt"/>
            </a:endParaRPr>
          </a:p>
        </p:txBody>
      </p:sp>
      <p:sp>
        <p:nvSpPr>
          <p:cNvPr id="5" name="object 5"/>
          <p:cNvSpPr/>
          <p:nvPr/>
        </p:nvSpPr>
        <p:spPr>
          <a:xfrm>
            <a:off x="1815054" y="896057"/>
            <a:ext cx="223748" cy="96316"/>
          </a:xfrm>
          <a:prstGeom prst="rect">
            <a:avLst/>
          </a:prstGeom>
          <a:blipFill>
            <a:blip r:embed="rId4" cstate="email">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6" name="object 6"/>
          <p:cNvSpPr/>
          <p:nvPr/>
        </p:nvSpPr>
        <p:spPr>
          <a:xfrm>
            <a:off x="1037838" y="553212"/>
            <a:ext cx="1079500" cy="435609"/>
          </a:xfrm>
          <a:custGeom>
            <a:avLst/>
            <a:gdLst/>
            <a:ahLst/>
            <a:cxnLst/>
            <a:rect l="l" t="t" r="r" b="b"/>
            <a:pathLst>
              <a:path w="1079500" h="435609">
                <a:moveTo>
                  <a:pt x="301320" y="0"/>
                </a:moveTo>
                <a:lnTo>
                  <a:pt x="61023" y="0"/>
                </a:lnTo>
                <a:lnTo>
                  <a:pt x="61023" y="227329"/>
                </a:lnTo>
                <a:lnTo>
                  <a:pt x="0" y="435356"/>
                </a:lnTo>
                <a:lnTo>
                  <a:pt x="53390" y="435356"/>
                </a:lnTo>
                <a:lnTo>
                  <a:pt x="80086" y="342849"/>
                </a:lnTo>
                <a:lnTo>
                  <a:pt x="1079245" y="342849"/>
                </a:lnTo>
                <a:lnTo>
                  <a:pt x="1079245" y="335089"/>
                </a:lnTo>
                <a:lnTo>
                  <a:pt x="148729" y="335089"/>
                </a:lnTo>
                <a:lnTo>
                  <a:pt x="141109" y="315899"/>
                </a:lnTo>
                <a:lnTo>
                  <a:pt x="160210" y="296583"/>
                </a:lnTo>
                <a:lnTo>
                  <a:pt x="95338" y="296583"/>
                </a:lnTo>
                <a:lnTo>
                  <a:pt x="122047" y="200266"/>
                </a:lnTo>
                <a:lnTo>
                  <a:pt x="68656" y="200266"/>
                </a:lnTo>
                <a:lnTo>
                  <a:pt x="68656" y="7746"/>
                </a:lnTo>
                <a:lnTo>
                  <a:pt x="301320" y="7747"/>
                </a:lnTo>
                <a:lnTo>
                  <a:pt x="301320" y="0"/>
                </a:lnTo>
                <a:close/>
              </a:path>
            </a:pathLst>
          </a:custGeom>
          <a:solidFill>
            <a:srgbClr val="FFFFFF"/>
          </a:solidFill>
        </p:spPr>
        <p:txBody>
          <a:bodyPr wrap="square" lIns="0" tIns="0" rIns="0" bIns="0" rtlCol="0"/>
          <a:lstStyle/>
          <a:p>
            <a:endParaRPr dirty="0"/>
          </a:p>
        </p:txBody>
      </p:sp>
      <p:sp>
        <p:nvSpPr>
          <p:cNvPr id="7" name="object 7"/>
          <p:cNvSpPr/>
          <p:nvPr/>
        </p:nvSpPr>
        <p:spPr>
          <a:xfrm>
            <a:off x="1125560" y="896057"/>
            <a:ext cx="111125" cy="92710"/>
          </a:xfrm>
          <a:custGeom>
            <a:avLst/>
            <a:gdLst/>
            <a:ahLst/>
            <a:cxnLst/>
            <a:rect l="l" t="t" r="r" b="b"/>
            <a:pathLst>
              <a:path w="111125" h="92709">
                <a:moveTo>
                  <a:pt x="64820" y="0"/>
                </a:moveTo>
                <a:lnTo>
                  <a:pt x="0" y="0"/>
                </a:lnTo>
                <a:lnTo>
                  <a:pt x="45758" y="92506"/>
                </a:lnTo>
                <a:lnTo>
                  <a:pt x="110591" y="92506"/>
                </a:lnTo>
                <a:lnTo>
                  <a:pt x="64820" y="0"/>
                </a:lnTo>
                <a:close/>
              </a:path>
            </a:pathLst>
          </a:custGeom>
          <a:solidFill>
            <a:srgbClr val="FFFFFF"/>
          </a:solidFill>
        </p:spPr>
        <p:txBody>
          <a:bodyPr wrap="square" lIns="0" tIns="0" rIns="0" bIns="0" rtlCol="0"/>
          <a:lstStyle/>
          <a:p>
            <a:endParaRPr dirty="0"/>
          </a:p>
        </p:txBody>
      </p:sp>
      <p:sp>
        <p:nvSpPr>
          <p:cNvPr id="8" name="object 8"/>
          <p:cNvSpPr/>
          <p:nvPr/>
        </p:nvSpPr>
        <p:spPr>
          <a:xfrm>
            <a:off x="1262846" y="896057"/>
            <a:ext cx="84455" cy="92710"/>
          </a:xfrm>
          <a:custGeom>
            <a:avLst/>
            <a:gdLst/>
            <a:ahLst/>
            <a:cxnLst/>
            <a:rect l="l" t="t" r="r" b="b"/>
            <a:pathLst>
              <a:path w="84455" h="92709">
                <a:moveTo>
                  <a:pt x="83934" y="0"/>
                </a:moveTo>
                <a:lnTo>
                  <a:pt x="26644" y="0"/>
                </a:lnTo>
                <a:lnTo>
                  <a:pt x="0" y="92506"/>
                </a:lnTo>
                <a:lnTo>
                  <a:pt x="57264" y="92506"/>
                </a:lnTo>
                <a:lnTo>
                  <a:pt x="83934" y="0"/>
                </a:lnTo>
                <a:close/>
              </a:path>
            </a:pathLst>
          </a:custGeom>
          <a:solidFill>
            <a:srgbClr val="FFFFFF"/>
          </a:solidFill>
        </p:spPr>
        <p:txBody>
          <a:bodyPr wrap="square" lIns="0" tIns="0" rIns="0" bIns="0" rtlCol="0"/>
          <a:lstStyle/>
          <a:p>
            <a:endParaRPr dirty="0"/>
          </a:p>
        </p:txBody>
      </p:sp>
      <p:sp>
        <p:nvSpPr>
          <p:cNvPr id="9" name="object 9"/>
          <p:cNvSpPr/>
          <p:nvPr/>
        </p:nvSpPr>
        <p:spPr>
          <a:xfrm>
            <a:off x="1464913" y="896057"/>
            <a:ext cx="88265" cy="92710"/>
          </a:xfrm>
          <a:custGeom>
            <a:avLst/>
            <a:gdLst/>
            <a:ahLst/>
            <a:cxnLst/>
            <a:rect l="l" t="t" r="r" b="b"/>
            <a:pathLst>
              <a:path w="88265" h="92709">
                <a:moveTo>
                  <a:pt x="87782" y="0"/>
                </a:moveTo>
                <a:lnTo>
                  <a:pt x="26809" y="0"/>
                </a:lnTo>
                <a:lnTo>
                  <a:pt x="0" y="92506"/>
                </a:lnTo>
                <a:lnTo>
                  <a:pt x="61112" y="92506"/>
                </a:lnTo>
                <a:lnTo>
                  <a:pt x="87782" y="0"/>
                </a:lnTo>
                <a:close/>
              </a:path>
            </a:pathLst>
          </a:custGeom>
          <a:solidFill>
            <a:srgbClr val="FFFFFF"/>
          </a:solidFill>
        </p:spPr>
        <p:txBody>
          <a:bodyPr wrap="square" lIns="0" tIns="0" rIns="0" bIns="0" rtlCol="0"/>
          <a:lstStyle/>
          <a:p>
            <a:endParaRPr dirty="0"/>
          </a:p>
        </p:txBody>
      </p:sp>
      <p:sp>
        <p:nvSpPr>
          <p:cNvPr id="10" name="object 10"/>
          <p:cNvSpPr/>
          <p:nvPr/>
        </p:nvSpPr>
        <p:spPr>
          <a:xfrm>
            <a:off x="1579370" y="896057"/>
            <a:ext cx="107314" cy="92710"/>
          </a:xfrm>
          <a:custGeom>
            <a:avLst/>
            <a:gdLst/>
            <a:ahLst/>
            <a:cxnLst/>
            <a:rect l="l" t="t" r="r" b="b"/>
            <a:pathLst>
              <a:path w="107314" h="92709">
                <a:moveTo>
                  <a:pt x="106832" y="0"/>
                </a:moveTo>
                <a:lnTo>
                  <a:pt x="0" y="0"/>
                </a:lnTo>
                <a:lnTo>
                  <a:pt x="0" y="92506"/>
                </a:lnTo>
                <a:lnTo>
                  <a:pt x="49542" y="92506"/>
                </a:lnTo>
                <a:lnTo>
                  <a:pt x="106832" y="0"/>
                </a:lnTo>
                <a:close/>
              </a:path>
            </a:pathLst>
          </a:custGeom>
          <a:solidFill>
            <a:srgbClr val="FFFFFF"/>
          </a:solidFill>
        </p:spPr>
        <p:txBody>
          <a:bodyPr wrap="square" lIns="0" tIns="0" rIns="0" bIns="0" rtlCol="0"/>
          <a:lstStyle/>
          <a:p>
            <a:endParaRPr dirty="0"/>
          </a:p>
        </p:txBody>
      </p:sp>
      <p:sp>
        <p:nvSpPr>
          <p:cNvPr id="11" name="object 11"/>
          <p:cNvSpPr/>
          <p:nvPr/>
        </p:nvSpPr>
        <p:spPr>
          <a:xfrm>
            <a:off x="1705263" y="896057"/>
            <a:ext cx="76835" cy="92710"/>
          </a:xfrm>
          <a:custGeom>
            <a:avLst/>
            <a:gdLst/>
            <a:ahLst/>
            <a:cxnLst/>
            <a:rect l="l" t="t" r="r" b="b"/>
            <a:pathLst>
              <a:path w="76835" h="92709">
                <a:moveTo>
                  <a:pt x="76212" y="0"/>
                </a:moveTo>
                <a:lnTo>
                  <a:pt x="19050" y="0"/>
                </a:lnTo>
                <a:lnTo>
                  <a:pt x="0" y="92506"/>
                </a:lnTo>
                <a:lnTo>
                  <a:pt x="57162" y="92506"/>
                </a:lnTo>
                <a:lnTo>
                  <a:pt x="76212" y="0"/>
                </a:lnTo>
                <a:close/>
              </a:path>
            </a:pathLst>
          </a:custGeom>
          <a:solidFill>
            <a:srgbClr val="FFFFFF"/>
          </a:solidFill>
        </p:spPr>
        <p:txBody>
          <a:bodyPr wrap="square" lIns="0" tIns="0" rIns="0" bIns="0" rtlCol="0"/>
          <a:lstStyle/>
          <a:p>
            <a:endParaRPr dirty="0"/>
          </a:p>
        </p:txBody>
      </p:sp>
      <p:sp>
        <p:nvSpPr>
          <p:cNvPr id="12" name="object 12"/>
          <p:cNvSpPr/>
          <p:nvPr/>
        </p:nvSpPr>
        <p:spPr>
          <a:xfrm>
            <a:off x="1941662" y="896057"/>
            <a:ext cx="111125" cy="50165"/>
          </a:xfrm>
          <a:custGeom>
            <a:avLst/>
            <a:gdLst/>
            <a:ahLst/>
            <a:cxnLst/>
            <a:rect l="l" t="t" r="r" b="b"/>
            <a:pathLst>
              <a:path w="111125" h="50165">
                <a:moveTo>
                  <a:pt x="110642" y="0"/>
                </a:moveTo>
                <a:lnTo>
                  <a:pt x="45732" y="0"/>
                </a:lnTo>
                <a:lnTo>
                  <a:pt x="34302" y="46253"/>
                </a:lnTo>
                <a:lnTo>
                  <a:pt x="25717" y="48463"/>
                </a:lnTo>
                <a:lnTo>
                  <a:pt x="17144" y="49593"/>
                </a:lnTo>
                <a:lnTo>
                  <a:pt x="8572" y="50012"/>
                </a:lnTo>
                <a:lnTo>
                  <a:pt x="0" y="50063"/>
                </a:lnTo>
                <a:lnTo>
                  <a:pt x="97129" y="50063"/>
                </a:lnTo>
                <a:lnTo>
                  <a:pt x="110642" y="0"/>
                </a:lnTo>
                <a:close/>
              </a:path>
            </a:pathLst>
          </a:custGeom>
          <a:solidFill>
            <a:srgbClr val="FFFFFF"/>
          </a:solidFill>
        </p:spPr>
        <p:txBody>
          <a:bodyPr wrap="square" lIns="0" tIns="0" rIns="0" bIns="0" rtlCol="0"/>
          <a:lstStyle/>
          <a:p>
            <a:endParaRPr dirty="0"/>
          </a:p>
        </p:txBody>
      </p:sp>
      <p:sp>
        <p:nvSpPr>
          <p:cNvPr id="13" name="object 13"/>
          <p:cNvSpPr/>
          <p:nvPr/>
        </p:nvSpPr>
        <p:spPr>
          <a:xfrm>
            <a:off x="1293299" y="560962"/>
            <a:ext cx="199390" cy="327660"/>
          </a:xfrm>
          <a:custGeom>
            <a:avLst/>
            <a:gdLst/>
            <a:ahLst/>
            <a:cxnLst/>
            <a:rect l="l" t="t" r="r" b="b"/>
            <a:pathLst>
              <a:path w="199390" h="327659">
                <a:moveTo>
                  <a:pt x="45859" y="0"/>
                </a:moveTo>
                <a:lnTo>
                  <a:pt x="34429" y="0"/>
                </a:lnTo>
                <a:lnTo>
                  <a:pt x="34429" y="204076"/>
                </a:lnTo>
                <a:lnTo>
                  <a:pt x="30619" y="215646"/>
                </a:lnTo>
                <a:lnTo>
                  <a:pt x="0" y="323532"/>
                </a:lnTo>
                <a:lnTo>
                  <a:pt x="0" y="327342"/>
                </a:lnTo>
                <a:lnTo>
                  <a:pt x="141135" y="327342"/>
                </a:lnTo>
                <a:lnTo>
                  <a:pt x="161848" y="316636"/>
                </a:lnTo>
                <a:lnTo>
                  <a:pt x="178308" y="301917"/>
                </a:lnTo>
                <a:lnTo>
                  <a:pt x="181838" y="296583"/>
                </a:lnTo>
                <a:lnTo>
                  <a:pt x="68719" y="296583"/>
                </a:lnTo>
                <a:lnTo>
                  <a:pt x="76352" y="269646"/>
                </a:lnTo>
                <a:lnTo>
                  <a:pt x="76352" y="258089"/>
                </a:lnTo>
                <a:lnTo>
                  <a:pt x="83972" y="231152"/>
                </a:lnTo>
                <a:lnTo>
                  <a:pt x="198920" y="231152"/>
                </a:lnTo>
                <a:lnTo>
                  <a:pt x="198882" y="230606"/>
                </a:lnTo>
                <a:lnTo>
                  <a:pt x="176682" y="197446"/>
                </a:lnTo>
                <a:lnTo>
                  <a:pt x="146037" y="192519"/>
                </a:lnTo>
                <a:lnTo>
                  <a:pt x="45859" y="192519"/>
                </a:lnTo>
                <a:lnTo>
                  <a:pt x="45859" y="0"/>
                </a:lnTo>
                <a:close/>
              </a:path>
            </a:pathLst>
          </a:custGeom>
          <a:solidFill>
            <a:srgbClr val="FFFFFF"/>
          </a:solidFill>
        </p:spPr>
        <p:txBody>
          <a:bodyPr wrap="square" lIns="0" tIns="0" rIns="0" bIns="0" rtlCol="0"/>
          <a:lstStyle/>
          <a:p>
            <a:endParaRPr dirty="0"/>
          </a:p>
        </p:txBody>
      </p:sp>
      <p:sp>
        <p:nvSpPr>
          <p:cNvPr id="14" name="object 14"/>
          <p:cNvSpPr/>
          <p:nvPr/>
        </p:nvSpPr>
        <p:spPr>
          <a:xfrm>
            <a:off x="1495529" y="553212"/>
            <a:ext cx="362585" cy="335280"/>
          </a:xfrm>
          <a:custGeom>
            <a:avLst/>
            <a:gdLst/>
            <a:ahLst/>
            <a:cxnLst/>
            <a:rect l="l" t="t" r="r" b="b"/>
            <a:pathLst>
              <a:path w="362585" h="335280">
                <a:moveTo>
                  <a:pt x="362292" y="0"/>
                </a:moveTo>
                <a:lnTo>
                  <a:pt x="121958" y="0"/>
                </a:lnTo>
                <a:lnTo>
                  <a:pt x="121958" y="200266"/>
                </a:lnTo>
                <a:lnTo>
                  <a:pt x="38112" y="200266"/>
                </a:lnTo>
                <a:lnTo>
                  <a:pt x="0" y="335089"/>
                </a:lnTo>
                <a:lnTo>
                  <a:pt x="57162" y="335089"/>
                </a:lnTo>
                <a:lnTo>
                  <a:pt x="80035" y="250456"/>
                </a:lnTo>
                <a:lnTo>
                  <a:pt x="129578" y="250456"/>
                </a:lnTo>
                <a:lnTo>
                  <a:pt x="129578" y="7746"/>
                </a:lnTo>
                <a:lnTo>
                  <a:pt x="362292" y="7747"/>
                </a:lnTo>
                <a:lnTo>
                  <a:pt x="362292" y="0"/>
                </a:lnTo>
                <a:close/>
              </a:path>
            </a:pathLst>
          </a:custGeom>
          <a:solidFill>
            <a:srgbClr val="FFFFFF"/>
          </a:solidFill>
        </p:spPr>
        <p:txBody>
          <a:bodyPr wrap="square" lIns="0" tIns="0" rIns="0" bIns="0" rtlCol="0"/>
          <a:lstStyle/>
          <a:p>
            <a:endParaRPr dirty="0"/>
          </a:p>
        </p:txBody>
      </p:sp>
      <p:sp>
        <p:nvSpPr>
          <p:cNvPr id="15" name="object 15"/>
          <p:cNvSpPr/>
          <p:nvPr/>
        </p:nvSpPr>
        <p:spPr>
          <a:xfrm>
            <a:off x="1575560" y="753479"/>
            <a:ext cx="236402" cy="134828"/>
          </a:xfrm>
          <a:prstGeom prst="rect">
            <a:avLst/>
          </a:prstGeom>
          <a:blipFill>
            <a:blip r:embed="rId5" cstate="email">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16" name="object 16"/>
          <p:cNvSpPr/>
          <p:nvPr/>
        </p:nvSpPr>
        <p:spPr>
          <a:xfrm>
            <a:off x="1815772" y="560962"/>
            <a:ext cx="123825" cy="327660"/>
          </a:xfrm>
          <a:custGeom>
            <a:avLst/>
            <a:gdLst/>
            <a:ahLst/>
            <a:cxnLst/>
            <a:rect l="l" t="t" r="r" b="b"/>
            <a:pathLst>
              <a:path w="123825" h="327659">
                <a:moveTo>
                  <a:pt x="42049" y="0"/>
                </a:moveTo>
                <a:lnTo>
                  <a:pt x="34429" y="0"/>
                </a:lnTo>
                <a:lnTo>
                  <a:pt x="34429" y="242709"/>
                </a:lnTo>
                <a:lnTo>
                  <a:pt x="23698" y="259918"/>
                </a:lnTo>
                <a:lnTo>
                  <a:pt x="14782" y="276809"/>
                </a:lnTo>
                <a:lnTo>
                  <a:pt x="8039" y="293014"/>
                </a:lnTo>
                <a:lnTo>
                  <a:pt x="3810" y="308152"/>
                </a:lnTo>
                <a:lnTo>
                  <a:pt x="0" y="311962"/>
                </a:lnTo>
                <a:lnTo>
                  <a:pt x="0" y="327342"/>
                </a:lnTo>
                <a:lnTo>
                  <a:pt x="68719" y="327342"/>
                </a:lnTo>
                <a:lnTo>
                  <a:pt x="68719" y="319722"/>
                </a:lnTo>
                <a:lnTo>
                  <a:pt x="72529" y="315899"/>
                </a:lnTo>
                <a:lnTo>
                  <a:pt x="72529" y="304342"/>
                </a:lnTo>
                <a:lnTo>
                  <a:pt x="83972" y="275399"/>
                </a:lnTo>
                <a:lnTo>
                  <a:pt x="101117" y="249377"/>
                </a:lnTo>
                <a:lnTo>
                  <a:pt x="123329" y="231152"/>
                </a:lnTo>
                <a:lnTo>
                  <a:pt x="42049" y="231152"/>
                </a:lnTo>
                <a:lnTo>
                  <a:pt x="42049" y="0"/>
                </a:lnTo>
                <a:close/>
              </a:path>
            </a:pathLst>
          </a:custGeom>
          <a:solidFill>
            <a:srgbClr val="FFFFFF"/>
          </a:solidFill>
        </p:spPr>
        <p:txBody>
          <a:bodyPr wrap="square" lIns="0" tIns="0" rIns="0" bIns="0" rtlCol="0"/>
          <a:lstStyle/>
          <a:p>
            <a:endParaRPr dirty="0"/>
          </a:p>
        </p:txBody>
      </p:sp>
      <p:sp>
        <p:nvSpPr>
          <p:cNvPr id="17" name="object 17"/>
          <p:cNvSpPr/>
          <p:nvPr/>
        </p:nvSpPr>
        <p:spPr>
          <a:xfrm>
            <a:off x="1941663" y="869054"/>
            <a:ext cx="122555" cy="0"/>
          </a:xfrm>
          <a:custGeom>
            <a:avLst/>
            <a:gdLst/>
            <a:ahLst/>
            <a:cxnLst/>
            <a:rect l="l" t="t" r="r" b="b"/>
            <a:pathLst>
              <a:path w="122555">
                <a:moveTo>
                  <a:pt x="0" y="0"/>
                </a:moveTo>
                <a:lnTo>
                  <a:pt x="122072" y="0"/>
                </a:lnTo>
              </a:path>
            </a:pathLst>
          </a:custGeom>
          <a:ln w="38506">
            <a:solidFill>
              <a:srgbClr val="FFFFFF"/>
            </a:solidFill>
          </a:ln>
        </p:spPr>
        <p:txBody>
          <a:bodyPr wrap="square" lIns="0" tIns="0" rIns="0" bIns="0" rtlCol="0"/>
          <a:lstStyle/>
          <a:p>
            <a:endParaRPr dirty="0"/>
          </a:p>
        </p:txBody>
      </p:sp>
      <p:sp>
        <p:nvSpPr>
          <p:cNvPr id="18" name="object 18"/>
          <p:cNvSpPr/>
          <p:nvPr/>
        </p:nvSpPr>
        <p:spPr>
          <a:xfrm>
            <a:off x="2113279" y="560958"/>
            <a:ext cx="0" cy="327660"/>
          </a:xfrm>
          <a:custGeom>
            <a:avLst/>
            <a:gdLst/>
            <a:ahLst/>
            <a:cxnLst/>
            <a:rect l="l" t="t" r="r" b="b"/>
            <a:pathLst>
              <a:path h="327659">
                <a:moveTo>
                  <a:pt x="0" y="0"/>
                </a:moveTo>
                <a:lnTo>
                  <a:pt x="0" y="327342"/>
                </a:lnTo>
              </a:path>
            </a:pathLst>
          </a:custGeom>
          <a:ln w="7619">
            <a:solidFill>
              <a:srgbClr val="FFFFFF"/>
            </a:solidFill>
          </a:ln>
        </p:spPr>
        <p:txBody>
          <a:bodyPr wrap="square" lIns="0" tIns="0" rIns="0" bIns="0" rtlCol="0"/>
          <a:lstStyle/>
          <a:p>
            <a:endParaRPr dirty="0"/>
          </a:p>
        </p:txBody>
      </p:sp>
      <p:sp>
        <p:nvSpPr>
          <p:cNvPr id="19" name="object 19"/>
          <p:cNvSpPr/>
          <p:nvPr/>
        </p:nvSpPr>
        <p:spPr>
          <a:xfrm>
            <a:off x="1392510" y="792110"/>
            <a:ext cx="100698" cy="65443"/>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20" name="object 20"/>
          <p:cNvSpPr/>
          <p:nvPr/>
        </p:nvSpPr>
        <p:spPr>
          <a:xfrm>
            <a:off x="1133179" y="753479"/>
            <a:ext cx="160655" cy="96520"/>
          </a:xfrm>
          <a:custGeom>
            <a:avLst/>
            <a:gdLst/>
            <a:ahLst/>
            <a:cxnLst/>
            <a:rect l="l" t="t" r="r" b="b"/>
            <a:pathLst>
              <a:path w="160655" h="96519">
                <a:moveTo>
                  <a:pt x="160121" y="0"/>
                </a:moveTo>
                <a:lnTo>
                  <a:pt x="87718" y="0"/>
                </a:lnTo>
                <a:lnTo>
                  <a:pt x="0" y="96316"/>
                </a:lnTo>
                <a:lnTo>
                  <a:pt x="64871" y="96316"/>
                </a:lnTo>
                <a:lnTo>
                  <a:pt x="160121" y="0"/>
                </a:lnTo>
                <a:close/>
              </a:path>
            </a:pathLst>
          </a:custGeom>
          <a:solidFill>
            <a:srgbClr val="FFFFFF"/>
          </a:solidFill>
        </p:spPr>
        <p:txBody>
          <a:bodyPr wrap="square" lIns="0" tIns="0" rIns="0" bIns="0" rtlCol="0"/>
          <a:lstStyle/>
          <a:p>
            <a:endParaRPr dirty="0"/>
          </a:p>
        </p:txBody>
      </p:sp>
      <p:sp>
        <p:nvSpPr>
          <p:cNvPr id="21" name="object 21"/>
          <p:cNvSpPr/>
          <p:nvPr/>
        </p:nvSpPr>
        <p:spPr>
          <a:xfrm>
            <a:off x="1968332" y="784358"/>
            <a:ext cx="106680" cy="34925"/>
          </a:xfrm>
          <a:custGeom>
            <a:avLst/>
            <a:gdLst/>
            <a:ahLst/>
            <a:cxnLst/>
            <a:rect l="l" t="t" r="r" b="b"/>
            <a:pathLst>
              <a:path w="106680" h="34925">
                <a:moveTo>
                  <a:pt x="103784" y="0"/>
                </a:moveTo>
                <a:lnTo>
                  <a:pt x="0" y="0"/>
                </a:lnTo>
                <a:lnTo>
                  <a:pt x="13944" y="1638"/>
                </a:lnTo>
                <a:lnTo>
                  <a:pt x="25730" y="7238"/>
                </a:lnTo>
                <a:lnTo>
                  <a:pt x="33235" y="17907"/>
                </a:lnTo>
                <a:lnTo>
                  <a:pt x="34302" y="34696"/>
                </a:lnTo>
                <a:lnTo>
                  <a:pt x="103022" y="34696"/>
                </a:lnTo>
                <a:lnTo>
                  <a:pt x="105587" y="24688"/>
                </a:lnTo>
                <a:lnTo>
                  <a:pt x="106362" y="12522"/>
                </a:lnTo>
                <a:lnTo>
                  <a:pt x="103784" y="0"/>
                </a:lnTo>
                <a:close/>
              </a:path>
            </a:pathLst>
          </a:custGeom>
          <a:solidFill>
            <a:srgbClr val="FFFFFF"/>
          </a:solidFill>
        </p:spPr>
        <p:txBody>
          <a:bodyPr wrap="square" lIns="0" tIns="0" rIns="0" bIns="0" rtlCol="0"/>
          <a:lstStyle/>
          <a:p>
            <a:endParaRPr dirty="0"/>
          </a:p>
        </p:txBody>
      </p:sp>
      <p:sp>
        <p:nvSpPr>
          <p:cNvPr id="22" name="object 22"/>
          <p:cNvSpPr/>
          <p:nvPr/>
        </p:nvSpPr>
        <p:spPr>
          <a:xfrm>
            <a:off x="1857819" y="553212"/>
            <a:ext cx="259715" cy="239395"/>
          </a:xfrm>
          <a:custGeom>
            <a:avLst/>
            <a:gdLst/>
            <a:ahLst/>
            <a:cxnLst/>
            <a:rect l="l" t="t" r="r" b="b"/>
            <a:pathLst>
              <a:path w="259714" h="239395">
                <a:moveTo>
                  <a:pt x="259270" y="0"/>
                </a:moveTo>
                <a:lnTo>
                  <a:pt x="19062" y="0"/>
                </a:lnTo>
                <a:lnTo>
                  <a:pt x="19062" y="219583"/>
                </a:lnTo>
                <a:lnTo>
                  <a:pt x="13398" y="224777"/>
                </a:lnTo>
                <a:lnTo>
                  <a:pt x="8102" y="229235"/>
                </a:lnTo>
                <a:lnTo>
                  <a:pt x="3517" y="233705"/>
                </a:lnTo>
                <a:lnTo>
                  <a:pt x="0" y="238899"/>
                </a:lnTo>
                <a:lnTo>
                  <a:pt x="81279" y="238899"/>
                </a:lnTo>
                <a:lnTo>
                  <a:pt x="81940" y="238366"/>
                </a:lnTo>
                <a:lnTo>
                  <a:pt x="110515" y="231140"/>
                </a:lnTo>
                <a:lnTo>
                  <a:pt x="214299" y="231140"/>
                </a:lnTo>
                <a:lnTo>
                  <a:pt x="214071" y="230060"/>
                </a:lnTo>
                <a:lnTo>
                  <a:pt x="205917" y="215772"/>
                </a:lnTo>
                <a:lnTo>
                  <a:pt x="202272" y="211836"/>
                </a:lnTo>
                <a:lnTo>
                  <a:pt x="26682" y="211836"/>
                </a:lnTo>
                <a:lnTo>
                  <a:pt x="26682" y="7746"/>
                </a:lnTo>
                <a:lnTo>
                  <a:pt x="259270" y="7747"/>
                </a:lnTo>
                <a:lnTo>
                  <a:pt x="259270" y="0"/>
                </a:lnTo>
                <a:close/>
              </a:path>
            </a:pathLst>
          </a:custGeom>
          <a:solidFill>
            <a:srgbClr val="FFFFFF"/>
          </a:solidFill>
        </p:spPr>
        <p:txBody>
          <a:bodyPr wrap="square" lIns="0" tIns="0" rIns="0" bIns="0" rtlCol="0"/>
          <a:lstStyle/>
          <a:p>
            <a:endParaRPr dirty="0"/>
          </a:p>
        </p:txBody>
      </p:sp>
      <p:sp>
        <p:nvSpPr>
          <p:cNvPr id="23" name="object 23"/>
          <p:cNvSpPr/>
          <p:nvPr/>
        </p:nvSpPr>
        <p:spPr>
          <a:xfrm>
            <a:off x="1884494" y="738103"/>
            <a:ext cx="175895" cy="27305"/>
          </a:xfrm>
          <a:custGeom>
            <a:avLst/>
            <a:gdLst/>
            <a:ahLst/>
            <a:cxnLst/>
            <a:rect l="l" t="t" r="r" b="b"/>
            <a:pathLst>
              <a:path w="175894" h="27304">
                <a:moveTo>
                  <a:pt x="99085" y="0"/>
                </a:moveTo>
                <a:lnTo>
                  <a:pt x="77177" y="1511"/>
                </a:lnTo>
                <a:lnTo>
                  <a:pt x="52400" y="6273"/>
                </a:lnTo>
                <a:lnTo>
                  <a:pt x="26200" y="14630"/>
                </a:lnTo>
                <a:lnTo>
                  <a:pt x="0" y="26936"/>
                </a:lnTo>
                <a:lnTo>
                  <a:pt x="175602" y="26936"/>
                </a:lnTo>
                <a:lnTo>
                  <a:pt x="167258" y="17907"/>
                </a:lnTo>
                <a:lnTo>
                  <a:pt x="149161" y="8191"/>
                </a:lnTo>
                <a:lnTo>
                  <a:pt x="126085" y="2108"/>
                </a:lnTo>
                <a:lnTo>
                  <a:pt x="99085" y="0"/>
                </a:lnTo>
                <a:close/>
              </a:path>
            </a:pathLst>
          </a:custGeom>
          <a:solidFill>
            <a:srgbClr val="FFFFFF"/>
          </a:solidFill>
        </p:spPr>
        <p:txBody>
          <a:bodyPr wrap="square" lIns="0" tIns="0" rIns="0" bIns="0" rtlCol="0"/>
          <a:lstStyle/>
          <a:p>
            <a:endParaRPr dirty="0"/>
          </a:p>
        </p:txBody>
      </p:sp>
      <p:sp>
        <p:nvSpPr>
          <p:cNvPr id="24" name="object 24"/>
          <p:cNvSpPr/>
          <p:nvPr/>
        </p:nvSpPr>
        <p:spPr>
          <a:xfrm>
            <a:off x="1362029" y="560831"/>
            <a:ext cx="0" cy="193040"/>
          </a:xfrm>
          <a:custGeom>
            <a:avLst/>
            <a:gdLst/>
            <a:ahLst/>
            <a:cxnLst/>
            <a:rect l="l" t="t" r="r" b="b"/>
            <a:pathLst>
              <a:path h="193040">
                <a:moveTo>
                  <a:pt x="0" y="0"/>
                </a:moveTo>
                <a:lnTo>
                  <a:pt x="0" y="193039"/>
                </a:lnTo>
              </a:path>
            </a:pathLst>
          </a:custGeom>
          <a:ln w="7620">
            <a:solidFill>
              <a:srgbClr val="FFFFFF"/>
            </a:solidFill>
          </a:ln>
        </p:spPr>
        <p:txBody>
          <a:bodyPr wrap="square" lIns="0" tIns="0" rIns="0" bIns="0" rtlCol="0"/>
          <a:lstStyle/>
          <a:p>
            <a:endParaRPr dirty="0"/>
          </a:p>
        </p:txBody>
      </p:sp>
      <p:sp>
        <p:nvSpPr>
          <p:cNvPr id="25" name="object 25"/>
          <p:cNvSpPr/>
          <p:nvPr/>
        </p:nvSpPr>
        <p:spPr>
          <a:xfrm>
            <a:off x="1358219" y="557022"/>
            <a:ext cx="240665" cy="0"/>
          </a:xfrm>
          <a:custGeom>
            <a:avLst/>
            <a:gdLst/>
            <a:ahLst/>
            <a:cxnLst/>
            <a:rect l="l" t="t" r="r" b="b"/>
            <a:pathLst>
              <a:path w="240665">
                <a:moveTo>
                  <a:pt x="0" y="0"/>
                </a:moveTo>
                <a:lnTo>
                  <a:pt x="240207" y="0"/>
                </a:lnTo>
              </a:path>
            </a:pathLst>
          </a:custGeom>
          <a:ln w="7620">
            <a:solidFill>
              <a:srgbClr val="FFFFFF"/>
            </a:solidFill>
          </a:ln>
        </p:spPr>
        <p:txBody>
          <a:bodyPr wrap="square" lIns="0" tIns="0" rIns="0" bIns="0" rtlCol="0"/>
          <a:lstStyle/>
          <a:p>
            <a:endParaRPr dirty="0"/>
          </a:p>
        </p:txBody>
      </p:sp>
      <p:sp>
        <p:nvSpPr>
          <p:cNvPr id="26" name="object 26"/>
          <p:cNvSpPr/>
          <p:nvPr/>
        </p:nvSpPr>
        <p:spPr>
          <a:xfrm>
            <a:off x="1411570" y="753184"/>
            <a:ext cx="27940" cy="635"/>
          </a:xfrm>
          <a:custGeom>
            <a:avLst/>
            <a:gdLst/>
            <a:ahLst/>
            <a:cxnLst/>
            <a:rect l="l" t="t" r="r" b="b"/>
            <a:pathLst>
              <a:path w="27940" h="634">
                <a:moveTo>
                  <a:pt x="20408" y="0"/>
                </a:moveTo>
                <a:lnTo>
                  <a:pt x="0" y="292"/>
                </a:lnTo>
                <a:lnTo>
                  <a:pt x="27774" y="292"/>
                </a:lnTo>
                <a:lnTo>
                  <a:pt x="20408" y="0"/>
                </a:lnTo>
                <a:close/>
              </a:path>
            </a:pathLst>
          </a:custGeom>
          <a:solidFill>
            <a:srgbClr val="FFFFFF"/>
          </a:solidFill>
        </p:spPr>
        <p:txBody>
          <a:bodyPr wrap="square" lIns="0" tIns="0" rIns="0" bIns="0" rtlCol="0"/>
          <a:lstStyle/>
          <a:p>
            <a:endParaRPr dirty="0"/>
          </a:p>
        </p:txBody>
      </p:sp>
      <p:sp>
        <p:nvSpPr>
          <p:cNvPr id="27" name="object 27"/>
          <p:cNvSpPr/>
          <p:nvPr/>
        </p:nvSpPr>
        <p:spPr>
          <a:xfrm>
            <a:off x="1594611" y="560958"/>
            <a:ext cx="0" cy="193040"/>
          </a:xfrm>
          <a:custGeom>
            <a:avLst/>
            <a:gdLst/>
            <a:ahLst/>
            <a:cxnLst/>
            <a:rect l="l" t="t" r="r" b="b"/>
            <a:pathLst>
              <a:path h="193040">
                <a:moveTo>
                  <a:pt x="0" y="0"/>
                </a:moveTo>
                <a:lnTo>
                  <a:pt x="0" y="192519"/>
                </a:lnTo>
              </a:path>
            </a:pathLst>
          </a:custGeom>
          <a:ln w="7619">
            <a:solidFill>
              <a:srgbClr val="FFFFFF"/>
            </a:solidFill>
          </a:ln>
        </p:spPr>
        <p:txBody>
          <a:bodyPr wrap="square" lIns="0" tIns="0" rIns="0" bIns="0" rtlCol="0"/>
          <a:lstStyle/>
          <a:p>
            <a:endParaRPr dirty="0"/>
          </a:p>
        </p:txBody>
      </p:sp>
      <p:sp>
        <p:nvSpPr>
          <p:cNvPr id="29" name="Text Placeholder 7">
            <a:extLst>
              <a:ext uri="{FF2B5EF4-FFF2-40B4-BE49-F238E27FC236}">
                <a16:creationId xmlns:a16="http://schemas.microsoft.com/office/drawing/2014/main" id="{16CCAB05-F9FB-702D-FE7D-B3767855E9B8}"/>
              </a:ext>
            </a:extLst>
          </p:cNvPr>
          <p:cNvSpPr txBox="1">
            <a:spLocks/>
          </p:cNvSpPr>
          <p:nvPr/>
        </p:nvSpPr>
        <p:spPr>
          <a:xfrm>
            <a:off x="1125560" y="4753473"/>
            <a:ext cx="9595124" cy="65361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solidFill>
                  <a:schemeClr val="bg1"/>
                </a:solidFill>
              </a:rPr>
              <a:t>This non-binding proposal is in all respects subject to the negotiation, agreement, and signing of a specific engagement letter or contract including agreement of the scope of services and to the satisfactory completion KPMG Assurance &amp; Consulting Services LLP of applicable client and engagement acceptance procedures, including independence and conflict of interest checks and, where applicable, audit committee / board of directors' approval</a:t>
            </a:r>
          </a:p>
          <a:p>
            <a:endParaRPr lang="en-US" sz="900" dirty="0">
              <a:solidFill>
                <a:schemeClr val="bg1"/>
              </a:solidFill>
            </a:endParaRPr>
          </a:p>
          <a:p>
            <a:r>
              <a:rPr lang="en-US" sz="900" dirty="0">
                <a:solidFill>
                  <a:schemeClr val="bg1"/>
                </a:solidFill>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 The KPMG name and logo are trademarks used under license by the independent member firms of the KPMG global organization.</a:t>
            </a:r>
          </a:p>
        </p:txBody>
      </p:sp>
      <p:sp>
        <p:nvSpPr>
          <p:cNvPr id="30" name="Text Placeholder 2">
            <a:extLst>
              <a:ext uri="{FF2B5EF4-FFF2-40B4-BE49-F238E27FC236}">
                <a16:creationId xmlns:a16="http://schemas.microsoft.com/office/drawing/2014/main" id="{0113620C-5036-BE3C-FF66-D8EE0E1C651B}"/>
              </a:ext>
            </a:extLst>
          </p:cNvPr>
          <p:cNvSpPr txBox="1">
            <a:spLocks/>
          </p:cNvSpPr>
          <p:nvPr/>
        </p:nvSpPr>
        <p:spPr>
          <a:xfrm>
            <a:off x="1073497" y="4456370"/>
            <a:ext cx="2708573" cy="225727"/>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200" dirty="0">
                <a:solidFill>
                  <a:schemeClr val="bg1"/>
                </a:solidFill>
              </a:rPr>
              <a:t>kpmg.com/social media</a:t>
            </a:r>
          </a:p>
        </p:txBody>
      </p:sp>
      <p:sp>
        <p:nvSpPr>
          <p:cNvPr id="31" name="Text Placeholder 1">
            <a:extLst>
              <a:ext uri="{FF2B5EF4-FFF2-40B4-BE49-F238E27FC236}">
                <a16:creationId xmlns:a16="http://schemas.microsoft.com/office/drawing/2014/main" id="{AAFA7B7E-BF33-F014-9ABE-954C31F8ADC2}"/>
              </a:ext>
            </a:extLst>
          </p:cNvPr>
          <p:cNvSpPr txBox="1">
            <a:spLocks/>
          </p:cNvSpPr>
          <p:nvPr>
            <p:custDataLst>
              <p:tags r:id="rId1"/>
            </p:custDataLst>
          </p:nvPr>
        </p:nvSpPr>
        <p:spPr>
          <a:xfrm>
            <a:off x="1233538" y="5800798"/>
            <a:ext cx="9542902" cy="531842"/>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1000"/>
              </a:spcAft>
              <a:buFontTx/>
              <a:buNone/>
              <a:defRPr sz="900" b="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1000"/>
              </a:spcAft>
              <a:buFontTx/>
              <a:buNone/>
              <a:defRPr sz="900" b="0" kern="1200">
                <a:solidFill>
                  <a:schemeClr val="bg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 2026 KPMG Assurance &amp; Consulting Services LLP, an Indian Limited Liability Partnership and a member firm of the KPMG global organization of independent member firms affiliated with KPMG International Limited, a private English company limited by guarantee. All rights reserved.</a:t>
            </a:r>
          </a:p>
        </p:txBody>
      </p:sp>
      <p:grpSp>
        <p:nvGrpSpPr>
          <p:cNvPr id="32" name="Group 31">
            <a:extLst>
              <a:ext uri="{FF2B5EF4-FFF2-40B4-BE49-F238E27FC236}">
                <a16:creationId xmlns:a16="http://schemas.microsoft.com/office/drawing/2014/main" id="{C68B8CB9-2EA7-6D37-96B5-6C701A90EDB9}"/>
              </a:ext>
            </a:extLst>
          </p:cNvPr>
          <p:cNvGrpSpPr/>
          <p:nvPr/>
        </p:nvGrpSpPr>
        <p:grpSpPr>
          <a:xfrm>
            <a:off x="1192741" y="3900788"/>
            <a:ext cx="2023200" cy="367957"/>
            <a:chOff x="998476" y="2881529"/>
            <a:chExt cx="2023200" cy="367957"/>
          </a:xfrm>
        </p:grpSpPr>
        <p:sp>
          <p:nvSpPr>
            <p:cNvPr id="33" name="Rectangle 32">
              <a:extLst>
                <a:ext uri="{FF2B5EF4-FFF2-40B4-BE49-F238E27FC236}">
                  <a16:creationId xmlns:a16="http://schemas.microsoft.com/office/drawing/2014/main" id="{684E9965-7168-B931-2DBD-67B0A2438917}"/>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34" name="Rectangle 33">
              <a:extLst>
                <a:ext uri="{FF2B5EF4-FFF2-40B4-BE49-F238E27FC236}">
                  <a16:creationId xmlns:a16="http://schemas.microsoft.com/office/drawing/2014/main" id="{AE593BB8-F7FB-E955-6BBA-93F7D97F9F3B}"/>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35" name="Rectangle 34">
              <a:extLst>
                <a:ext uri="{FF2B5EF4-FFF2-40B4-BE49-F238E27FC236}">
                  <a16:creationId xmlns:a16="http://schemas.microsoft.com/office/drawing/2014/main" id="{434E0139-858F-F6A0-D5E0-2B88FA170FE5}"/>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36" name="Rectangle 35">
              <a:extLst>
                <a:ext uri="{FF2B5EF4-FFF2-40B4-BE49-F238E27FC236}">
                  <a16:creationId xmlns:a16="http://schemas.microsoft.com/office/drawing/2014/main" id="{7D60A5A7-F572-2E91-315A-4C733F299584}"/>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pic>
          <p:nvPicPr>
            <p:cNvPr id="37" name="Picture 36">
              <a:extLst>
                <a:ext uri="{FF2B5EF4-FFF2-40B4-BE49-F238E27FC236}">
                  <a16:creationId xmlns:a16="http://schemas.microsoft.com/office/drawing/2014/main" id="{BEA8BEE8-9A3D-8B51-4101-4F81CA69C5BE}"/>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822950" y="2881529"/>
              <a:ext cx="360000" cy="360000"/>
            </a:xfrm>
            <a:prstGeom prst="rect">
              <a:avLst/>
            </a:prstGeom>
          </p:spPr>
        </p:pic>
        <p:pic>
          <p:nvPicPr>
            <p:cNvPr id="38" name="Picture 37" descr="Icon&#10;&#10;Description automatically generated">
              <a:extLst>
                <a:ext uri="{FF2B5EF4-FFF2-40B4-BE49-F238E27FC236}">
                  <a16:creationId xmlns:a16="http://schemas.microsoft.com/office/drawing/2014/main" id="{DABE89DC-FD3E-6532-AF90-360830CAE8E7}"/>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2242336" y="2881529"/>
              <a:ext cx="359648" cy="360000"/>
            </a:xfrm>
            <a:prstGeom prst="rect">
              <a:avLst/>
            </a:prstGeom>
          </p:spPr>
        </p:pic>
        <p:pic>
          <p:nvPicPr>
            <p:cNvPr id="39" name="Picture 38" descr="Logo&#10;&#10;Description automatically generated">
              <a:extLst>
                <a:ext uri="{FF2B5EF4-FFF2-40B4-BE49-F238E27FC236}">
                  <a16:creationId xmlns:a16="http://schemas.microsoft.com/office/drawing/2014/main" id="{3115105D-7898-958A-001E-2A38A8E25270}"/>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1414350" y="2889486"/>
              <a:ext cx="360000" cy="360000"/>
            </a:xfrm>
            <a:prstGeom prst="rect">
              <a:avLst/>
            </a:prstGeom>
          </p:spPr>
        </p:pic>
        <p:pic>
          <p:nvPicPr>
            <p:cNvPr id="40" name="Picture 39" descr="Logo&#10;&#10;Description automatically generated">
              <a:extLst>
                <a:ext uri="{FF2B5EF4-FFF2-40B4-BE49-F238E27FC236}">
                  <a16:creationId xmlns:a16="http://schemas.microsoft.com/office/drawing/2014/main" id="{7BCB927E-A0AB-A0EB-A6B7-4E1B05064EAB}"/>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998476" y="2884275"/>
              <a:ext cx="360000" cy="360000"/>
            </a:xfrm>
            <a:prstGeom prst="rect">
              <a:avLst/>
            </a:prstGeom>
          </p:spPr>
        </p:pic>
        <p:pic>
          <p:nvPicPr>
            <p:cNvPr id="41" name="Picture 40" descr="Icon&#10;&#10;Description automatically generated">
              <a:extLst>
                <a:ext uri="{FF2B5EF4-FFF2-40B4-BE49-F238E27FC236}">
                  <a16:creationId xmlns:a16="http://schemas.microsoft.com/office/drawing/2014/main" id="{FB29F946-4D48-8794-02FD-9BE08DC2E02B}"/>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2661676" y="2881529"/>
              <a:ext cx="360000" cy="360000"/>
            </a:xfrm>
            <a:prstGeom prst="rect">
              <a:avLst/>
            </a:prstGeom>
          </p:spPr>
        </p:pic>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FONTUSED" val="KPMGFONT"/>
  <p:tag name="KEYWORD" val="SCREENWIDE"/>
  <p:tag name="TEMPLATEVERSION" val="26/05/2022 11:01:00"/>
  <p:tag name="TOOLBARVERSION" val="6.0"/>
  <p:tag name="TYPE" val="ScreenWide"/>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0.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KPMG Widescreen Standard Template.potx" id="{0D07B9DA-DB2F-4A1F-8CAC-6FD7C4A19BFD}" vid="{9D8C322F-4652-47D4-9D05-B3D11C3110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2ce55cb-f943-42d3-906b-163cf2db282d">
      <Terms xmlns="http://schemas.microsoft.com/office/infopath/2007/PartnerControls"/>
    </lcf76f155ced4ddcb4097134ff3c332f>
    <TaxCatchAll xmlns="4243d5be-521d-4052-81ca-f0f31ea6f2d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0630AE822164C46A08FB7F855C8B24D" ma:contentTypeVersion="12" ma:contentTypeDescription="Create a new document." ma:contentTypeScope="" ma:versionID="e71ae3bf7f897378976c8692c549cab3">
  <xsd:schema xmlns:xsd="http://www.w3.org/2001/XMLSchema" xmlns:xs="http://www.w3.org/2001/XMLSchema" xmlns:p="http://schemas.microsoft.com/office/2006/metadata/properties" xmlns:ns2="82ce55cb-f943-42d3-906b-163cf2db282d" xmlns:ns3="4243d5be-521d-4052-81ca-f0f31ea6f2da" targetNamespace="http://schemas.microsoft.com/office/2006/metadata/properties" ma:root="true" ma:fieldsID="f41a55ad163f6e210487bf68094a1710" ns2:_="" ns3:_="">
    <xsd:import namespace="82ce55cb-f943-42d3-906b-163cf2db282d"/>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ce55cb-f943-42d3-906b-163cf2db28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a6c9d7d-318f-4016-bbe6-d1dda29216c5}" ma:internalName="TaxCatchAll" ma:showField="CatchAllData" ma:web="59feab41-d657-4955-bdb1-9c041c20f3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BD9B01-6CE7-4B7A-B487-0B5AB84C25C2}">
  <ds:schemaRefs>
    <ds:schemaRef ds:uri="http://schemas.microsoft.com/sharepoint/v3/contenttype/forms"/>
  </ds:schemaRefs>
</ds:datastoreItem>
</file>

<file path=customXml/itemProps2.xml><?xml version="1.0" encoding="utf-8"?>
<ds:datastoreItem xmlns:ds="http://schemas.openxmlformats.org/officeDocument/2006/customXml" ds:itemID="{0FF81C91-EBFB-4088-B790-858FB790F884}">
  <ds:schemaRefs>
    <ds:schemaRef ds:uri="http://schemas.microsoft.com/office/2006/metadata/properties"/>
    <ds:schemaRef ds:uri="http://www.w3.org/2000/xmlns/"/>
    <ds:schemaRef ds:uri="82ce55cb-f943-42d3-906b-163cf2db282d"/>
    <ds:schemaRef ds:uri="http://schemas.microsoft.com/office/infopath/2007/PartnerControls"/>
    <ds:schemaRef ds:uri="4243d5be-521d-4052-81ca-f0f31ea6f2da"/>
    <ds:schemaRef ds:uri="http://www.w3.org/2001/XMLSchema-instance"/>
  </ds:schemaRefs>
</ds:datastoreItem>
</file>

<file path=customXml/itemProps3.xml><?xml version="1.0" encoding="utf-8"?>
<ds:datastoreItem xmlns:ds="http://schemas.openxmlformats.org/officeDocument/2006/customXml" ds:itemID="{B78A9C2E-9CA6-40E3-9186-FA24D62079FE}">
  <ds:schemaRefs>
    <ds:schemaRef ds:uri="http://schemas.microsoft.com/office/2006/metadata/contentType"/>
    <ds:schemaRef ds:uri="http://schemas.microsoft.com/office/2006/metadata/properties/metaAttributes"/>
    <ds:schemaRef ds:uri="http://www.w3.org/2000/xmlns/"/>
    <ds:schemaRef ds:uri="http://www.w3.org/2001/XMLSchema"/>
    <ds:schemaRef ds:uri="82ce55cb-f943-42d3-906b-163cf2db282d"/>
    <ds:schemaRef ds:uri="4243d5be-521d-4052-81ca-f0f31ea6f2da"/>
  </ds:schemaRefs>
</ds:datastoreItem>
</file>

<file path=docMetadata/LabelInfo.xml><?xml version="1.0" encoding="utf-8"?>
<clbl:labelList xmlns:clbl="http://schemas.microsoft.com/office/2020/mipLabelMetadata">
  <clbl:label id="{3129b2cc-4393-4691-814d-95eb8359c06c}" enabled="1" method="Standard" siteId="{deff24bb-2089-4400-8c8e-f71e680378b2}" removed="0"/>
</clbl:labelList>
</file>

<file path=docProps/app.xml><?xml version="1.0" encoding="utf-8"?>
<Properties xmlns="http://schemas.openxmlformats.org/officeDocument/2006/extended-properties" xmlns:vt="http://schemas.openxmlformats.org/officeDocument/2006/docPropsVTypes">
  <Template>KPMG Widescreen Standard Template</Template>
  <TotalTime>0</TotalTime>
  <Words>570</Words>
  <Application>Microsoft Office PowerPoint</Application>
  <PresentationFormat>Widescreen</PresentationFormat>
  <Paragraphs>41</Paragraphs>
  <Slides>3</Slides>
  <Notes>2</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KPMG Widescreen [16:9] Feb 2022</vt:lpstr>
      <vt:lpstr>PowerPoint Presentation</vt:lpstr>
      <vt:lpstr>PowerPoint Presentation</vt:lpstr>
      <vt:lpstr>Thank You</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Standard template 5</dc:title>
  <dc:creator>Sindhavad, Hiten</dc:creator>
  <cp:lastModifiedBy>Lakshman Sethuraman</cp:lastModifiedBy>
  <cp:revision>3</cp:revision>
  <dcterms:created xsi:type="dcterms:W3CDTF">2023-03-15T09:34:41Z</dcterms:created>
  <dcterms:modified xsi:type="dcterms:W3CDTF">2026-05-14T14:00:40Z</dcterms:modified>
  <cp:category>KPMG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0x010100D0630AE822164C46A08FB7F855C8B24D</vt:lpwstr>
  </property>
  <property fmtid="{D5CDD505-2E9C-101B-9397-08002B2CF9AE}" pid="3" name="MediaServiceImageTags">
    <vt:lpwstr/>
  </property>
</Properties>
</file>