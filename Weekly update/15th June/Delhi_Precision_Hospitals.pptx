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85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138160" y="-1280160"/>
            <a:ext cx="6035040" cy="6035040"/>
          </a:xfrm>
          <a:prstGeom prst="roundRect">
            <a:avLst>
              <a:gd name="adj" fmla="val 7576"/>
            </a:avLst>
          </a:prstGeom>
          <a:solidFill>
            <a:srgbClr val="1349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9F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HEALTHCARE   ·   CONFIDENTIAL  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75488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Precision Hospital Prototypes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27249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FE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Quaternary Hospital Prototypes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34670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QUTUB INSTITUTIONAL AREA   ·   NEW DELHI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7124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A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Programme  ·  Facility Architecture  ·  Global Benchmarks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Overview  ·  June 2026  ·  Version 3.0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Focused Quaternary Institutes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the Qutub Institutional Area of New Delhi, the campus is conceived not as a single multi-specialty hospital but as five focused quaternary institutes. Each concentrates on one clinical domain, operates as a distinct institution with its own identity, and shares core infrastructure, diagnostics and governance.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2090867" cy="361188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2700">
            <a:solidFill>
              <a:srgbClr val="D7E0E2"/>
            </a:solidFill>
            <a:prstDash val="solid"/>
          </a:ln>
          <a:effectLst>
            <a:outerShdw blurRad="114300" dist="38100" dir="5400000" algn="bl" rotWithShape="0">
              <a:srgbClr val="0F3A45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1154" y="2761488"/>
            <a:ext cx="914400" cy="676656"/>
          </a:xfrm>
          <a:prstGeom prst="roundRect">
            <a:avLst>
              <a:gd name="adj" fmla="val 12162"/>
            </a:avLst>
          </a:prstGeom>
          <a:solidFill>
            <a:srgbClr val="1B7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1154" y="276148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" y="3657600"/>
            <a:ext cx="179825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Oncology Centre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" y="4754880"/>
            <a:ext cx="179825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Solid-tumour precision oncology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76667" y="2468880"/>
            <a:ext cx="2090867" cy="361188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2700">
            <a:solidFill>
              <a:srgbClr val="D7E0E2"/>
            </a:solidFill>
            <a:prstDash val="solid"/>
          </a:ln>
          <a:effectLst>
            <a:outerShdw blurRad="114300" dist="38100" dir="5400000" algn="bl" rotWithShape="0">
              <a:srgbClr val="0F3A45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64901" y="2761488"/>
            <a:ext cx="914400" cy="676656"/>
          </a:xfrm>
          <a:prstGeom prst="roundRect">
            <a:avLst>
              <a:gd name="adj" fmla="val 12162"/>
            </a:avLst>
          </a:prstGeom>
          <a:solidFill>
            <a:srgbClr val="1B7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64901" y="276148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2971" y="3657600"/>
            <a:ext cx="179825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Disorders Institute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22971" y="4754880"/>
            <a:ext cx="179825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Haemato-oncology, transplant &amp; cellular therapy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50414" y="2468880"/>
            <a:ext cx="2090867" cy="361188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2700">
            <a:solidFill>
              <a:srgbClr val="D7E0E2"/>
            </a:solidFill>
            <a:prstDash val="solid"/>
          </a:ln>
          <a:effectLst>
            <a:outerShdw blurRad="114300" dist="38100" dir="5400000" algn="bl" rotWithShape="0">
              <a:srgbClr val="0F3A45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638648" y="2761488"/>
            <a:ext cx="914400" cy="676656"/>
          </a:xfrm>
          <a:prstGeom prst="roundRect">
            <a:avLst>
              <a:gd name="adj" fmla="val 12162"/>
            </a:avLst>
          </a:prstGeom>
          <a:solidFill>
            <a:srgbClr val="1B7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38648" y="276148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96718" y="3657600"/>
            <a:ext cx="179825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Neurology &amp; Neuromuscular Centre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96718" y="4754880"/>
            <a:ext cx="179825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Neurosciences, neuromuscular &amp; gene therapy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24161" y="2468880"/>
            <a:ext cx="2090867" cy="361188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2700">
            <a:solidFill>
              <a:srgbClr val="D7E0E2"/>
            </a:solidFill>
            <a:prstDash val="solid"/>
          </a:ln>
          <a:effectLst>
            <a:outerShdw blurRad="114300" dist="38100" dir="5400000" algn="bl" rotWithShape="0">
              <a:srgbClr val="0F3A45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912395" y="2761488"/>
            <a:ext cx="914400" cy="676656"/>
          </a:xfrm>
          <a:prstGeom prst="roundRect">
            <a:avLst>
              <a:gd name="adj" fmla="val 12162"/>
            </a:avLst>
          </a:prstGeom>
          <a:solidFill>
            <a:srgbClr val="1B7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912395" y="276148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70465" y="3657600"/>
            <a:ext cx="179825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Longevity &amp; Lifespan Extension Institute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70465" y="4754880"/>
            <a:ext cx="179825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prevention, regenerative &amp; metabolic medicine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97908" y="2468880"/>
            <a:ext cx="2090867" cy="361188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2700">
            <a:solidFill>
              <a:srgbClr val="D7E0E2"/>
            </a:solidFill>
            <a:prstDash val="solid"/>
          </a:ln>
          <a:effectLst>
            <a:outerShdw blurRad="114300" dist="38100" dir="5400000" algn="bl" rotWithShape="0">
              <a:srgbClr val="0F3A45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186142" y="2761488"/>
            <a:ext cx="914400" cy="676656"/>
          </a:xfrm>
          <a:prstGeom prst="roundRect">
            <a:avLst>
              <a:gd name="adj" fmla="val 12162"/>
            </a:avLst>
          </a:prstGeom>
          <a:solidFill>
            <a:srgbClr val="1B7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186142" y="276148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44212" y="3657600"/>
            <a:ext cx="179825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Children’s Hospital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744212" y="4754880"/>
            <a:ext cx="179825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Quaternary paediatric &amp; neonatal care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institute is benchmarked against a global and an Indian centre specific to its discipline. Benchmarks are indicative reference models, not affiliations or partnerships.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F3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Oncology Centre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18488" y="96926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Solid-tumour precision oncology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0" y="51206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PRECISION HOSPITALS  ·  QUTUB, NEW DELHI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786384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E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r>
              <a:rPr lang="en-US" sz="2000" dirty="0">
                <a:solidFill>
                  <a:srgbClr val="5E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05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LOGIC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and rare solid tumours need genomics-guided decisions a general oncology unit cannot sustain. Concentrating sequencing, molecular tumour boards and trials in one institute lets every case be matched to a targeted or trial therapy.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oncology draws premium, largely self-pay and insured demand and pulls national and NRI referrals. A genomics-first identity sets the campus apart from general cancer hospitals and anchors its quaternary brand.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03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059936"/>
            <a:ext cx="3703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Solid-tumour precision oncology — sarcoma, neuro-oncology, rare cancers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treatment selection with integrated molecular tumour boards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surgical oncology — robotic-assisted resections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biopsy and circulating-tumour-cell analysis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 and advanced cellular therapies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51790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FLOOR STACK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92224"/>
          <a:ext cx="2788920" cy="4059936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shell: cellular-therapy / CAR-T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Oncology Wards (48 beds)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Surgical OT Suite (6) + Sterile Core/CSSD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Surgical &amp; Oncology ICU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Day-Infusion, Aseptic Prep &amp; Trials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OPD (20) + Molecular Tumour Board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Prevention &amp; Genetic Counselling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Reception, Pharmacy, Oncology Urgent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Plant, Central Pharmacy, Stores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CT, MRI, PET-CT &amp; Nuclear Medicine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 Oncology: Linac &amp; Brachytherapy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Lab, Molecular Diagnostics &amp; Biobank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434840" y="592531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i="1" dirty="0">
                <a:solidFill>
                  <a:srgbClr val="12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— </a:t>
            </a:r>
            <a:r>
              <a:rPr lang="en-US" sz="8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Linac bunkers and PET/imaging zoned to the basement; OT sits directly above ICU with a co-located sterile core; aseptic chemo prep adjoins day-infusion.</a:t>
            </a:r>
            <a:endParaRPr lang="en-US" sz="850" dirty="0"/>
          </a:p>
        </p:txBody>
      </p:sp>
      <p:pic>
        <p:nvPicPr>
          <p:cNvPr id="17" name="Image 0" descr="images/poc_mskcc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17904"/>
            <a:ext cx="4114800" cy="2286000"/>
          </a:xfrm>
          <a:prstGeom prst="rect">
            <a:avLst/>
          </a:prstGeom>
          <a:effectLst>
            <a:outerShdw blurRad="88900" dist="25400" dir="5400000" algn="bl" rotWithShape="0">
              <a:srgbClr val="0F3A45">
                <a:alpha val="22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7406640" y="38404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CENTER FOR MOLECULAR ONCOLOGY · NEW YORK, USA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06640" y="41148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BENCHMARK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406640" y="4352544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MSK Center for Molecular Oncology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genomic-profiling programme behind MSK-IMPACT — tumour sequencing read at a molecular tumour board to match each patient to a targeted therapy or trial. A precision-oncology engine, not an all-cancers hospital.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06640" y="5541264"/>
            <a:ext cx="4114800" cy="0"/>
          </a:xfrm>
          <a:prstGeom prst="line">
            <a:avLst/>
          </a:prstGeom>
          <a:noFill/>
          <a:ln w="12700">
            <a:solidFill>
              <a:srgbClr val="D7E0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7406640" y="56144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BENCHMARK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406640" y="58521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Rajiv Gandhi CI — Molecular Diagnostics · New Delhi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molecular-diagnostics centre of excellence inside a leading Delhi cancer hospital — NGS gene panels, liquid biopsy and circulating-tumour-cell testing run as a dedicated precision-oncology unit.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029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1440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Kenneth C. Zirkel, CC BY-SA 4.0 · Wikimedia Commons (Memorial Sloan Kettering)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F3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Disorders Institute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18488" y="96926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Haemato-oncology, transplant &amp; cellular therapy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0" y="51206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PRECISION HOSPITALS  ·  QUTUB, NEW DELHI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786384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E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r>
              <a:rPr lang="en-US" sz="2000" dirty="0">
                <a:solidFill>
                  <a:srgbClr val="5E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05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LOGIC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Transplant, CAR-T and inherited blood disorders demand HEPA isolation, cell-therapy manufacturing and intensive haematology support that only a dedicated unit can safely cluster. Co-locating them shortens the path from collection to infusion.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BMT and cell therapy are scarce, high-value services with long waitlists and strong medical-travel pull. A standalone blood institute captures referrals other centres outsource and positions the campus in advanced cellular therapy.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03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059936"/>
            <a:ext cx="3703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&amp; paediatric haemato-oncology — leukaemias, lymphomas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Allogeneic &amp; autologous stem-cell transplantation (HSCT)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 manufacturing and next-generation cellular therapy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disorders — thalassaemia, sickle cell, haemophilia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and therapeutic apheresis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51790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FLOOR STACK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92224"/>
          <a:ext cx="2788920" cy="4059936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CAR-T / Cell-Therapy GMP &amp; Cryostore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BMT HEPA Isolation Unit (10 rooms)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Haemato-Oncology ICU (20 beds)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OT + Apheresis &amp; Cell Collection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Haemato-Oncology Wards (56 beds)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Day-Infusion &amp; Transfusion Centre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Haematology OPD (18)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Reception, Blood Bank, Sample Collection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Plant, CSSD, Pharmacy, Stores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Component Processing &amp; Fractionation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Haematology Lab, Flow Cytometry, Cytogenetics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Molecular Sequencing, HLA Lab &amp; Biobank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434840" y="592531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i="1" dirty="0">
                <a:solidFill>
                  <a:srgbClr val="12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— </a:t>
            </a:r>
            <a:r>
              <a:rPr lang="en-US" sz="8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Cell-therapy GMP sits directly above the BMT isolation it supplies; the ICU underpins transplant one floor below; blood bank on grade above component processing.</a:t>
            </a:r>
            <a:endParaRPr lang="en-US" sz="850" dirty="0"/>
          </a:p>
        </p:txBody>
      </p:sp>
      <p:pic>
        <p:nvPicPr>
          <p:cNvPr id="17" name="Image 0" descr="images/bdi_fredhutch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17904"/>
            <a:ext cx="4114800" cy="2286000"/>
          </a:xfrm>
          <a:prstGeom prst="rect">
            <a:avLst/>
          </a:prstGeom>
          <a:effectLst>
            <a:outerShdw blurRad="88900" dist="25400" dir="5400000" algn="bl" rotWithShape="0">
              <a:srgbClr val="0F3A45">
                <a:alpha val="22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7406640" y="38404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HUTCHINSON CANCER CENTER · SEATTLE, USA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06640" y="41148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BENCHMARK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406640" y="4352544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Fred Hutchinson Cancer Center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allogeneic bone-marrow transplantation was invented (E. Donnall Thomas, Nobel 1990). A blood-cancer and transplant institution specifically — the global reference point for HSCT and cellular immunotherapy.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06640" y="5541264"/>
            <a:ext cx="4114800" cy="0"/>
          </a:xfrm>
          <a:prstGeom prst="line">
            <a:avLst/>
          </a:prstGeom>
          <a:noFill/>
          <a:ln w="12700">
            <a:solidFill>
              <a:srgbClr val="D7E0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7406640" y="56144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BENCHMARK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406640" y="58521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CMC — Clinical Haematology · Vellore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bone-marrow-transplant pioneer and among its highest-volume HSCT units, with an established programme for inherited disorders such as thalassaemia.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029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1440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Joe Mabel, CC BY-SA 4.0 · Wikimedia Commons (Fred Hutch, Seattle)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F3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Neurology &amp; Neuromuscular Centre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18488" y="96926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Neurosciences, neuromuscular &amp; gene therapy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0" y="51206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PRECISION HOSPITALS  ·  QUTUB, NEW DELHI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786384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E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r>
              <a:rPr lang="en-US" sz="2000" dirty="0">
                <a:solidFill>
                  <a:srgbClr val="5E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05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LOGIC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Neuromuscular gene therapy, epilepsy surgery and movement disorders need imaging, monitoring and a neuro-surgical–ICU core working as one. A single neuroscience institute keeps complex pathways and rare-disease expertise under one roof.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Neurosciences are referral-dense and under-served at quaternary depth in the region. Gene therapy and deep brain stimulation create marquee programmes that build reputation and draw complex cases from across North India.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03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059936"/>
            <a:ext cx="3703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and neuromuscular gene-therapy manufacturing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 dystrophies, motor-neuron &amp; hereditary neuropathy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Neuro-oncology — brain tumours and complex malignancies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Epilepsy work-up with intra-operative monitoring &amp; surgery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disorders and Parkinson’s with deep brain stimulation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51790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FLOOR STACK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92224"/>
          <a:ext cx="2788920" cy="4059936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Gene-Therapy GMP &amp; Vector Banking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Neurosurgical OT Suite (4) + iMRI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Neuro-Critical Care ICU (18 beds)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 Wards (52) + Epilepsy Monitoring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 Disorders/DBS + Neuro-Rehab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Infusion Centre (ERT / IVIG / gene therapy)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 OPD + EMG / Nerve-Conduction Labs (16)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Reception, Vestibular &amp; Gait Labs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Plant, CSSD, Pharmacy, Stores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Neuro-Imaging: MRI (3T+1.5T), CT, Angiography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Neuro-Pathology, Molecular Genetics, CSF Lab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Gene-Therapy Cryo &amp; Biobank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434840" y="592531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i="1" dirty="0">
                <a:solidFill>
                  <a:srgbClr val="12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— </a:t>
            </a:r>
            <a:r>
              <a:rPr lang="en-US" sz="8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Neuro-OT stacks directly above the neuro-ICU; heavy imaging and angiography are basemented; gene-therapy GMP is isolated at the top of the tower.</a:t>
            </a:r>
            <a:endParaRPr lang="en-US" sz="850" dirty="0"/>
          </a:p>
        </p:txBody>
      </p:sp>
      <p:pic>
        <p:nvPicPr>
          <p:cNvPr id="17" name="Image 0" descr="images/nnc_queensquare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17904"/>
            <a:ext cx="4114800" cy="2286000"/>
          </a:xfrm>
          <a:prstGeom prst="rect">
            <a:avLst/>
          </a:prstGeom>
          <a:effectLst>
            <a:outerShdw blurRad="88900" dist="25400" dir="5400000" algn="bl" rotWithShape="0">
              <a:srgbClr val="0F3A45">
                <a:alpha val="22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7406640" y="38404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NAT’L HOSPITAL FOR NEUROLOGY &amp; NEUROSURGERY · QUEEN SQUARE, LONDON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06640" y="41148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BENCHMARK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406640" y="4352544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Nat’l Hospital for Neurology &amp; Neurosurgery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that treats nothing but the nervous system — neuromuscular disease, epilepsy and movement disorders — paired with the UCL Queen Square Institute of Neurology. Specialisation by design.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06640" y="5541264"/>
            <a:ext cx="4114800" cy="0"/>
          </a:xfrm>
          <a:prstGeom prst="line">
            <a:avLst/>
          </a:prstGeom>
          <a:noFill/>
          <a:ln w="12700">
            <a:solidFill>
              <a:srgbClr val="D7E0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7406640" y="56144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BENCHMARK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406640" y="58521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NIMHANS · Bengaluru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Institute of National Importance devoted solely to the neurosciences — India’s deepest single concentration of neurology, neurosurgery and neuromuscular expertise.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029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1440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LordHarris, Public domain · Wikimedia Commons (National Hospital, Queen Square)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0F3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LLEI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874520" y="457200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Longevity &amp; Lifespan Extension Institute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92808" y="969264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prevention, regenerative &amp; metabolic medicine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0" y="51206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PRECISION HOSPITALS  ·  QUTUB, NEW DELHI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786384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E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r>
              <a:rPr lang="en-US" sz="2000" dirty="0">
                <a:solidFill>
                  <a:srgbClr val="5E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05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LOGIC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prevention and regenerative care serve well patients, so their flows must stay entirely clear of acute illness. A concierge institute pairs deep multi-omics assessment with cellular and metabolic interventions in one journey.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is a fast-growing, fully self-pay segment with affluent and NRI demand and high repeat value. It diversifies the campus beyond sick-care and gives it a distinctive, premium wellness identity.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03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059936"/>
            <a:ext cx="3703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preventive medicine with AI-driven assessment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rejuvenation and senescence-reversal therapies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medicine — cartilage, cardiac, neuronal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optimisation and reversal of age-related disease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Cognitive-ageing prevention with amyloid–tau monitoring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51790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FLOOR STACK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92224"/>
          <a:ext cx="2788920" cy="4059936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Cellular Reprogramming &amp; GMP shell (future)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Regenerative Therapy Suite + Cell Bank &amp; Cryo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Regenerative Medicine &amp; IV-Therapy Clinic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Day-Surgery OT (4) + Recovery / HDU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Suites / Wellness Wards (40 rooms)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Longevity Assessment &amp; Performance Lab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 &amp; Precision-Prevention (30 rooms)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Reception, VIP Lounge, Phlebotomy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Plant, Pharmacy, Stores, Staff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Imaging: MRI, CT, PET, Vascular 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Genomics, Metabolomics &amp; Microbiome Lab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Cryo-storage Vault &amp; Biobank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434840" y="592531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i="1" dirty="0">
                <a:solidFill>
                  <a:srgbClr val="12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— </a:t>
            </a:r>
            <a:r>
              <a:rPr lang="en-US" sz="8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well-patient journey ascends entirely clear of acute flow; the cell-therapy chain is co-located on the upper floors; imaging and multi-omics labs are basemented.</a:t>
            </a:r>
            <a:endParaRPr lang="en-US" sz="850" dirty="0"/>
          </a:p>
        </p:txBody>
      </p:sp>
      <p:pic>
        <p:nvPicPr>
          <p:cNvPr id="17" name="Image 0" descr="images/llei_buck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17904"/>
            <a:ext cx="4114800" cy="2286000"/>
          </a:xfrm>
          <a:prstGeom prst="rect">
            <a:avLst/>
          </a:prstGeom>
          <a:effectLst>
            <a:outerShdw blurRad="88900" dist="25400" dir="5400000" algn="bl" rotWithShape="0">
              <a:srgbClr val="0F3A45">
                <a:alpha val="22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7406640" y="38404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INSTITUTE FOR RESEARCH ON AGING · CALIFORNIA, USA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06640" y="41148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BENCHMARK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406640" y="4352544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 Institute for Research on Aging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independent research institute devoted entirely to the biology of ageing — the source of the geroscience (senescence, healthspan) that a longevity institute exists to translate into clinical care.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06640" y="5541264"/>
            <a:ext cx="4114800" cy="0"/>
          </a:xfrm>
          <a:prstGeom prst="line">
            <a:avLst/>
          </a:prstGeom>
          <a:noFill/>
          <a:ln w="12700">
            <a:solidFill>
              <a:srgbClr val="D7E0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7406640" y="56144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BENCHMARK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406640" y="58521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Reliance Foundation — JIVITA · Mumbai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hospital-based longevity centre on predictive, preventive and personalised medicine — integrating genomics, advanced imaging and metabolic profiling, not routine health checks.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029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1440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ResearcherQ, CC BY-SA 3.0 · Wikimedia Commons (Buck Institute, Novato)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F3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Children’s Hospital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18488" y="96926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Quaternary paediatric &amp; neonatal care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0" y="51206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5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PRECISION HOSPITALS  ·  QUTUB, NEW DELHI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786384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E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r>
              <a:rPr lang="en-US" sz="2000" dirty="0">
                <a:solidFill>
                  <a:srgbClr val="5E71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05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LOGIC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need age-segmented wards, paediatric-specific critical care and an emergency pathway kept separate from adults. Clustering NICU, PICU and cardiac surgery lets neonatal and complex cases move safely between them.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children’s hospital is a trusted, high-volume referral magnet and a powerful family-brand halo. Congenital cardiac surgery and paediatric BMT are scarce services that draw regional and cross-border demand.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039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059936"/>
            <a:ext cx="3703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haemato-oncology and bone-marrow transplant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Congenital heart surgery and paediatric cardiac intervention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 (NICU) and paediatric (PICU) critical care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neurosurgery and complex neurology</a:t>
            </a:r>
            <a:endParaRPr lang="en-US" sz="1000" dirty="0"/>
          </a:p>
          <a:p>
            <a:pPr marL="165100" indent="-165100">
              <a:lnSpc>
                <a:spcPct val="97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genetic disorders and inborn errors of metabolism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51790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FLOOR STACK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92224"/>
          <a:ext cx="2788920" cy="4059936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paediatric expansion shell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Paediatric Haemato-Oncology + BMT Isolation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NICU (30) + PICU (20): paediatric critical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Paediatric &amp; Cardiac OT (5) + Cath Lab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Paediatric Wards (72, age-segmented)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Paediatric OPD &amp; Day-care (28)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Outpatient Diagnostics &amp; Procedure Suite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Paediatric Emergency Dept, Triage, Pharmacy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Plant, CSSD, Pharmacy, Stores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Imaging: MRI, CT (low-dose), Ultrasound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Paediatric Lab, Blood Bank &amp; Milk Bank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26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C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Gas, Plant, Mortuary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38100" marT="12700" marB="12700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434840" y="592531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i="1" dirty="0">
                <a:solidFill>
                  <a:srgbClr val="12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— </a:t>
            </a:r>
            <a:r>
              <a:rPr lang="en-US" sz="850" i="1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 on grade has a direct vertical link to theatres; NICU and PICU share one critical-care floor immediately above the cardiac OT and cath lab.</a:t>
            </a:r>
            <a:endParaRPr lang="en-US" sz="850" dirty="0"/>
          </a:p>
        </p:txBody>
      </p:sp>
      <p:pic>
        <p:nvPicPr>
          <p:cNvPr id="17" name="Image 0" descr="images/cch_boston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17904"/>
            <a:ext cx="4114800" cy="2286000"/>
          </a:xfrm>
          <a:prstGeom prst="rect">
            <a:avLst/>
          </a:prstGeom>
          <a:effectLst>
            <a:outerShdw blurRad="88900" dist="25400" dir="5400000" algn="bl" rotWithShape="0">
              <a:srgbClr val="0F3A45">
                <a:alpha val="22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7406640" y="38404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CHILDREN’S HOSPITAL · BOSTON, USA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06640" y="41148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BENCHMARK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406640" y="4352544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Boston Children’s Hospital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free-standing children’s hospital — Harvard-affiliated and the top-ranked paediatric centre in the US — spanning quaternary paediatric surgery, oncology and rare disease. Paediatrics only, end to end.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06640" y="5541264"/>
            <a:ext cx="4114800" cy="0"/>
          </a:xfrm>
          <a:prstGeom prst="line">
            <a:avLst/>
          </a:prstGeom>
          <a:noFill/>
          <a:ln w="12700">
            <a:solidFill>
              <a:srgbClr val="D7E0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7406640" y="561441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E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BENCHMARK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406640" y="58521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3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Rainbow Children’s Hospitals · India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F2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largest dedicated paediatric, perinatal and neonatal network — high-acuity NICU/PICU, paediatric surgery and children’s quaternary care as its entire remit.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029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1440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Kenneth C. Zirkel, CC BY-SA 4.0 · Wikimedia Commons (Boston Children’s Hospital)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1978</Words>
  <Application>Microsoft Office PowerPoint</Application>
  <PresentationFormat>Widescreen</PresentationFormat>
  <Paragraphs>282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 Precision Hospitals</dc:title>
  <dc:subject>PptxGenJS Presentation</dc:subject>
  <dc:creator>VPS Healthcare</dc:creator>
  <cp:lastModifiedBy>Lakshman Sethuraman</cp:lastModifiedBy>
  <cp:revision>2</cp:revision>
  <dcterms:created xsi:type="dcterms:W3CDTF">2026-06-19T06:25:02Z</dcterms:created>
  <dcterms:modified xsi:type="dcterms:W3CDTF">2026-06-19T06:29:08Z</dcterms:modified>
</cp:coreProperties>
</file>